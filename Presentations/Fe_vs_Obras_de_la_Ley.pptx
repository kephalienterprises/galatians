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Cinzel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3" Type="http://schemas.openxmlformats.org/officeDocument/2006/relationships/font" Target="fonts/Cinzel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d44df86a48_0_3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 and Text 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 and Text 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 Slide 1 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7" name="Google Shape;107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 1">
  <p:cSld name="Title and Text 1 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 1 1">
  <p:cSld name="Title and Text 1 1 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 1 1 1">
  <p:cSld name="Title and Text 1 1 1 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 1 1 1 1">
  <p:cSld name="Title and Text 1 1 1 1 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 1">
  <p:cSld name="Title and Text 2 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 and Text 8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 and Text 9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 1">
  <p:cSld name="Title and Text 4 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 and Text 1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 1">
  <p:cSld name="Title and Text 5 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 1">
  <p:cSld name="Title and Text 3 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Title and Text 1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2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Title and Text 15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 1">
  <p:cSld name="Title and Text 7 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Title and Text 17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 1">
  <p:cSld name="Title and Text 8 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Title and Text 19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 1">
  <p:cSld name="Title and Text 9 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 1 1">
  <p:cSld name="Title and Text 9 1 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3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0">
  <p:cSld name="Title and Text 22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0 1">
  <p:cSld name="Title and Text 10 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1">
  <p:cSld name="Title and Text 24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1 1">
  <p:cSld name="Title and Text 11 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2">
  <p:cSld name="Title and Text 26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3">
  <p:cSld name="Title and Text 27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4">
  <p:cSld name="Title and Text 28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4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5">
  <p:cSld name="Title and Text 2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6">
  <p:cSld name="Title and Text 30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5" name="Google Shape;275;p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7">
  <p:cSld name="Title and Text 3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4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7 1">
  <p:cSld name="Title and Text 17 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7" name="Google Shape;287;p4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44df86a48_19_0)">
  <p:cSld name="Generated (g3d44df86a48_19_0)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5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5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5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4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5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Relationship Id="rId4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p49"/>
          <p:cNvGrpSpPr/>
          <p:nvPr/>
        </p:nvGrpSpPr>
        <p:grpSpPr>
          <a:xfrm>
            <a:off x="8572500" y="3238500"/>
            <a:ext cx="3048000" cy="3048000"/>
            <a:chOff x="8572500" y="3238500"/>
            <a:chExt cx="3048000" cy="3048000"/>
          </a:xfrm>
        </p:grpSpPr>
        <p:pic>
          <p:nvPicPr>
            <p:cNvPr descr="A close-up, cinematic shot of a wooden judge's gavel resting on a sounding block. Next to it, a stack of old, leather-bound law books. The wood is a light, polished oak. Background is softly blurred courtroom details. No people." id="296" name="Google Shape;296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72500" y="3238500"/>
              <a:ext cx="3048000" cy="3048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97" name="Google Shape;297;p49"/>
            <p:cNvSpPr/>
            <p:nvPr/>
          </p:nvSpPr>
          <p:spPr>
            <a:xfrm>
              <a:off x="8572500" y="3238500"/>
              <a:ext cx="3048000" cy="30480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" name="Google Shape;298;p49"/>
          <p:cNvSpPr txBox="1"/>
          <p:nvPr/>
        </p:nvSpPr>
        <p:spPr>
          <a:xfrm>
            <a:off x="952500" y="2095500"/>
            <a:ext cx="66675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6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rPr>
              <a:t>Fe vs. Obras de la Ley</a:t>
            </a:r>
            <a:endParaRPr b="1" sz="5600">
              <a:solidFill>
                <a:srgbClr val="2C3E50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grpSp>
        <p:nvGrpSpPr>
          <p:cNvPr id="299" name="Google Shape;299;p49"/>
          <p:cNvGrpSpPr/>
          <p:nvPr/>
        </p:nvGrpSpPr>
        <p:grpSpPr>
          <a:xfrm>
            <a:off x="952500" y="3905250"/>
            <a:ext cx="4953000" cy="952500"/>
            <a:chOff x="952500" y="3905250"/>
            <a:chExt cx="4953000" cy="952500"/>
          </a:xfrm>
        </p:grpSpPr>
        <p:sp>
          <p:nvSpPr>
            <p:cNvPr id="300" name="Google Shape;300;p49"/>
            <p:cNvSpPr/>
            <p:nvPr/>
          </p:nvSpPr>
          <p:spPr>
            <a:xfrm>
              <a:off x="1000125" y="3905250"/>
              <a:ext cx="1714500" cy="573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9"/>
            <p:cNvSpPr txBox="1"/>
            <p:nvPr/>
          </p:nvSpPr>
          <p:spPr>
            <a:xfrm>
              <a:off x="952500" y="4095750"/>
              <a:ext cx="4953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ES" sz="36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Gálatas</a:t>
              </a:r>
              <a:endParaRPr b="0" sz="36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50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307" name="Google Shape;307;p50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La pregunta central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308" name="Google Shape;308;p50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9" name="Google Shape;309;p50"/>
          <p:cNvSpPr txBox="1"/>
          <p:nvPr/>
        </p:nvSpPr>
        <p:spPr>
          <a:xfrm>
            <a:off x="762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rPr>
              <a:t>¿Por qué practicamos la religión?</a:t>
            </a:r>
            <a:endParaRPr b="1" i="0" sz="2400">
              <a:solidFill>
                <a:srgbClr val="2C3E50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i="0" lang="es-ES" sz="2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</a:t>
            </a:r>
            <a:r>
              <a:rPr b="0" i="0" lang="es-ES" sz="24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Para agradar a nuestro Dios.</a:t>
            </a:r>
            <a:endParaRPr b="0" i="0" sz="24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i="0" lang="es-ES" sz="2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</a:t>
            </a:r>
            <a:r>
              <a:rPr b="0" i="0" lang="es-ES" sz="24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Para estar en buena relación con Él.</a:t>
            </a:r>
            <a:endParaRPr b="0" i="0" sz="24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i="0" lang="es-ES" sz="2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</a:t>
            </a:r>
            <a:r>
              <a:rPr b="0" i="0" lang="es-ES" sz="24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Para hallar Su favor.</a:t>
            </a:r>
            <a:endParaRPr b="0" i="0" sz="24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grpSp>
        <p:nvGrpSpPr>
          <p:cNvPr id="310" name="Google Shape;310;p50"/>
          <p:cNvGrpSpPr/>
          <p:nvPr/>
        </p:nvGrpSpPr>
        <p:grpSpPr>
          <a:xfrm>
            <a:off x="7620000" y="1524000"/>
            <a:ext cx="4191000" cy="4191000"/>
            <a:chOff x="7620000" y="1524000"/>
            <a:chExt cx="4191000" cy="4191000"/>
          </a:xfrm>
        </p:grpSpPr>
        <p:pic>
          <p:nvPicPr>
            <p:cNvPr id="311" name="Google Shape;311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312" name="Google Shape;312;p50"/>
            <p:cNvSpPr/>
            <p:nvPr/>
          </p:nvSpPr>
          <p:spPr>
            <a:xfrm>
              <a:off x="7620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50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51"/>
          <p:cNvGrpSpPr/>
          <p:nvPr/>
        </p:nvGrpSpPr>
        <p:grpSpPr>
          <a:xfrm>
            <a:off x="7620000" y="1524000"/>
            <a:ext cx="4191000" cy="4191000"/>
            <a:chOff x="7620000" y="1524000"/>
            <a:chExt cx="4191000" cy="4191000"/>
          </a:xfrm>
        </p:grpSpPr>
        <p:pic>
          <p:nvPicPr>
            <p:cNvPr descr="A bright, cinematic, wide-angle shot of sunlit white marble columns in a grand ancient courtroom or temple setting. The lighting is soft and airy, with high-key tones and a clean, prestigious aesthetic." id="319" name="Google Shape;319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320" name="Google Shape;320;p51"/>
            <p:cNvSpPr/>
            <p:nvPr/>
          </p:nvSpPr>
          <p:spPr>
            <a:xfrm>
              <a:off x="7620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51"/>
          <p:cNvSpPr txBox="1"/>
          <p:nvPr>
            <p:ph type="title"/>
          </p:nvPr>
        </p:nvSpPr>
        <p:spPr>
          <a:xfrm>
            <a:off x="762000" y="381000"/>
            <a:ext cx="10668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rPr>
              <a:t>¿Cómo hallaremos el favor de Dios?</a:t>
            </a:r>
            <a:endParaRPr b="1" sz="4200">
              <a:solidFill>
                <a:srgbClr val="2C3E50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22" name="Google Shape;322;p51"/>
          <p:cNvSpPr/>
          <p:nvPr/>
        </p:nvSpPr>
        <p:spPr>
          <a:xfrm>
            <a:off x="762000" y="1381125"/>
            <a:ext cx="9525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1"/>
          <p:cNvSpPr txBox="1"/>
          <p:nvPr>
            <p:ph idx="1" type="body"/>
          </p:nvPr>
        </p:nvSpPr>
        <p:spPr>
          <a:xfrm>
            <a:off x="762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Adoramos al Dios verdadero, Creador del cielo y de la tierra.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Él es santo, justo, misericordioso, lleno de gracia y amor.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rPr>
              <a:t>Pero la pregunta sigue siendo:</a:t>
            </a:r>
            <a:endParaRPr b="1" sz="2000">
              <a:solidFill>
                <a:srgbClr val="2C3E50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¿Cómo podremos hallar el favor del Dios Todopoderoso? </a:t>
            </a:r>
            <a:r>
              <a:rPr b="1" lang="es-ES" sz="1600">
                <a:solidFill>
                  <a:srgbClr val="7F8C8D"/>
                </a:solidFill>
                <a:latin typeface="Cinzel"/>
                <a:ea typeface="Cinzel"/>
                <a:cs typeface="Cinzel"/>
                <a:sym typeface="Cinzel"/>
              </a:rPr>
              <a:t>(Gálatas 1:10)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324" name="Google Shape;324;p51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52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330" name="Google Shape;330;p52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La perspectiva judía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331" name="Google Shape;331;p52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2" name="Google Shape;332;p52"/>
          <p:cNvSpPr txBox="1"/>
          <p:nvPr/>
        </p:nvSpPr>
        <p:spPr>
          <a:xfrm>
            <a:off x="4953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 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Para los judíos, todo comenzaba con Moisés y la Ley (Gálatas 3:17-19).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 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El pacto en Sinaí era visto como un don glorioso de Dios (Gálatas 3:19).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 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La circuncisión era la señal de ese pacto (Gálatas 5:2-3; 6:12-13).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 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Permanecer en buena relación con Dios implicaba guardar los mandamientos de la Ley (Gálatas 3:10; 5:3).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grpSp>
        <p:nvGrpSpPr>
          <p:cNvPr id="333" name="Google Shape;333;p52"/>
          <p:cNvGrpSpPr/>
          <p:nvPr/>
        </p:nvGrpSpPr>
        <p:grpSpPr>
          <a:xfrm>
            <a:off x="381000" y="1524000"/>
            <a:ext cx="4191000" cy="4191000"/>
            <a:chOff x="381000" y="1524000"/>
            <a:chExt cx="4191000" cy="4191000"/>
          </a:xfrm>
        </p:grpSpPr>
        <p:pic>
          <p:nvPicPr>
            <p:cNvPr id="334" name="Google Shape;334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335" name="Google Shape;335;p52"/>
            <p:cNvSpPr/>
            <p:nvPr/>
          </p:nvSpPr>
          <p:spPr>
            <a:xfrm>
              <a:off x="381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52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2" name="Google Shape;342;p53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343" name="Google Shape;343;p53"/>
            <p:cNvSpPr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3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Gracia y misericordia bajo la Ley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345" name="Google Shape;345;p53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53"/>
          <p:cNvGrpSpPr/>
          <p:nvPr/>
        </p:nvGrpSpPr>
        <p:grpSpPr>
          <a:xfrm>
            <a:off x="762000" y="1714500"/>
            <a:ext cx="6477000" cy="4000500"/>
            <a:chOff x="762000" y="1714500"/>
            <a:chExt cx="6477000" cy="4000500"/>
          </a:xfrm>
        </p:grpSpPr>
        <p:sp>
          <p:nvSpPr>
            <p:cNvPr id="347" name="Google Shape;347;p53"/>
            <p:cNvSpPr/>
            <p:nvPr/>
          </p:nvSpPr>
          <p:spPr>
            <a:xfrm>
              <a:off x="762000" y="1714500"/>
              <a:ext cx="64770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53"/>
            <p:cNvSpPr txBox="1"/>
            <p:nvPr/>
          </p:nvSpPr>
          <p:spPr>
            <a:xfrm>
              <a:off x="762000" y="1714500"/>
              <a:ext cx="64770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20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Sería injusto decir que no había gracia bajo la Ley de Moisés.</a:t>
              </a:r>
              <a:endParaRPr b="1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20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Dios prometió y mostró misericordia muchas veces. (Exodo 34:5-10)</a:t>
              </a:r>
              <a:endParaRPr b="1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s-ES" sz="20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20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Existía un sistema de sacrificios para buscar el perdón. (Lev </a:t>
              </a:r>
              <a:r>
                <a:rPr lang="es-ES" sz="20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4:13-20; 6:2-7)</a:t>
              </a:r>
              <a:endParaRPr b="1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1800"/>
                </a:spcAft>
                <a:buNone/>
              </a:pPr>
              <a:r>
                <a:rPr b="1" lang="es-ES" sz="20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20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Los más devotos entendían que todo dependía de la misericordia de Dios (</a:t>
              </a:r>
              <a:r>
                <a:rPr lang="es-ES" sz="20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salmo 32:1-2; </a:t>
              </a:r>
              <a:r>
                <a:rPr b="0" lang="es-ES" sz="20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Gálatas 2:16).</a:t>
              </a:r>
              <a:endParaRPr b="1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grpSp>
        <p:nvGrpSpPr>
          <p:cNvPr id="349" name="Google Shape;349;p53"/>
          <p:cNvGrpSpPr/>
          <p:nvPr/>
        </p:nvGrpSpPr>
        <p:grpSpPr>
          <a:xfrm>
            <a:off x="762000" y="6096000"/>
            <a:ext cx="1905000" cy="381000"/>
            <a:chOff x="762000" y="6096000"/>
            <a:chExt cx="1905000" cy="381000"/>
          </a:xfrm>
        </p:grpSpPr>
        <p:sp>
          <p:nvSpPr>
            <p:cNvPr id="350" name="Google Shape;350;p53"/>
            <p:cNvSpPr/>
            <p:nvPr/>
          </p:nvSpPr>
          <p:spPr>
            <a:xfrm>
              <a:off x="762000" y="6096000"/>
              <a:ext cx="190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53"/>
            <p:cNvSpPr txBox="1"/>
            <p:nvPr/>
          </p:nvSpPr>
          <p:spPr>
            <a:xfrm>
              <a:off x="762000" y="6096000"/>
              <a:ext cx="190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ES" sz="14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GÁLATAS</a:t>
              </a:r>
              <a:endParaRPr b="0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pic>
        <p:nvPicPr>
          <p:cNvPr descr="make it handwritten on a legal pad and don't show the hand" id="352" name="Google Shape;35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6275" y="1804175"/>
            <a:ext cx="40005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p54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360" name="Google Shape;360;p54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Legalismo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361" name="Google Shape;361;p54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54"/>
          <p:cNvSpPr txBox="1"/>
          <p:nvPr/>
        </p:nvSpPr>
        <p:spPr>
          <a:xfrm>
            <a:off x="762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 Legalismo: actuar como si el favor de Dios se ganara por una obediencia estricta a la ley (Gálatas 2:16; 3:10).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 Es ver la ley como un medio para ganar aceptación delante de Dios (Gálatas 5:4).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 Toda la relación con Dios queda reducida a reglas y cumplimiento.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es-ES" sz="20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•</a:t>
            </a: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 Si guardo la ley, me siento superior; si fallo, trato de esconderlo.</a:t>
            </a:r>
            <a:endParaRPr b="1" sz="20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grpSp>
        <p:nvGrpSpPr>
          <p:cNvPr id="363" name="Google Shape;363;p54"/>
          <p:cNvGrpSpPr/>
          <p:nvPr/>
        </p:nvGrpSpPr>
        <p:grpSpPr>
          <a:xfrm>
            <a:off x="7620000" y="1524000"/>
            <a:ext cx="4191000" cy="4191000"/>
            <a:chOff x="7620000" y="1524000"/>
            <a:chExt cx="4191000" cy="4191000"/>
          </a:xfrm>
        </p:grpSpPr>
        <p:pic>
          <p:nvPicPr>
            <p:cNvPr descr="A cinematic, high-quality close-up of a bronze Lady Justice figurine, blindfolded and holding scales. The lighting is warm and dramatic, highlighting the texture of the metal against a soft, dark, out-of-focus background." id="364" name="Google Shape;364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365" name="Google Shape;365;p54"/>
            <p:cNvSpPr/>
            <p:nvPr/>
          </p:nvSpPr>
          <p:spPr>
            <a:xfrm>
              <a:off x="7620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" name="Google Shape;366;p54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55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375" name="Google Shape;375;p55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Lucas 18:9-14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376" name="Google Shape;376;p55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55"/>
          <p:cNvGrpSpPr/>
          <p:nvPr/>
        </p:nvGrpSpPr>
        <p:grpSpPr>
          <a:xfrm>
            <a:off x="762000" y="1714500"/>
            <a:ext cx="6477000" cy="4000500"/>
            <a:chOff x="762000" y="1714500"/>
            <a:chExt cx="6477000" cy="4000500"/>
          </a:xfrm>
        </p:grpSpPr>
        <p:sp>
          <p:nvSpPr>
            <p:cNvPr id="378" name="Google Shape;378;p55"/>
            <p:cNvSpPr/>
            <p:nvPr/>
          </p:nvSpPr>
          <p:spPr>
            <a:xfrm>
              <a:off x="762000" y="1714500"/>
              <a:ext cx="64770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5"/>
            <p:cNvSpPr txBox="1"/>
            <p:nvPr/>
          </p:nvSpPr>
          <p:spPr>
            <a:xfrm>
              <a:off x="762000" y="1714500"/>
              <a:ext cx="64770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665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1665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El fariseo y el publicano</a:t>
              </a:r>
              <a:endParaRPr b="1" sz="1665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ES" sz="1665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1665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Uno confiaba en sí mismo y en su propia justicia (Lucas 18:9, 11-12).</a:t>
              </a:r>
              <a:endParaRPr b="1" sz="1665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ES" sz="1665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1665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El otro clamaba por misericordia (Lucas 18:13).</a:t>
              </a:r>
              <a:endParaRPr b="1" sz="1665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ES" sz="1665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1665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Uno se comparaba con otros y se hallaba impresionante.</a:t>
              </a:r>
              <a:endParaRPr b="1" sz="1665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ES" sz="1665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1665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El otro se comparaba con Dios y se veía necesitado.</a:t>
              </a:r>
              <a:endParaRPr b="1" sz="1665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s-ES" sz="1665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1665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Uno volvió satisfecho consigo mismo (Lucas 18:11-12).</a:t>
              </a:r>
              <a:endParaRPr b="1" sz="1665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es-ES" sz="1665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•</a:t>
              </a:r>
              <a:r>
                <a:rPr b="0" lang="es-ES" sz="1665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 El otro volvió justificado (Lucas 18:14).</a:t>
              </a:r>
              <a:endParaRPr b="1" sz="1665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grpSp>
        <p:nvGrpSpPr>
          <p:cNvPr id="380" name="Google Shape;380;p55"/>
          <p:cNvGrpSpPr/>
          <p:nvPr/>
        </p:nvGrpSpPr>
        <p:grpSpPr>
          <a:xfrm>
            <a:off x="7620000" y="1524000"/>
            <a:ext cx="4191000" cy="4191000"/>
            <a:chOff x="7620000" y="1524000"/>
            <a:chExt cx="4191000" cy="4191000"/>
          </a:xfrm>
        </p:grpSpPr>
        <p:pic>
          <p:nvPicPr>
            <p:cNvPr descr="A cinematic, high-quality photograph of a black judge's robe hanging alone on a wooden peg in a dim, solemn vestuary. The lighting is soft and directional, highlighting the heavy folds of the fabric and the texture of the dark wood background. Soft, warm atmosphere." id="381" name="Google Shape;381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382" name="Google Shape;382;p55"/>
            <p:cNvSpPr/>
            <p:nvPr/>
          </p:nvSpPr>
          <p:spPr>
            <a:xfrm>
              <a:off x="7620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55"/>
          <p:cNvGrpSpPr/>
          <p:nvPr/>
        </p:nvGrpSpPr>
        <p:grpSpPr>
          <a:xfrm>
            <a:off x="762000" y="6096000"/>
            <a:ext cx="1905000" cy="381000"/>
            <a:chOff x="762000" y="6096000"/>
            <a:chExt cx="1905000" cy="381000"/>
          </a:xfrm>
        </p:grpSpPr>
        <p:sp>
          <p:nvSpPr>
            <p:cNvPr id="384" name="Google Shape;384;p55"/>
            <p:cNvSpPr/>
            <p:nvPr/>
          </p:nvSpPr>
          <p:spPr>
            <a:xfrm>
              <a:off x="762000" y="6096000"/>
              <a:ext cx="190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5"/>
            <p:cNvSpPr txBox="1"/>
            <p:nvPr/>
          </p:nvSpPr>
          <p:spPr>
            <a:xfrm>
              <a:off x="762000" y="609600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ES" sz="14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GÁLATAS</a:t>
              </a:r>
              <a:endParaRPr b="0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" name="Google Shape;392;p56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393" name="Google Shape;393;p56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Una verdad básica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394" name="Google Shape;394;p56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56"/>
          <p:cNvSpPr txBox="1"/>
          <p:nvPr/>
        </p:nvSpPr>
        <p:spPr>
          <a:xfrm>
            <a:off x="4953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Pablo y Pedro sabían que nadie es justificado por las obras de la Ley (Gálatas 2:15-16).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Aun los judíos, criados bajo la Ley, no podían ser justificados por ella.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No hay cantidad de obediencia que pueda expiar un solo pecado.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El hombre no es justificado por las obras de la Ley, sino por la fe en Jesucristo.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grpSp>
        <p:nvGrpSpPr>
          <p:cNvPr id="396" name="Google Shape;396;p56"/>
          <p:cNvGrpSpPr/>
          <p:nvPr/>
        </p:nvGrpSpPr>
        <p:grpSpPr>
          <a:xfrm>
            <a:off x="381000" y="1524000"/>
            <a:ext cx="4191000" cy="4191000"/>
            <a:chOff x="381000" y="1524000"/>
            <a:chExt cx="4191000" cy="4191000"/>
          </a:xfrm>
        </p:grpSpPr>
        <p:pic>
          <p:nvPicPr>
            <p:cNvPr descr="A jury box with empty leather chairs, American courtroom interior, soft side lighting, oak wood textures, dignified and serious mood, photorealistic, cinematic framing, no people" id="397" name="Google Shape;397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1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398" name="Google Shape;398;p56"/>
            <p:cNvSpPr/>
            <p:nvPr/>
          </p:nvSpPr>
          <p:spPr>
            <a:xfrm>
              <a:off x="381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56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" name="Google Shape;406;p57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07" name="Google Shape;407;p57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Nomismo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08" name="Google Shape;408;p57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57"/>
          <p:cNvSpPr txBox="1"/>
          <p:nvPr/>
        </p:nvSpPr>
        <p:spPr>
          <a:xfrm>
            <a:off x="4953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Los gálatas rechazaban el legalismo, pero seguían siendo vulnerables al error.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El error decía: “No guardamos la Ley para ganar salvación, sino porque sigue vigente y debemos vivir bajo ella.”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b="0" lang="es-ES" sz="20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Eso también pervierte el evangelio (Gálatas 1:6-9; 5:2-4).</a:t>
            </a:r>
            <a:endParaRPr b="0" sz="20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grpSp>
        <p:nvGrpSpPr>
          <p:cNvPr id="410" name="Google Shape;410;p57"/>
          <p:cNvGrpSpPr/>
          <p:nvPr/>
        </p:nvGrpSpPr>
        <p:grpSpPr>
          <a:xfrm>
            <a:off x="381000" y="1524000"/>
            <a:ext cx="4191000" cy="4191000"/>
            <a:chOff x="381000" y="1524000"/>
            <a:chExt cx="4191000" cy="4191000"/>
          </a:xfrm>
        </p:grpSpPr>
        <p:pic>
          <p:nvPicPr>
            <p:cNvPr descr="Counsel table covered with legal pads, case files, fountain pen, evidence folders, and a briefcase, American courtroom interior, soft side lighting, oak wood textures, dignified and serious mood, photorealistic." id="411" name="Google Shape;411;p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1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412" name="Google Shape;412;p57"/>
            <p:cNvSpPr/>
            <p:nvPr/>
          </p:nvSpPr>
          <p:spPr>
            <a:xfrm>
              <a:off x="381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3" name="Google Shape;413;p57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8"/>
          <p:cNvSpPr/>
          <p:nvPr/>
        </p:nvSpPr>
        <p:spPr>
          <a:xfrm>
            <a:off x="-125" y="125"/>
            <a:ext cx="12192000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9" name="Google Shape;419;p58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20" name="Google Shape;420;p58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FFFFFF"/>
                  </a:solidFill>
                  <a:latin typeface="Cinzel"/>
                  <a:ea typeface="Cinzel"/>
                  <a:cs typeface="Cinzel"/>
                  <a:sym typeface="Cinzel"/>
                </a:rPr>
                <a:t>LA SITUACIÓN EN GALACIA</a:t>
              </a:r>
              <a:endParaRPr b="1" sz="420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21" name="Google Shape;421;p58"/>
            <p:cNvSpPr/>
            <p:nvPr/>
          </p:nvSpPr>
          <p:spPr>
            <a:xfrm>
              <a:off x="5143500" y="1381125"/>
              <a:ext cx="19050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22" name="Google Shape;42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58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25" name="Google Shape;425;p58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LA SITUACIÓN EN GALACIA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26" name="Google Shape;426;p58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7" name="Google Shape;427;p58"/>
          <p:cNvSpPr txBox="1"/>
          <p:nvPr/>
        </p:nvSpPr>
        <p:spPr>
          <a:xfrm>
            <a:off x="4953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8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Los cristianos de Galacia eran mayormente gentiles (Gálatas 4:8; 5:2-3; 6:12-13).</a:t>
            </a:r>
            <a:endParaRPr b="0" sz="18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ES" sz="18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Antes servían a falsos dioses y estaban esclavizados a la idolatría (Gálatas 4:8).</a:t>
            </a:r>
            <a:endParaRPr b="0" sz="18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ES" sz="18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Cuando oyeron el evangelio, Pablo no les enseñó a hacerse judíos (Gálatas 3:2-5).</a:t>
            </a:r>
            <a:endParaRPr b="0" sz="18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ES" sz="18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Les predicó a Cristo crucificado (Gálatas 3:1).</a:t>
            </a:r>
            <a:endParaRPr b="0" sz="18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s-ES" sz="18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Ellos simplemente creyeron en Cristo y fueron bautizados en Su nombre (Gálatas 3:2, 26-27).</a:t>
            </a:r>
            <a:endParaRPr b="0" sz="18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grpSp>
        <p:nvGrpSpPr>
          <p:cNvPr id="428" name="Google Shape;428;p58"/>
          <p:cNvGrpSpPr/>
          <p:nvPr/>
        </p:nvGrpSpPr>
        <p:grpSpPr>
          <a:xfrm>
            <a:off x="381000" y="1524000"/>
            <a:ext cx="4191000" cy="4191000"/>
            <a:chOff x="381000" y="1524000"/>
            <a:chExt cx="4191000" cy="4191000"/>
          </a:xfrm>
        </p:grpSpPr>
        <p:pic>
          <p:nvPicPr>
            <p:cNvPr descr="A witness stand under a focused overhead light, microphone, oath Bible, wood-paneled courtroom, tense and quiet atmosphere, realistic photography style, centered composition, no people, high contrast, cinematic lighting, 8k resolution." id="429" name="Google Shape;429;p5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1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430" name="Google Shape;430;p58"/>
            <p:cNvSpPr/>
            <p:nvPr/>
          </p:nvSpPr>
          <p:spPr>
            <a:xfrm>
              <a:off x="381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1" name="Google Shape;431;p58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59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37" name="Google Shape;437;p59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LO QUE PABLO NO LES ENSEÑÓ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38" name="Google Shape;438;p59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59"/>
          <p:cNvGrpSpPr/>
          <p:nvPr/>
        </p:nvGrpSpPr>
        <p:grpSpPr>
          <a:xfrm>
            <a:off x="381000" y="1524000"/>
            <a:ext cx="4191000" cy="4191000"/>
            <a:chOff x="381000" y="1524000"/>
            <a:chExt cx="4191000" cy="4191000"/>
          </a:xfrm>
        </p:grpSpPr>
        <p:pic>
          <p:nvPicPr>
            <p:cNvPr descr="A close-up of an ancient-looking calendar with Hebrew script and characters, hanging on a dark wood-paneled courtroom wall, soft dramatic side lighting, cinematic atmosphere, 8k resolution, photorealistic." id="440" name="Google Shape;440;p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441" name="Google Shape;441;p59"/>
            <p:cNvSpPr/>
            <p:nvPr/>
          </p:nvSpPr>
          <p:spPr>
            <a:xfrm>
              <a:off x="381000" y="1524000"/>
              <a:ext cx="4191000" cy="4191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381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59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43" name="Google Shape;443;p59"/>
          <p:cNvSpPr txBox="1"/>
          <p:nvPr/>
        </p:nvSpPr>
        <p:spPr>
          <a:xfrm>
            <a:off x="4953000" y="1714500"/>
            <a:ext cx="6477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9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Pablo no les enseñó a guardar el calendario judío (Gálatas 4:10-11).</a:t>
            </a:r>
            <a:endParaRPr b="0" sz="19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-ES" sz="19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No les enseñó a circuncidarse (Gálatas 5:2-6; 6:12-13).</a:t>
            </a:r>
            <a:endParaRPr b="0" sz="19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-ES" sz="19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No les enseñó a evitar alimentos no kosher (Gálatas 2:11-14).</a:t>
            </a:r>
            <a:endParaRPr b="0" sz="19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s-ES" sz="19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La vida en Cristo no dependía de adoptar la Ley de Moisés (Gálatas 2:16; 4:12).</a:t>
            </a:r>
            <a:endParaRPr b="0" sz="19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60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51" name="Google Shape;451;p60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LOS JUDAIZANTES</a:t>
              </a:r>
              <a:endParaRPr b="1" i="0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52" name="Google Shape;452;p60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3" name="Google Shape;453;p60"/>
          <p:cNvSpPr txBox="1"/>
          <p:nvPr/>
        </p:nvSpPr>
        <p:spPr>
          <a:xfrm>
            <a:off x="762000" y="1714500"/>
            <a:ext cx="10668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Los judaizantes estaban perturbando a los gálatas (Gálatas 1:7; 5:12).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No estaban añadiendo algo útil al evangelio (Gálatas 1:6-9).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Estaban distorsionando el evangelio (Gálatas 1:6-9).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Enseñaban que la fe en Cristo no era suficiente (Gálatas 5:2-4).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Decían que también debían circuncidarse y guardar la Ley (Gálatas 5:2-3; 6:12-13).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54" name="Google Shape;454;p60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i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61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63" name="Google Shape;463;p61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LA RESPUESTA DE PABLO</a:t>
              </a:r>
              <a:endParaRPr b="1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64" name="Google Shape;464;p61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1"/>
          <p:cNvSpPr txBox="1"/>
          <p:nvPr/>
        </p:nvSpPr>
        <p:spPr>
          <a:xfrm>
            <a:off x="762000" y="1714500"/>
            <a:ext cx="10668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Si aceptan una parte de la Ley como esencial, quedan obligados a guardarla toda (Gálatas 5:3).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La Ley nunca fue un buffet.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Era todo o nada.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Si los cristianos deben guardar la Ley de Moisés, no pueden escoger solo una parte (Gálatas 3:10; 5:3).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66" name="Google Shape;466;p61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5" name="Google Shape;475;p62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76" name="Google Shape;476;p62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s-ES" sz="420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OBRAS DE LA LEY O FE EN CRISTO</a:t>
              </a:r>
              <a:endParaRPr b="1" i="0" sz="42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77" name="Google Shape;477;p62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2"/>
          <p:cNvSpPr txBox="1"/>
          <p:nvPr>
            <p:ph idx="1" type="body"/>
          </p:nvPr>
        </p:nvSpPr>
        <p:spPr>
          <a:xfrm>
            <a:off x="762000" y="1714500"/>
            <a:ext cx="10668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La justificación por obras de la Ley requiere obediencia perfecta (Gálatas 3:10).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Fallar en una sola parte es fallar completamente (Gálatas 3:10).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Buscar justificación por ley es abandonar la justificación por gracia mediante la fe (Gálatas 2:21; 5:4).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Es quedar separados de Cristo (Gálatas 5:4).</a:t>
            </a:r>
            <a:endParaRPr b="0" i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79" name="Google Shape;479;p62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i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8" name="Google Shape;488;p63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489" name="Google Shape;489;p63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57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Lo que produce la justificación por ley</a:t>
              </a:r>
              <a:endParaRPr b="1" sz="357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490" name="Google Shape;490;p63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1" name="Google Shape;491;p63"/>
          <p:cNvSpPr txBox="1"/>
          <p:nvPr/>
        </p:nvSpPr>
        <p:spPr>
          <a:xfrm>
            <a:off x="762000" y="1714500"/>
            <a:ext cx="10668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Produce orgullo, vanagloria y jactancia (Gálatas 5:26; 6:12-14).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La religión se vuelve asunto de mi rendimiento.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Empiezo a compararme con otros.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Termino diciendo: “Gracias, Dios, porque no soy como los demás.”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492" name="Google Shape;492;p63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64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502" name="Google Shape;502;p64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57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El camino de la fe</a:t>
              </a:r>
              <a:endParaRPr b="1" sz="357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503" name="Google Shape;503;p64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4" name="Google Shape;504;p64"/>
          <p:cNvSpPr txBox="1"/>
          <p:nvPr/>
        </p:nvSpPr>
        <p:spPr>
          <a:xfrm>
            <a:off x="762000" y="1714500"/>
            <a:ext cx="10668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Cristo nos redimió de la maldición de la Ley (Gálatas 3:13-14).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Cuando morimos con Cristo, morimos a la Ley (Gálatas 2:19-20).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Ahora que ha venido la fe, ya no estamos bajo ese ayo (Gálatas 3:23-25; 4:1-7).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En Cristo ya somos pueblo de Dios (Gálatas 3:26-29).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Somos hijos de Abraham por la fe (Gálatas 3:6-9, 29).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505" name="Google Shape;505;p64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65"/>
          <p:cNvGrpSpPr/>
          <p:nvPr/>
        </p:nvGrpSpPr>
        <p:grpSpPr>
          <a:xfrm>
            <a:off x="762000" y="381000"/>
            <a:ext cx="10668000" cy="1038225"/>
            <a:chOff x="762000" y="381000"/>
            <a:chExt cx="10668000" cy="1038225"/>
          </a:xfrm>
        </p:grpSpPr>
        <p:sp>
          <p:nvSpPr>
            <p:cNvPr id="516" name="Google Shape;516;p65"/>
            <p:cNvSpPr txBox="1"/>
            <p:nvPr/>
          </p:nvSpPr>
          <p:spPr>
            <a:xfrm>
              <a:off x="762000" y="381000"/>
              <a:ext cx="10668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570">
                  <a:solidFill>
                    <a:srgbClr val="2C3E50"/>
                  </a:solidFill>
                  <a:latin typeface="Cinzel"/>
                  <a:ea typeface="Cinzel"/>
                  <a:cs typeface="Cinzel"/>
                  <a:sym typeface="Cinzel"/>
                </a:rPr>
                <a:t>Ya son hijos de Dios</a:t>
              </a:r>
              <a:endParaRPr b="1" sz="357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517" name="Google Shape;517;p65"/>
            <p:cNvSpPr/>
            <p:nvPr/>
          </p:nvSpPr>
          <p:spPr>
            <a:xfrm>
              <a:off x="762000" y="1381125"/>
              <a:ext cx="952500" cy="38100"/>
            </a:xfrm>
            <a:prstGeom prst="rect">
              <a:avLst/>
            </a:prstGeom>
            <a:solidFill>
              <a:srgbClr val="C5A0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" name="Google Shape;518;p65"/>
          <p:cNvSpPr txBox="1"/>
          <p:nvPr/>
        </p:nvSpPr>
        <p:spPr>
          <a:xfrm>
            <a:off x="762000" y="1714500"/>
            <a:ext cx="106680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Los gálatas no necesitaban hacerse judíos para pertenecer al pueblo de Dios (Gálatas 3:26-29; 5:2-6).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Ya eran hijos de Dios en Cristo (Gálatas 3:26).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Ya participaban en la promesa hecha a Abraham (Gálatas 3:14, 29; 4:28).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s-ES" sz="21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rPr>
              <a:t>• Ya tenían el Espíritu del Hijo de Dios en sus corazones (Gálatas 4:6).</a:t>
            </a:r>
            <a:endParaRPr b="0" sz="2100">
              <a:solidFill>
                <a:srgbClr val="333333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519" name="Google Shape;519;p65"/>
          <p:cNvSpPr txBox="1"/>
          <p:nvPr/>
        </p:nvSpPr>
        <p:spPr>
          <a:xfrm>
            <a:off x="762000" y="6096000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b="0"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6"/>
          <p:cNvSpPr txBox="1"/>
          <p:nvPr/>
        </p:nvSpPr>
        <p:spPr>
          <a:xfrm>
            <a:off x="0" y="381000"/>
            <a:ext cx="12192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>
                <a:solidFill>
                  <a:srgbClr val="2C3E50"/>
                </a:solidFill>
                <a:latin typeface="Cinzel"/>
                <a:ea typeface="Cinzel"/>
                <a:cs typeface="Cinzel"/>
                <a:sym typeface="Cinzel"/>
              </a:rPr>
              <a:t>CONCLUSIÓN</a:t>
            </a:r>
            <a:endParaRPr b="1" sz="5400">
              <a:solidFill>
                <a:srgbClr val="2C3E50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cxnSp>
        <p:nvCxnSpPr>
          <p:cNvPr id="524" name="Google Shape;524;p66"/>
          <p:cNvCxnSpPr/>
          <p:nvPr/>
        </p:nvCxnSpPr>
        <p:spPr>
          <a:xfrm>
            <a:off x="5619750" y="1238250"/>
            <a:ext cx="9525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5" name="Google Shape;525;p66"/>
          <p:cNvGrpSpPr/>
          <p:nvPr/>
        </p:nvGrpSpPr>
        <p:grpSpPr>
          <a:xfrm>
            <a:off x="3952875" y="1476375"/>
            <a:ext cx="4286400" cy="4286400"/>
            <a:chOff x="3952875" y="1476375"/>
            <a:chExt cx="4286400" cy="4286400"/>
          </a:xfrm>
        </p:grpSpPr>
        <p:pic>
          <p:nvPicPr>
            <p:cNvPr descr="A dramatic silhouette of a simple wooden cross against a breathtaking golden sunset. The light should radiate from behind the cross, creating a warm, ethereal glow. High contrast, cinematic lighting, spiritual and peaceful atmosphere." id="526" name="Google Shape;526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0" y="1524000"/>
              <a:ext cx="4191000" cy="4191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527" name="Google Shape;527;p66"/>
            <p:cNvSpPr/>
            <p:nvPr/>
          </p:nvSpPr>
          <p:spPr>
            <a:xfrm>
              <a:off x="3952875" y="1476375"/>
              <a:ext cx="4286400" cy="42864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C5A0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66"/>
          <p:cNvGrpSpPr/>
          <p:nvPr/>
        </p:nvGrpSpPr>
        <p:grpSpPr>
          <a:xfrm>
            <a:off x="762000" y="1714500"/>
            <a:ext cx="3048000" cy="1190625"/>
            <a:chOff x="762000" y="1714500"/>
            <a:chExt cx="3048000" cy="1190625"/>
          </a:xfrm>
        </p:grpSpPr>
        <p:sp>
          <p:nvSpPr>
            <p:cNvPr id="529" name="Google Shape;529;p66"/>
            <p:cNvSpPr/>
            <p:nvPr/>
          </p:nvSpPr>
          <p:spPr>
            <a:xfrm>
              <a:off x="762000" y="1714500"/>
              <a:ext cx="3048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6"/>
            <p:cNvSpPr txBox="1"/>
            <p:nvPr/>
          </p:nvSpPr>
          <p:spPr>
            <a:xfrm>
              <a:off x="762000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LA BASE</a:t>
              </a:r>
              <a:endParaRPr b="1" sz="22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531" name="Google Shape;531;p66"/>
            <p:cNvSpPr txBox="1"/>
            <p:nvPr/>
          </p:nvSpPr>
          <p:spPr>
            <a:xfrm>
              <a:off x="762000" y="214312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ES" sz="16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EL FAVOR DE DIOS NO SE GANA POR OBRAS DE LEY. (galatias 3:11)</a:t>
              </a:r>
              <a:endParaRPr b="0" sz="16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grpSp>
        <p:nvGrpSpPr>
          <p:cNvPr id="532" name="Google Shape;532;p66"/>
          <p:cNvGrpSpPr/>
          <p:nvPr/>
        </p:nvGrpSpPr>
        <p:grpSpPr>
          <a:xfrm>
            <a:off x="762000" y="4381500"/>
            <a:ext cx="3048000" cy="1476525"/>
            <a:chOff x="762000" y="4381500"/>
            <a:chExt cx="3048000" cy="1476525"/>
          </a:xfrm>
        </p:grpSpPr>
        <p:sp>
          <p:nvSpPr>
            <p:cNvPr id="533" name="Google Shape;533;p66"/>
            <p:cNvSpPr/>
            <p:nvPr/>
          </p:nvSpPr>
          <p:spPr>
            <a:xfrm>
              <a:off x="762000" y="4381500"/>
              <a:ext cx="3048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6"/>
            <p:cNvSpPr txBox="1"/>
            <p:nvPr/>
          </p:nvSpPr>
          <p:spPr>
            <a:xfrm>
              <a:off x="762000" y="4381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EL MEDIO</a:t>
              </a:r>
              <a:endParaRPr b="1" sz="22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535" name="Google Shape;535;p66"/>
            <p:cNvSpPr txBox="1"/>
            <p:nvPr/>
          </p:nvSpPr>
          <p:spPr>
            <a:xfrm>
              <a:off x="762000" y="481012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ES" sz="16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SE RECIBE POR GRACIA, MEDIANTE LA FE EN JESUCRISTO. (GÁLATAS 2:16, 21)</a:t>
              </a:r>
              <a:endParaRPr b="0" sz="16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grpSp>
        <p:nvGrpSpPr>
          <p:cNvPr id="536" name="Google Shape;536;p66"/>
          <p:cNvGrpSpPr/>
          <p:nvPr/>
        </p:nvGrpSpPr>
        <p:grpSpPr>
          <a:xfrm>
            <a:off x="8382000" y="1714500"/>
            <a:ext cx="3048000" cy="1190625"/>
            <a:chOff x="8382000" y="1714500"/>
            <a:chExt cx="3048000" cy="1190625"/>
          </a:xfrm>
        </p:grpSpPr>
        <p:sp>
          <p:nvSpPr>
            <p:cNvPr id="537" name="Google Shape;537;p66"/>
            <p:cNvSpPr/>
            <p:nvPr/>
          </p:nvSpPr>
          <p:spPr>
            <a:xfrm>
              <a:off x="8382000" y="1714500"/>
              <a:ext cx="3048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6"/>
            <p:cNvSpPr txBox="1"/>
            <p:nvPr/>
          </p:nvSpPr>
          <p:spPr>
            <a:xfrm>
              <a:off x="8382000" y="1714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LA PUREZA</a:t>
              </a:r>
              <a:endParaRPr b="1" sz="22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539" name="Google Shape;539;p66"/>
            <p:cNvSpPr txBox="1"/>
            <p:nvPr/>
          </p:nvSpPr>
          <p:spPr>
            <a:xfrm>
              <a:off x="8382000" y="2143125"/>
              <a:ext cx="304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ES" sz="16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EL EVANGELIO NO NECESITA AÑADIDOS. (GÁLATAS 1:6-9)</a:t>
              </a:r>
              <a:endParaRPr b="0" sz="16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grpSp>
        <p:nvGrpSpPr>
          <p:cNvPr id="540" name="Google Shape;540;p66"/>
          <p:cNvGrpSpPr/>
          <p:nvPr/>
        </p:nvGrpSpPr>
        <p:grpSpPr>
          <a:xfrm>
            <a:off x="8382000" y="4381500"/>
            <a:ext cx="3048000" cy="1476525"/>
            <a:chOff x="8382000" y="4381500"/>
            <a:chExt cx="3048000" cy="1476525"/>
          </a:xfrm>
        </p:grpSpPr>
        <p:sp>
          <p:nvSpPr>
            <p:cNvPr id="541" name="Google Shape;541;p66"/>
            <p:cNvSpPr/>
            <p:nvPr/>
          </p:nvSpPr>
          <p:spPr>
            <a:xfrm>
              <a:off x="8382000" y="4381500"/>
              <a:ext cx="30480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6"/>
            <p:cNvSpPr txBox="1"/>
            <p:nvPr/>
          </p:nvSpPr>
          <p:spPr>
            <a:xfrm>
              <a:off x="8382000" y="4381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2200">
                  <a:solidFill>
                    <a:srgbClr val="C5A059"/>
                  </a:solidFill>
                  <a:latin typeface="Cinzel"/>
                  <a:ea typeface="Cinzel"/>
                  <a:cs typeface="Cinzel"/>
                  <a:sym typeface="Cinzel"/>
                </a:rPr>
                <a:t>LA SUFICIENCIA</a:t>
              </a:r>
              <a:endParaRPr b="1" sz="22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  <p:sp>
          <p:nvSpPr>
            <p:cNvPr id="543" name="Google Shape;543;p66"/>
            <p:cNvSpPr txBox="1"/>
            <p:nvPr/>
          </p:nvSpPr>
          <p:spPr>
            <a:xfrm>
              <a:off x="8382000" y="4810125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-ES" sz="1600">
                  <a:solidFill>
                    <a:srgbClr val="333333"/>
                  </a:solidFill>
                  <a:latin typeface="Cinzel"/>
                  <a:ea typeface="Cinzel"/>
                  <a:cs typeface="Cinzel"/>
                  <a:sym typeface="Cinzel"/>
                </a:rPr>
                <a:t>CRISTO CRUCIFICADO ES SUFICIENTE. (GÁLATAS 2:21; 3:1-3)</a:t>
              </a:r>
              <a:endParaRPr b="0" sz="1600">
                <a:solidFill>
                  <a:srgbClr val="333333"/>
                </a:solidFill>
                <a:latin typeface="Cinzel"/>
                <a:ea typeface="Cinzel"/>
                <a:cs typeface="Cinzel"/>
                <a:sym typeface="Cinzel"/>
              </a:endParaRPr>
            </a:p>
          </p:txBody>
        </p:sp>
      </p:grpSp>
      <p:sp>
        <p:nvSpPr>
          <p:cNvPr id="544" name="Google Shape;544;p66"/>
          <p:cNvSpPr/>
          <p:nvPr/>
        </p:nvSpPr>
        <p:spPr>
          <a:xfrm>
            <a:off x="4667250" y="1381125"/>
            <a:ext cx="2857500" cy="428700"/>
          </a:xfrm>
          <a:prstGeom prst="roundRect">
            <a:avLst>
              <a:gd fmla="val 48888" name="adj"/>
            </a:avLst>
          </a:prstGeom>
          <a:solidFill>
            <a:srgbClr val="C5A0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6"/>
          <p:cNvSpPr txBox="1"/>
          <p:nvPr/>
        </p:nvSpPr>
        <p:spPr>
          <a:xfrm>
            <a:off x="4667250" y="1381125"/>
            <a:ext cx="2857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JUSTIFICACIÓN POR LA FE</a:t>
            </a:r>
            <a:endParaRPr b="1" sz="1400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546" name="Google Shape;546;p66"/>
          <p:cNvSpPr txBox="1"/>
          <p:nvPr/>
        </p:nvSpPr>
        <p:spPr>
          <a:xfrm>
            <a:off x="762000" y="619125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C5A059"/>
                </a:solidFill>
                <a:latin typeface="Cinzel"/>
                <a:ea typeface="Cinzel"/>
                <a:cs typeface="Cinzel"/>
                <a:sym typeface="Cinzel"/>
              </a:rPr>
              <a:t>GÁLATAS</a:t>
            </a:r>
            <a:endParaRPr sz="1400">
              <a:solidFill>
                <a:srgbClr val="C5A059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