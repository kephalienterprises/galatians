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6B86-2C98-F89B-51F1-4EE18389C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5EF0E-F35B-1544-9DE1-415BEA6D9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69A52-E80A-07D8-B6CC-CD0EA557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689BD-1B17-5D8F-2574-FFFBC913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7C282-6C8B-FC6A-20C6-4278A756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7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C8A4F-252E-F7BE-29AF-4F0C74FC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3CB12-911F-AAB7-29A5-4C4B0DDBF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3CB2F-25B1-0B48-6711-B3B5BF5E3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DC948-1E9A-8979-BACC-AEE6F527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52B6B-58E2-825F-2313-C3BA9880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2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E80C-503A-D8FF-2D88-ED6AD1DC8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E63A4-6FC3-1258-41D9-AFE82BF50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3D7C2-6EB5-933E-1A60-EE7748671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F0664-4B91-4B05-A090-23CD1C7C1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C20D-B92D-61D4-B8A5-D0664980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89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671B-E750-B54B-6703-BD229A937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02837-9436-BA22-A144-2902C1BD4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561B4-FF1F-3AD8-93B2-5FBC5AFAE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DC2BD-616F-3FD3-7590-9E0F666D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03C3E-16DD-2F90-5A56-3BD54D32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169A6-16D6-DC5C-F05D-13AAB3C8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95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A1FD-F530-0178-85FD-02480772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83130-27B8-3E3B-BF58-A1685CCAE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59EA8-6007-10F3-0D0E-160AE6B68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ED2DC-F94D-1C37-40DB-2B0CEB349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8A4C8-6C69-75B8-D15A-61BD2672F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1BEE7E-0BD9-4C49-3A63-2F50BF8C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5A601-FBFE-3AE4-B8E6-18D9AD8A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A9FF5-4435-1615-D781-C9C9EB71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9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DFB5-E2DE-1AB0-FBBE-DE9EF790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B5E46-865C-46BF-5DBB-4CF656B27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11BF4-5EE5-2935-215D-676CAB8A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E4E9F-2648-D1FD-1738-1DE3BE31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78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7D1A6-CA09-4118-AD95-A67B4E80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62F4F-213C-D9FC-6592-DC489153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CD3AE-203E-3E22-2341-391BD052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2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D0AB5-F4DD-FB7E-3BB5-069355CF6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AFCFB-BCE7-02D9-81D9-785D6E150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BE5D0-69D8-67AC-B94A-8447FB579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EA089-41FA-7608-609E-EDE51C13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82F95-F8AF-2118-DCB5-2BB7E083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CDFFC-9661-713F-9006-B2251E5D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3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88C5-7044-B6FB-5F8F-B9431F5F0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F41967-97D4-3179-F163-7E310DC0C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06787-F599-317D-761B-C4C5DB0C8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0276B-AEF7-3567-6CDA-62E79ED4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5D871-9314-509F-5243-A4F186CC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E38ED-E380-DE92-510B-C806A02B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90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E55DB-D390-2091-1416-FA5725BC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4143D-0589-492D-9AD8-D3047F843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B411-3975-2693-A590-DF3892D7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4C4AA-043F-625C-5D03-B8F1A9FF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57A78-8D95-0526-FC19-2E3CC726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69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25AC17-4819-4C8E-C3C7-6BD9E3F15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FDBB3-2F62-9E5A-D141-C251D1D9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10994-80D4-ADD1-5B47-672C0CC6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92D08-0FC5-2D69-F69A-F524ABC7E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D0E9F-1C59-B9B7-FB3D-9925A17D0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00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E5D6-C38B-CD3D-ACCB-77AACDCE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12603-D51C-52E8-8233-A1178609C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973B5-B20A-93F7-E2B4-0880EA32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984F2-F6FF-3CC6-8EFE-C70DA8484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943BD-3B57-B93E-54C0-40F346FB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4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450D86-5F9E-0EB1-9913-C298CE2F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D77A2-9DC1-7CB0-A160-708120F3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C7C23-44D5-EE66-AF3E-4C70681B0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A01CA-410C-4E48-B6D0-2B436057F58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A73F6-EBD8-BBC3-371F-3B14803FA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5046F-0576-3E66-9970-5CB32E75A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40E7E-FE95-40EC-B574-3D8F2C38B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9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9371-EEB8-BBD6-2796-FEB3DF72D7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Las Obras de la Carne vs. el Fruto del Espíritu</a:t>
            </a:r>
            <a:endParaRPr lang="en-US" sz="2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65E8B-7A85-9D90-0BEC-281214A11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Gálatas 5:19-23</a:t>
            </a:r>
          </a:p>
        </p:txBody>
      </p:sp>
    </p:spTree>
    <p:extLst>
      <p:ext uri="{BB962C8B-B14F-4D97-AF65-F5344CB8AC3E}">
        <p14:creationId xmlns:p14="http://schemas.microsoft.com/office/powerpoint/2010/main" val="4011672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BD38-B6A2-2FCF-D255-1178894B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Las obras de la carne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3613A-9FED-DCA8-EA9D-C1B407324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Las obras de la carne son evidentes.</a:t>
            </a:r>
          </a:p>
          <a:p>
            <a:r>
              <a:rPr lang="es-ES" sz="2100"/>
              <a:t>Son obvias.</a:t>
            </a:r>
          </a:p>
          <a:p>
            <a:r>
              <a:rPr lang="es-ES" sz="2100"/>
              <a:t>No hace falta la Ley de Moisés para identificarlas como pecaminosas.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5843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77B1-A437-A1BB-BCD3-7BEE009CA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La lista no es exhaustiva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EF6ED-2B18-42F2-28FD-2E9D388E7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La lista termina con “y cosas semejantes a estas”.</a:t>
            </a:r>
          </a:p>
          <a:p>
            <a:r>
              <a:rPr lang="es-ES" sz="2100"/>
              <a:t>Esto deja claro que no es una lista completa.</a:t>
            </a:r>
          </a:p>
          <a:p>
            <a:r>
              <a:rPr lang="es-ES" sz="2100"/>
              <a:t>Es una muestra representativa.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70173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F63E3-2CA1-437F-BA9F-76AFDAD7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Énfasis posible en la lista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64CFA-FC47-2862-3C0B-1281B46A8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Si hay algún énfasis en la lista, probablemente esté en el primer vicio mencionado.</a:t>
            </a:r>
          </a:p>
          <a:p>
            <a:r>
              <a:rPr lang="es-ES" sz="2100"/>
              <a:t>Inmoralidad sexual: porneía.</a:t>
            </a:r>
          </a:p>
          <a:p>
            <a:r>
              <a:rPr lang="es-ES" sz="2100"/>
              <a:t>En cierto sentido, es lo opuesto al primer fruto del Espíritu: amor.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414462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F8D-BB4A-C514-4201-04A4735F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Inmoralidad sexual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46D67-1AB7-6209-D178-3687F8A41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Porneía.</a:t>
            </a:r>
          </a:p>
          <a:p>
            <a:r>
              <a:rPr lang="es-ES" sz="2100"/>
              <a:t>Relaciones sexuales ilícitas e inmorales.</a:t>
            </a:r>
          </a:p>
          <a:p>
            <a:r>
              <a:rPr lang="es-ES" sz="2100"/>
              <a:t>Probablemente originalmente se refería a la prostitución.</a:t>
            </a:r>
          </a:p>
          <a:p>
            <a:r>
              <a:rPr lang="es-ES" sz="2100"/>
              <a:t>“Prostituta” es porni aun en el griego moderno.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692645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2A6D-6A13-B5F5-7295-C7BAFEE8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Inmoralidad sexual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42DDF-C46E-7562-A56F-0D8A1CA08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“La vida sexual del mundo grecorromano en tiempos del NT era un caos sin ley...”</a:t>
            </a:r>
          </a:p>
          <a:p>
            <a:r>
              <a:rPr lang="es-ES" sz="2100"/>
              <a:t>“Pablo vivía en un mundo en el que ese pecado abundaba...”</a:t>
            </a:r>
          </a:p>
          <a:p>
            <a:r>
              <a:rPr lang="es-ES" sz="2100"/>
              <a:t>“...y en ese mundo el cristianismo trajo a los hombres un poder casi milagroso para vivir en pureza.”</a:t>
            </a:r>
          </a:p>
          <a:p>
            <a:r>
              <a:rPr lang="es-ES" sz="2100"/>
              <a:t>W. Barclay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092574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7246-442A-6151-C84C-C2B05625E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Impureza y sensualidad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B6FCA-0973-92F3-0EC0-1E4F71C58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Impureza: akatharsía.</a:t>
            </a:r>
          </a:p>
          <a:p>
            <a:r>
              <a:rPr lang="es-ES" sz="2100"/>
              <a:t>Impureza sexual o libertinaje en sentido moral.</a:t>
            </a:r>
          </a:p>
          <a:p>
            <a:r>
              <a:rPr lang="es-ES" sz="2100"/>
              <a:t>Sensualidad: asélgeia.</a:t>
            </a:r>
          </a:p>
          <a:p>
            <a:r>
              <a:rPr lang="es-ES" sz="2100"/>
              <a:t>Un amor al pecado tan temerario y tan audaz que el hombre ha dejado de preocuparse por lo que Dios o los hombres piensan de sus acciones.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90859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B9F7-E60B-6047-CAD2-B0FFBEC9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Sensualidad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FC218-F1C6-39A7-54A4-B8CDD4DF7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Josefo usó el término para el exhibicionismo.</a:t>
            </a:r>
          </a:p>
          <a:p>
            <a:r>
              <a:rPr lang="es-ES" sz="2100"/>
              <a:t>También para las acciones de travestidos.</a:t>
            </a:r>
          </a:p>
          <a:p>
            <a:r>
              <a:rPr lang="es-ES" sz="2100"/>
              <a:t>También para la promiscuidad homosexual.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409500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653D-59A3-0E74-92D9-93B01C55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Idolatría y hechicería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931D0-9987-C3F8-1766-7A536B0C3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Idolatría: eidololatría.</a:t>
            </a:r>
          </a:p>
          <a:p>
            <a:r>
              <a:rPr lang="es-ES" sz="2100"/>
              <a:t>La adoración de una imagen o del dios representado por una imagen.</a:t>
            </a:r>
          </a:p>
          <a:p>
            <a:r>
              <a:rPr lang="es-ES" sz="2100"/>
              <a:t>También puede incluir la avaricia (Colosenses 3:5).</a:t>
            </a:r>
          </a:p>
          <a:p>
            <a:r>
              <a:rPr lang="es-ES" sz="2100"/>
              <a:t>Hechicería: farmakeía.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701383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D3AA-5E4C-AC96-A499-2B42B6814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Farmakeía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4B725-F594-52BC-6ECA-B14207BBD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Puede tener un sentido neutral: administrar drogas con fines medicinales.</a:t>
            </a:r>
          </a:p>
          <a:p>
            <a:r>
              <a:rPr lang="es-ES" sz="2100"/>
              <a:t>Pero adquirió dos sentidos negativos:</a:t>
            </a:r>
          </a:p>
          <a:p>
            <a:r>
              <a:rPr lang="es-ES" sz="2100"/>
              <a:t>1. El uso de drogas para envenenar.</a:t>
            </a:r>
          </a:p>
          <a:p>
            <a:r>
              <a:rPr lang="es-ES" sz="2100"/>
              <a:t>2. El uso de drogas en hechicería o brujería.</a:t>
            </a:r>
          </a:p>
          <a:p>
            <a:r>
              <a:rPr lang="es-ES" sz="2100"/>
              <a:t>En religiones paganas antiguas se usaban drogas para inducir estados mentales alterados.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80028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5762-ABC3-6D3C-D1D7-C07414E7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Hostilidad y contienda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E7CB6-1EAE-B5E2-5D18-CFDD0AE0E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Enemistades: échthrai.</a:t>
            </a:r>
          </a:p>
          <a:p>
            <a:r>
              <a:rPr lang="es-ES" sz="2100"/>
              <a:t>Enemistad, hostilidad, odio en cualquier forma en que se exprese.</a:t>
            </a:r>
          </a:p>
          <a:p>
            <a:r>
              <a:rPr lang="es-ES" sz="2100"/>
              <a:t>Entre los antiguos, su opuesto era filía, amistad.</a:t>
            </a:r>
          </a:p>
          <a:p>
            <a:r>
              <a:rPr lang="es-ES" sz="2100"/>
              <a:t>En el NT, su opuesto es agápe, amor.</a:t>
            </a:r>
          </a:p>
          <a:p>
            <a:r>
              <a:rPr lang="es-ES" sz="2100"/>
              <a:t>Contiendas: éris.</a:t>
            </a:r>
          </a:p>
          <a:p>
            <a:r>
              <a:rPr lang="es-ES" sz="2100"/>
              <a:t>Discordia, pleitos, peleas, rivalidad.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185015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EA73-CD4F-24BF-6FA3-04EB2384F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Celos e iras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37A8B-443F-8801-E430-DA41EBFF6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Celos: zélos.</a:t>
            </a:r>
          </a:p>
          <a:p>
            <a:r>
              <a:rPr lang="es-ES" sz="2100"/>
              <a:t>Puede usarse en sentido positivo, como devoción intensa a Dios (Romanos 10:2).</a:t>
            </a:r>
          </a:p>
          <a:p>
            <a:r>
              <a:rPr lang="es-ES" sz="2100"/>
              <a:t>Pero a menudo es negativo.</a:t>
            </a:r>
          </a:p>
          <a:p>
            <a:r>
              <a:rPr lang="es-ES" sz="2100"/>
              <a:t>Es una reacción hostil ante el bien ajeno o un deseo de poseer lo que otro tiene.</a:t>
            </a:r>
          </a:p>
          <a:p>
            <a:r>
              <a:rPr lang="es-ES" sz="2100"/>
              <a:t>Iras: thymoí.</a:t>
            </a:r>
          </a:p>
          <a:p>
            <a:r>
              <a:rPr lang="es-ES" sz="2100"/>
              <a:t>Usualmente se refiere a la ira o estallidos de furor.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22999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27250-7C82-FDEE-0506-D60E714F8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Ambición egoísta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7A855-4E5B-5FD3-DCAA-E86C1504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Ambiciones egoístas: eritheíai.</a:t>
            </a:r>
          </a:p>
          <a:p>
            <a:r>
              <a:rPr lang="es-ES" sz="2100"/>
              <a:t>Aparece primero en Aristóteles en un contexto político.</a:t>
            </a:r>
          </a:p>
          <a:p>
            <a:r>
              <a:rPr lang="es-ES" sz="2100"/>
              <a:t>Buscar un cargo, hacer campaña para obtener un cargo.</a:t>
            </a:r>
          </a:p>
          <a:p>
            <a:r>
              <a:rPr lang="es-ES" sz="2100"/>
              <a:t>Después llegó a significar interés propio y ambición egoísta.</a:t>
            </a:r>
          </a:p>
          <a:p>
            <a:r>
              <a:rPr lang="es-ES" sz="2100"/>
              <a:t>Los mejores líderes generalmente no tienen que convencer a otros de que serían buenos líderes.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392672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E54F-3998-1192-5404-2D601D56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Disensiones y facciones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B76E7-A77B-DFDA-DF37-EA83B927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Disensiones: dichostasíai.</a:t>
            </a:r>
          </a:p>
          <a:p>
            <a:r>
              <a:rPr lang="es-ES" sz="2100"/>
              <a:t>Disensiones, sediciones.</a:t>
            </a:r>
          </a:p>
          <a:p>
            <a:r>
              <a:rPr lang="es-ES" sz="2100"/>
              <a:t>Facciones: hairéseis.</a:t>
            </a:r>
          </a:p>
          <a:p>
            <a:r>
              <a:rPr lang="es-ES" sz="2100"/>
              <a:t>Facciones, tendencias filosóficas, sectas.</a:t>
            </a:r>
          </a:p>
          <a:p>
            <a:r>
              <a:rPr lang="es-ES" sz="2100"/>
              <a:t>Josefo dice que había tres hairéseis en el judaísmo: fariseos, saduceos y esenios.</a:t>
            </a:r>
          </a:p>
          <a:p>
            <a:r>
              <a:rPr lang="es-ES" sz="2100"/>
              <a:t>Un grupo de personas que sostiene un conjunto escogido de opiniones y actúa conforme a ellas.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871921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FA581-05DE-F2EF-3CB2-23C96E33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Envidia, borracheras y orgías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F8428-7BAF-54BC-697C-EBCF3D5AD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Envidias: phthónoi.</a:t>
            </a:r>
          </a:p>
          <a:p>
            <a:r>
              <a:rPr lang="en-US" sz="2100"/>
              <a:t>Mala voluntad, malicia, envidia.</a:t>
            </a:r>
          </a:p>
          <a:p>
            <a:r>
              <a:rPr lang="en-US" sz="2100"/>
              <a:t>Borracheras: méthai.</a:t>
            </a:r>
          </a:p>
          <a:p>
            <a:r>
              <a:rPr lang="en-US" sz="2100"/>
              <a:t>Embriaguez.</a:t>
            </a:r>
          </a:p>
          <a:p>
            <a:r>
              <a:rPr lang="en-US" sz="2100"/>
              <a:t>Orgías: kómoi.</a:t>
            </a:r>
          </a:p>
          <a:p>
            <a:r>
              <a:rPr lang="en-US" sz="2100"/>
              <a:t>Fiestas desenfrenadas, parrandas, orgías.</a:t>
            </a:r>
          </a:p>
        </p:txBody>
      </p:sp>
    </p:spTree>
    <p:extLst>
      <p:ext uri="{BB962C8B-B14F-4D97-AF65-F5344CB8AC3E}">
        <p14:creationId xmlns:p14="http://schemas.microsoft.com/office/powerpoint/2010/main" val="373344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0E27-5CCB-3D24-03B9-54188D7B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Kómoi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FACBF-256E-86A2-9398-108E946EE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La actividad que acompaña los episodios de borrachera.</a:t>
            </a:r>
          </a:p>
          <a:p>
            <a:r>
              <a:rPr lang="es-ES" sz="2100"/>
              <a:t>También las fiestas en honor a los dioses.</a:t>
            </a:r>
          </a:p>
          <a:p>
            <a:r>
              <a:rPr lang="es-ES" sz="2100"/>
              <a:t>En el NT, está asociada con la embriaguez.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619916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C26DE-C10C-7980-79C3-93A6BB0C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El fruto del Espíritu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6A72B-8BBD-5FF9-6033-B65BB5F0F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¿Por qué se llaman frutos?</a:t>
            </a:r>
          </a:p>
          <a:p>
            <a:r>
              <a:rPr lang="es-ES" sz="2100"/>
              <a:t>Estas cualidades o virtudes son el resultado natural del Espíritu viviendo en los cristianos.</a:t>
            </a:r>
          </a:p>
          <a:p>
            <a:r>
              <a:rPr lang="es-ES" sz="2100"/>
              <a:t>Transmite la idea de un crecimiento apacible en la vida dirigida por el Espíritu.</a:t>
            </a:r>
          </a:p>
          <a:p>
            <a:r>
              <a:rPr lang="es-ES" sz="2100"/>
              <a:t>Es lo opuesto a los estallidos de pasión indisciplinada guiados por preocupaciones carnales.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448887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50028-6C65-CCEE-606F-135FA0139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El fruto del Espíritu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9D348-B262-DEE7-7C6E-0B3803848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También comunica la consecuencia del olvido de sí mismo.</a:t>
            </a:r>
          </a:p>
          <a:p>
            <a:r>
              <a:rPr lang="es-ES" sz="2100"/>
              <a:t>Una vida que deja de mirarse a sí misma y mira hacia Dios.</a:t>
            </a:r>
          </a:p>
          <a:p>
            <a:r>
              <a:rPr lang="es-ES" sz="2100"/>
              <a:t>El punto no es que el cristiano sea éticamente pasivo.</a:t>
            </a:r>
          </a:p>
          <a:p>
            <a:r>
              <a:rPr lang="es-ES" sz="2100"/>
              <a:t>Esto no elimina el esfuerzo.</a:t>
            </a:r>
          </a:p>
          <a:p>
            <a:r>
              <a:rPr lang="es-ES" sz="2100"/>
              <a:t>Véase el versículo 25.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839961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AC48-697B-53F4-229D-792D96472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/>
              <a:t>Énfasis posible en la lista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C7EE8-181D-79EA-4DF6-F6C7CB0FA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Si hay un énfasis en la lista, probablemente sea el primer elemento.</a:t>
            </a:r>
          </a:p>
          <a:p>
            <a:r>
              <a:rPr lang="es-ES" sz="2100"/>
              <a:t>Amor: agápe.</a:t>
            </a:r>
          </a:p>
          <a:p>
            <a:r>
              <a:rPr lang="es-ES" sz="2100"/>
              <a:t>Esto recuerda 5:6, 13 y 14.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755054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2AA9-13E3-D2AB-F867-8EB7477E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Amor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DA2C7-2337-75AB-66A7-4A24DF482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Agápe.</a:t>
            </a:r>
          </a:p>
          <a:p>
            <a:r>
              <a:rPr lang="es-ES" sz="2100"/>
              <a:t>En el NT, agápe es la palabra estándar para amor en todas las relaciones personales.</a:t>
            </a:r>
          </a:p>
          <a:p>
            <a:r>
              <a:rPr lang="es-ES" sz="2100"/>
              <a:t>Entre Dios y la humanidad.</a:t>
            </a:r>
          </a:p>
          <a:p>
            <a:r>
              <a:rPr lang="es-ES" sz="2100"/>
              <a:t>Y entre personas en cualquier circunstancia.</a:t>
            </a:r>
          </a:p>
          <a:p>
            <a:r>
              <a:rPr lang="es-ES" sz="2100"/>
              <a:t>Todas las demás virtudes de esta lista están incluidas en el amor y brotan del amor.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000218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7E086-927E-5975-6F5A-22602D4C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Gozo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C9816-E1AA-1C1F-CBDC-C448D50B0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Jará.</a:t>
            </a:r>
          </a:p>
          <a:p>
            <a:r>
              <a:rPr lang="es-ES" sz="2100"/>
              <a:t>Los cristianos no tienen el monopolio del gozo.</a:t>
            </a:r>
          </a:p>
          <a:p>
            <a:r>
              <a:rPr lang="es-ES" sz="2100"/>
              <a:t>La gente del mundo también puede tenerlo.</a:t>
            </a:r>
          </a:p>
          <a:p>
            <a:r>
              <a:rPr lang="es-ES" sz="2100"/>
              <a:t>La diferencia es que, para el cristiano, no depende de circunstancias agradables.</a:t>
            </a:r>
          </a:p>
          <a:p>
            <a:r>
              <a:rPr lang="es-ES" sz="2100"/>
              <a:t>Viene de vivir una vida justa con esperanza en las promesas de Dios.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103544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476B-4A82-9BFE-94A8-C24A0819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Paz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8FCBF-A3AC-AE1A-2894-07E738854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Eiréne.</a:t>
            </a:r>
          </a:p>
          <a:p>
            <a:r>
              <a:rPr lang="es-ES" sz="2100"/>
              <a:t>Dios es Dios de paz (Romanos 15:33).</a:t>
            </a:r>
          </a:p>
          <a:p>
            <a:r>
              <a:rPr lang="es-ES" sz="2100"/>
              <a:t>Estar en Cristo significa recibir algo de la paz de Dios en la vida.</a:t>
            </a:r>
          </a:p>
          <a:p>
            <a:r>
              <a:rPr lang="es-ES" sz="2100"/>
              <a:t>Implica integridad personal y relaciones sanas.</a:t>
            </a:r>
          </a:p>
          <a:p>
            <a:r>
              <a:rPr lang="es-ES" sz="2100"/>
              <a:t>Debemos esforzarnos por seguir la paz (Romanos 14:19; Mateo 5:9).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37526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4DA5-0B2C-9D43-8E72-ED15A6C2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Paciencia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C2DA0-4126-5EEF-B088-62AA65F0E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Makrothymía.</a:t>
            </a:r>
          </a:p>
          <a:p>
            <a:r>
              <a:rPr lang="es-ES" sz="2100"/>
              <a:t>Perseverancia, paciencia, longanimidad frente a persecución o provocación.</a:t>
            </a:r>
          </a:p>
          <a:p>
            <a:r>
              <a:rPr lang="es-ES" sz="2100"/>
              <a:t>Soportar pacientemente el mal sin enojarse ni tomar venganza.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812265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0751D-D686-D86D-CA0A-6FE4CA72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Benignidad y bondad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E6015-9CE4-F7E6-759C-94C1F6A97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Benignidad: jrestótes.</a:t>
            </a:r>
          </a:p>
          <a:p>
            <a:r>
              <a:rPr lang="es-ES" sz="2100"/>
              <a:t>Bondad, honestidad, benignidad cuando se refiere a personas.</a:t>
            </a:r>
          </a:p>
          <a:p>
            <a:r>
              <a:rPr lang="es-ES" sz="2100"/>
              <a:t>En el NT, “benignidad” es el sentido más constante.</a:t>
            </a:r>
          </a:p>
          <a:p>
            <a:r>
              <a:rPr lang="es-ES" sz="2100"/>
              <a:t>Bondad: agathosýne.</a:t>
            </a:r>
          </a:p>
          <a:p>
            <a:r>
              <a:rPr lang="es-ES" sz="2100"/>
              <a:t>Sinónimo de benignidad, bondad, rectitud.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644294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AC50-6FB7-948E-BE24-504DF2718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Fidelidad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FB448-03A0-E80F-5843-311E43A5A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Pístis.</a:t>
            </a:r>
          </a:p>
          <a:p>
            <a:r>
              <a:rPr lang="es-ES" sz="2100"/>
              <a:t>Dios es fiel (1 Corintios 1:9).</a:t>
            </a:r>
          </a:p>
          <a:p>
            <a:r>
              <a:rPr lang="es-ES" sz="2100"/>
              <a:t>La fidelidad es producida en la vida del creyente por el Dios fiel por medio de Su Espíritu.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008507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28A2-0288-6B7D-96E0-71BD80D5B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Mansedumbre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CA165-4229-1808-03AE-D32BBC06E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Praýtes.</a:t>
            </a:r>
          </a:p>
          <a:p>
            <a:r>
              <a:rPr lang="es-ES" sz="2100"/>
              <a:t>Docilidad.</a:t>
            </a:r>
          </a:p>
          <a:p>
            <a:r>
              <a:rPr lang="es-ES" sz="2100"/>
              <a:t>Sumisión a la voluntad de Dios.</a:t>
            </a:r>
          </a:p>
          <a:p>
            <a:r>
              <a:rPr lang="es-ES" sz="2100"/>
              <a:t>Consideración y mansedumbre.</a:t>
            </a:r>
          </a:p>
          <a:p>
            <a:r>
              <a:rPr lang="es-ES" sz="2100"/>
              <a:t>Lo opuesto a un espíritu arrogante y dominante.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418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B3309-79FE-92FD-0193-BDEFEAB9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Dominio propio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34C42-DE7F-5E4E-AF33-63F6D6477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Enkráteia.</a:t>
            </a:r>
          </a:p>
          <a:p>
            <a:r>
              <a:rPr lang="es-ES" sz="2100"/>
              <a:t>Platón la ponía en contraste con la indulgencia excesiva, tanto en comida como en sexo.</a:t>
            </a:r>
          </a:p>
          <a:p>
            <a:r>
              <a:rPr lang="es-ES" sz="2100"/>
              <a:t>La persona con dominio propio tiene pasiones fuertes, pero las mantiene bajo control.</a:t>
            </a:r>
          </a:p>
          <a:p>
            <a:r>
              <a:rPr lang="es-ES" sz="2100"/>
              <a:t>La persona sin dominio propio no necesariamente escoge deliberadamente el mal.</a:t>
            </a:r>
          </a:p>
          <a:p>
            <a:r>
              <a:rPr lang="es-ES" sz="2100"/>
              <a:t>Pero no tiene fuerza para resistir la tentación.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359186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BE1D0-4229-FC90-69C0-F9D9CFBD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Conclusión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59FB0-8B34-22A4-3702-07839F592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100"/>
              <a:t>Las obras de la carne son evidentes y destructivas.</a:t>
            </a:r>
          </a:p>
          <a:p>
            <a:r>
              <a:rPr lang="es-ES" sz="2100"/>
              <a:t>El fruto del Espíritu crece en la vida rendida a Dios.</a:t>
            </a:r>
          </a:p>
          <a:p>
            <a:r>
              <a:rPr lang="es-ES" sz="2100"/>
              <a:t>El creyente no debe andar según la carne.</a:t>
            </a:r>
          </a:p>
          <a:p>
            <a:r>
              <a:rPr lang="es-ES" sz="2100"/>
              <a:t>Debe andar por el Espíritu.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4052287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1135</Words>
  <Application>Microsoft Office PowerPoint</Application>
  <PresentationFormat>Widescreen</PresentationFormat>
  <Paragraphs>146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Las Obras de la Carne vs. el Fruto del Espíritu</vt:lpstr>
      <vt:lpstr>Las obras de la carne</vt:lpstr>
      <vt:lpstr>La lista no es exhaustiva</vt:lpstr>
      <vt:lpstr>Énfasis posible en la lista</vt:lpstr>
      <vt:lpstr>Inmoralidad sexual</vt:lpstr>
      <vt:lpstr>Inmoralidad sexual</vt:lpstr>
      <vt:lpstr>Impureza y sensualidad</vt:lpstr>
      <vt:lpstr>Sensualidad</vt:lpstr>
      <vt:lpstr>Idolatría y hechicería</vt:lpstr>
      <vt:lpstr>Farmakeía</vt:lpstr>
      <vt:lpstr>Hostilidad y contienda</vt:lpstr>
      <vt:lpstr>Celos e iras</vt:lpstr>
      <vt:lpstr>Ambición egoísta</vt:lpstr>
      <vt:lpstr>Disensiones y facciones</vt:lpstr>
      <vt:lpstr>Envidia, borracheras y orgías</vt:lpstr>
      <vt:lpstr>Kómoi</vt:lpstr>
      <vt:lpstr>El fruto del Espíritu</vt:lpstr>
      <vt:lpstr>El fruto del Espíritu</vt:lpstr>
      <vt:lpstr>Énfasis posible en la lista</vt:lpstr>
      <vt:lpstr>Amor</vt:lpstr>
      <vt:lpstr>Gozo</vt:lpstr>
      <vt:lpstr>Paz</vt:lpstr>
      <vt:lpstr>Paciencia</vt:lpstr>
      <vt:lpstr>Benignidad y bondad</vt:lpstr>
      <vt:lpstr>Fidelidad</vt:lpstr>
      <vt:lpstr>Mansedumbre</vt:lpstr>
      <vt:lpstr>Dominio propio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George</dc:creator>
  <cp:lastModifiedBy>Caleb George</cp:lastModifiedBy>
  <cp:revision>1</cp:revision>
  <dcterms:created xsi:type="dcterms:W3CDTF">2026-04-05T02:37:05Z</dcterms:created>
  <dcterms:modified xsi:type="dcterms:W3CDTF">2026-04-05T02:37:05Z</dcterms:modified>
</cp:coreProperties>
</file>