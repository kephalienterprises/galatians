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eb George" userId="116a358f99233603" providerId="LiveId" clId="{B29909DB-D08E-4DD8-956D-08914DB5F79D}"/>
    <pc:docChg chg="modSld">
      <pc:chgData name="Caleb George" userId="116a358f99233603" providerId="LiveId" clId="{B29909DB-D08E-4DD8-956D-08914DB5F79D}" dt="2026-04-05T10:47:09.834" v="142" actId="1076"/>
      <pc:docMkLst>
        <pc:docMk/>
      </pc:docMkLst>
      <pc:sldChg chg="modSp mod">
        <pc:chgData name="Caleb George" userId="116a358f99233603" providerId="LiveId" clId="{B29909DB-D08E-4DD8-956D-08914DB5F79D}" dt="2026-04-05T10:43:22.926" v="123" actId="20577"/>
        <pc:sldMkLst>
          <pc:docMk/>
          <pc:sldMk cId="0" sldId="258"/>
        </pc:sldMkLst>
        <pc:spChg chg="mod">
          <ac:chgData name="Caleb George" userId="116a358f99233603" providerId="LiveId" clId="{B29909DB-D08E-4DD8-956D-08914DB5F79D}" dt="2026-04-05T10:43:22.926" v="123" actId="20577"/>
          <ac:spMkLst>
            <pc:docMk/>
            <pc:sldMk cId="0" sldId="258"/>
            <ac:spMk id="98" creationId="{00000000-0000-0000-0000-000000000000}"/>
          </ac:spMkLst>
        </pc:spChg>
      </pc:sldChg>
      <pc:sldChg chg="modSp mod">
        <pc:chgData name="Caleb George" userId="116a358f99233603" providerId="LiveId" clId="{B29909DB-D08E-4DD8-956D-08914DB5F79D}" dt="2026-04-05T10:47:09.834" v="142" actId="1076"/>
        <pc:sldMkLst>
          <pc:docMk/>
          <pc:sldMk cId="0" sldId="264"/>
        </pc:sldMkLst>
        <pc:spChg chg="mod">
          <ac:chgData name="Caleb George" userId="116a358f99233603" providerId="LiveId" clId="{B29909DB-D08E-4DD8-956D-08914DB5F79D}" dt="2026-04-05T10:46:11.009" v="124" actId="14100"/>
          <ac:spMkLst>
            <pc:docMk/>
            <pc:sldMk cId="0" sldId="264"/>
            <ac:spMk id="242" creationId="{00000000-0000-0000-0000-000000000000}"/>
          </ac:spMkLst>
        </pc:spChg>
        <pc:spChg chg="mod">
          <ac:chgData name="Caleb George" userId="116a358f99233603" providerId="LiveId" clId="{B29909DB-D08E-4DD8-956D-08914DB5F79D}" dt="2026-04-05T10:47:09.834" v="142" actId="1076"/>
          <ac:spMkLst>
            <pc:docMk/>
            <pc:sldMk cId="0" sldId="264"/>
            <ac:spMk id="24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34f2d0fb7_0_52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34f2d0fb7_0_30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34f2d0fb7_0_434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34f2d0fb7_0_891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34f2d0fb7_0_1164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44d7382d1_0_71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44d7382d1_0_209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44d7382d1_0_35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44d7382d1_0_49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44d7382d1_0_691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">
  <p:cSld name="Generated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pn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 descr="A cinematic, high-resolution background showing a dramatic contrast between a dry, cracked desert earth on one side and a lush, vibrant garden with fruit-bearing trees on the other, symbolizing the struggle between flesh and spirit. Soft bokeh eff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14"/>
          <p:cNvGrpSpPr/>
          <p:nvPr/>
        </p:nvGrpSpPr>
        <p:grpSpPr>
          <a:xfrm>
            <a:off x="762000" y="1714500"/>
            <a:ext cx="7620000" cy="2000250"/>
            <a:chOff x="762000" y="1714500"/>
            <a:chExt cx="7620000" cy="2000250"/>
          </a:xfrm>
        </p:grpSpPr>
        <p:sp>
          <p:nvSpPr>
            <p:cNvPr id="56" name="Google Shape;56;p14"/>
            <p:cNvSpPr txBox="1"/>
            <p:nvPr/>
          </p:nvSpPr>
          <p:spPr>
            <a:xfrm>
              <a:off x="762000" y="1714500"/>
              <a:ext cx="762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70" b="1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Las obras de la carne vs. el fruto del Espíritu</a:t>
              </a:r>
              <a:endParaRPr sz="357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pic>
          <p:nvPicPr>
            <p:cNvPr id="57" name="Google Shape;57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619500" y="2952750"/>
              <a:ext cx="19050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4"/>
            <p:cNvSpPr txBox="1"/>
            <p:nvPr/>
          </p:nvSpPr>
          <p:spPr>
            <a:xfrm>
              <a:off x="762000" y="314325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0">
                  <a:solidFill>
                    <a:srgbClr val="E0E0E0"/>
                  </a:solidFill>
                  <a:latin typeface="Georgia"/>
                  <a:ea typeface="Georgia"/>
                  <a:cs typeface="Georgia"/>
                  <a:sym typeface="Georgia"/>
                </a:rPr>
                <a:t>Gálatas 5:19-23</a:t>
              </a:r>
              <a:endParaRPr sz="1800" b="0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Obras de la carne: Pecados Sexuales</a:t>
            </a:r>
            <a:endParaRPr sz="32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0" b="0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5:19</a:t>
            </a:r>
            <a:endParaRPr sz="1530" b="0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571500" y="1524000"/>
            <a:ext cx="2476500" cy="2857500"/>
            <a:chOff x="571500" y="1524000"/>
            <a:chExt cx="2476500" cy="2857500"/>
          </a:xfrm>
        </p:grpSpPr>
        <p:sp>
          <p:nvSpPr>
            <p:cNvPr id="67" name="Google Shape;67;p15"/>
            <p:cNvSpPr/>
            <p:nvPr/>
          </p:nvSpPr>
          <p:spPr>
            <a:xfrm>
              <a:off x="57150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8" name="Google Shape;68;p15"/>
            <p:cNvPicPr preferRelativeResize="0"/>
            <p:nvPr/>
          </p:nvPicPr>
          <p:blipFill rotWithShape="1">
            <a:blip r:embed="rId4">
              <a:alphaModFix/>
            </a:blip>
            <a:srcRect l="2723" r="2732"/>
            <a:stretch/>
          </p:blipFill>
          <p:spPr>
            <a:xfrm>
              <a:off x="57150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69" name="Google Shape;69;p15"/>
            <p:cNvSpPr txBox="1"/>
            <p:nvPr/>
          </p:nvSpPr>
          <p:spPr>
            <a:xfrm>
              <a:off x="7620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3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Inmoralidad sexual</a:t>
              </a:r>
              <a:endParaRPr sz="153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7620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Relaciones sexuales ilícitas e inmorales.</a:t>
              </a:r>
              <a:endParaRPr sz="12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71" name="Google Shape;71;p15"/>
          <p:cNvGrpSpPr/>
          <p:nvPr/>
        </p:nvGrpSpPr>
        <p:grpSpPr>
          <a:xfrm>
            <a:off x="3333750" y="1524000"/>
            <a:ext cx="2476500" cy="2857500"/>
            <a:chOff x="3333750" y="1524000"/>
            <a:chExt cx="2476500" cy="2857500"/>
          </a:xfrm>
        </p:grpSpPr>
        <p:sp>
          <p:nvSpPr>
            <p:cNvPr id="72" name="Google Shape;72;p15"/>
            <p:cNvSpPr/>
            <p:nvPr/>
          </p:nvSpPr>
          <p:spPr>
            <a:xfrm>
              <a:off x="333375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3" name="Google Shape;73;p15"/>
            <p:cNvPicPr preferRelativeResize="0"/>
            <p:nvPr/>
          </p:nvPicPr>
          <p:blipFill rotWithShape="1">
            <a:blip r:embed="rId5">
              <a:alphaModFix/>
            </a:blip>
            <a:srcRect l="2723" r="2732"/>
            <a:stretch/>
          </p:blipFill>
          <p:spPr>
            <a:xfrm>
              <a:off x="333375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74" name="Google Shape;74;p15"/>
            <p:cNvSpPr txBox="1"/>
            <p:nvPr/>
          </p:nvSpPr>
          <p:spPr>
            <a:xfrm>
              <a:off x="352425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3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Impureza</a:t>
              </a:r>
              <a:endParaRPr sz="153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352425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Impureza sexual o libertinaje moral.</a:t>
              </a:r>
              <a:endParaRPr sz="12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6096000" y="1524000"/>
            <a:ext cx="2476500" cy="2857500"/>
            <a:chOff x="6096000" y="1524000"/>
            <a:chExt cx="2476500" cy="2857500"/>
          </a:xfrm>
        </p:grpSpPr>
        <p:sp>
          <p:nvSpPr>
            <p:cNvPr id="77" name="Google Shape;77;p15"/>
            <p:cNvSpPr/>
            <p:nvPr/>
          </p:nvSpPr>
          <p:spPr>
            <a:xfrm>
              <a:off x="609600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8" name="Google Shape;78;p15"/>
            <p:cNvPicPr preferRelativeResize="0"/>
            <p:nvPr/>
          </p:nvPicPr>
          <p:blipFill rotWithShape="1">
            <a:blip r:embed="rId6">
              <a:alphaModFix/>
            </a:blip>
            <a:srcRect l="2723" r="2732"/>
            <a:stretch/>
          </p:blipFill>
          <p:spPr>
            <a:xfrm>
              <a:off x="609600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79" name="Google Shape;79;p15"/>
            <p:cNvSpPr txBox="1"/>
            <p:nvPr/>
          </p:nvSpPr>
          <p:spPr>
            <a:xfrm>
              <a:off x="62865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3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Sensualidad</a:t>
              </a:r>
              <a:endParaRPr sz="153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62865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Amor al pecado tan temerario que ya no importa lo que Dios o los hombres piensen.</a:t>
              </a:r>
              <a:endParaRPr sz="12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81" name="Google Shape;81;p15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"...las cuales son: sexualidad inmoral, impureza, sensualidad..."</a:t>
            </a:r>
            <a:endParaRPr sz="1300" b="0" i="1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6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Obras de la carne: Idolatría y Hechicería</a:t>
            </a:r>
            <a:endParaRPr sz="296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5:20</a:t>
            </a:r>
            <a:endParaRPr sz="1500" b="0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89" name="Google Shape;89;p16"/>
          <p:cNvGrpSpPr/>
          <p:nvPr/>
        </p:nvGrpSpPr>
        <p:grpSpPr>
          <a:xfrm>
            <a:off x="1714500" y="1524000"/>
            <a:ext cx="2476500" cy="2857500"/>
            <a:chOff x="1714500" y="1524000"/>
            <a:chExt cx="2476500" cy="2857500"/>
          </a:xfrm>
        </p:grpSpPr>
        <p:sp>
          <p:nvSpPr>
            <p:cNvPr id="90" name="Google Shape;90;p16"/>
            <p:cNvSpPr/>
            <p:nvPr/>
          </p:nvSpPr>
          <p:spPr>
            <a:xfrm>
              <a:off x="171450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" name="Google Shape;91;p16" descr="A cinematic close-up of a modern-day idol, perhaps a golden statue obscured by shadows, representing covetousness and materialism."/>
            <p:cNvPicPr preferRelativeResize="0"/>
            <p:nvPr/>
          </p:nvPicPr>
          <p:blipFill rotWithShape="1">
            <a:blip r:embed="rId4">
              <a:alphaModFix/>
            </a:blip>
            <a:srcRect l="1248" r="1248"/>
            <a:stretch/>
          </p:blipFill>
          <p:spPr>
            <a:xfrm>
              <a:off x="171450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92" name="Google Shape;92;p16"/>
            <p:cNvSpPr txBox="1"/>
            <p:nvPr/>
          </p:nvSpPr>
          <p:spPr>
            <a:xfrm>
              <a:off x="19050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Idolatría</a:t>
              </a:r>
              <a:endParaRPr sz="15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19050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Adoración de una imagen o del dios representado por ella; también puede verse en la avaricia.</a:t>
              </a:r>
              <a:endParaRPr sz="12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94" name="Google Shape;94;p16"/>
          <p:cNvGrpSpPr/>
          <p:nvPr/>
        </p:nvGrpSpPr>
        <p:grpSpPr>
          <a:xfrm>
            <a:off x="4953000" y="1524000"/>
            <a:ext cx="2476500" cy="2857500"/>
            <a:chOff x="4953000" y="1524000"/>
            <a:chExt cx="2476500" cy="2857500"/>
          </a:xfrm>
        </p:grpSpPr>
        <p:sp>
          <p:nvSpPr>
            <p:cNvPr id="95" name="Google Shape;95;p16"/>
            <p:cNvSpPr/>
            <p:nvPr/>
          </p:nvSpPr>
          <p:spPr>
            <a:xfrm>
              <a:off x="495300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16" descr="A mystical, dark atmosphere with swirling smoke and glowing embers, suggesting sorcery and occult practices."/>
            <p:cNvPicPr preferRelativeResize="0"/>
            <p:nvPr/>
          </p:nvPicPr>
          <p:blipFill rotWithShape="1">
            <a:blip r:embed="rId5">
              <a:alphaModFix/>
            </a:blip>
            <a:srcRect l="1248" r="1248"/>
            <a:stretch/>
          </p:blipFill>
          <p:spPr>
            <a:xfrm>
              <a:off x="495300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97" name="Google Shape;97;p16"/>
            <p:cNvSpPr txBox="1"/>
            <p:nvPr/>
          </p:nvSpPr>
          <p:spPr>
            <a:xfrm>
              <a:off x="51435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Hechicería</a:t>
              </a:r>
              <a:endParaRPr sz="15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51435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dirty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Uso de drogas para envenenar, o manipular.</a:t>
              </a:r>
              <a:endParaRPr sz="1200" b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99" name="Google Shape;99;p16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"...idolatría, hechicería..."</a:t>
            </a:r>
            <a:endParaRPr sz="1300" b="0" i="1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6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Obras de la carne: Conflictos y Divisiones</a:t>
            </a:r>
            <a:endParaRPr sz="296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5:20</a:t>
            </a:r>
            <a:endParaRPr sz="1500" b="0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06" name="Google Shape;106;p17"/>
          <p:cNvGrpSpPr/>
          <p:nvPr/>
        </p:nvGrpSpPr>
        <p:grpSpPr>
          <a:xfrm>
            <a:off x="571500" y="1524000"/>
            <a:ext cx="1905000" cy="2857500"/>
            <a:chOff x="571500" y="1524000"/>
            <a:chExt cx="1905000" cy="2857500"/>
          </a:xfrm>
        </p:grpSpPr>
        <p:sp>
          <p:nvSpPr>
            <p:cNvPr id="107" name="Google Shape;107;p17"/>
            <p:cNvSpPr/>
            <p:nvPr/>
          </p:nvSpPr>
          <p:spPr>
            <a:xfrm>
              <a:off x="571500" y="1524000"/>
              <a:ext cx="1905000" cy="2857500"/>
            </a:xfrm>
            <a:prstGeom prst="roundRect">
              <a:avLst>
                <a:gd name="adj" fmla="val 5000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8" name="Google Shape;108;p17" descr="A cinematic dark image representing enmity and deep-seated hatred between two shadowed figures in a cold atmosphere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524000"/>
              <a:ext cx="19050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09" name="Google Shape;109;p17"/>
            <p:cNvSpPr txBox="1"/>
            <p:nvPr/>
          </p:nvSpPr>
          <p:spPr>
            <a:xfrm>
              <a:off x="6667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Enemistades: hostilidad y odio.</a:t>
              </a:r>
              <a:endParaRPr sz="15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10" name="Google Shape;110;p17"/>
          <p:cNvGrpSpPr/>
          <p:nvPr/>
        </p:nvGrpSpPr>
        <p:grpSpPr>
          <a:xfrm>
            <a:off x="2667000" y="1524000"/>
            <a:ext cx="1905000" cy="2857500"/>
            <a:chOff x="2667000" y="1524000"/>
            <a:chExt cx="1905000" cy="2857500"/>
          </a:xfrm>
        </p:grpSpPr>
        <p:sp>
          <p:nvSpPr>
            <p:cNvPr id="111" name="Google Shape;111;p17"/>
            <p:cNvSpPr/>
            <p:nvPr/>
          </p:nvSpPr>
          <p:spPr>
            <a:xfrm>
              <a:off x="2667000" y="1524000"/>
              <a:ext cx="1905000" cy="2857500"/>
            </a:xfrm>
            <a:prstGeom prst="roundRect">
              <a:avLst>
                <a:gd name="adj" fmla="val 5000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2" name="Google Shape;112;p17" descr="An abstract cinematic visual of clashing red and orange sparks and broken glass representing strife and contention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667000" y="1524000"/>
              <a:ext cx="19050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13" name="Google Shape;113;p17"/>
            <p:cNvSpPr txBox="1"/>
            <p:nvPr/>
          </p:nvSpPr>
          <p:spPr>
            <a:xfrm>
              <a:off x="27622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Pleitos: discordia y contienda.</a:t>
              </a:r>
              <a:endParaRPr sz="15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14" name="Google Shape;114;p17"/>
          <p:cNvGrpSpPr/>
          <p:nvPr/>
        </p:nvGrpSpPr>
        <p:grpSpPr>
          <a:xfrm>
            <a:off x="4762500" y="1524000"/>
            <a:ext cx="1905000" cy="2857500"/>
            <a:chOff x="4762500" y="1524000"/>
            <a:chExt cx="1905000" cy="2857500"/>
          </a:xfrm>
        </p:grpSpPr>
        <p:sp>
          <p:nvSpPr>
            <p:cNvPr id="115" name="Google Shape;115;p17"/>
            <p:cNvSpPr/>
            <p:nvPr/>
          </p:nvSpPr>
          <p:spPr>
            <a:xfrm>
              <a:off x="4762500" y="1524000"/>
              <a:ext cx="1905000" cy="2857500"/>
            </a:xfrm>
            <a:prstGeom prst="roundRect">
              <a:avLst>
                <a:gd name="adj" fmla="val 5000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6" name="Google Shape;116;p17" descr="A green-tinted glowing eye emerging from dark abstract smoke, representing deep jealousy and the evil eye of envy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62500" y="1524000"/>
              <a:ext cx="19050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17" name="Google Shape;117;p17"/>
            <p:cNvSpPr txBox="1"/>
            <p:nvPr/>
          </p:nvSpPr>
          <p:spPr>
            <a:xfrm>
              <a:off x="48577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Celos: resentimiento por el bien ajeno.</a:t>
              </a:r>
              <a:endParaRPr sz="15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6858000" y="1524000"/>
            <a:ext cx="1905000" cy="2857500"/>
            <a:chOff x="6858000" y="1524000"/>
            <a:chExt cx="1905000" cy="2857500"/>
          </a:xfrm>
        </p:grpSpPr>
        <p:sp>
          <p:nvSpPr>
            <p:cNvPr id="119" name="Google Shape;119;p17"/>
            <p:cNvSpPr/>
            <p:nvPr/>
          </p:nvSpPr>
          <p:spPr>
            <a:xfrm>
              <a:off x="6858000" y="1524000"/>
              <a:ext cx="1905000" cy="2857500"/>
            </a:xfrm>
            <a:prstGeom prst="roundRect">
              <a:avLst>
                <a:gd name="adj" fmla="val 5000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0" name="Google Shape;120;p17" descr="Cinematic close-up of exploding hot volcanic embers and fire, representing uncontrollable outbursts of anger and rage.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858000" y="1524000"/>
              <a:ext cx="19050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21" name="Google Shape;121;p17"/>
            <p:cNvSpPr txBox="1"/>
            <p:nvPr/>
          </p:nvSpPr>
          <p:spPr>
            <a:xfrm>
              <a:off x="69532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Iras: estallidos de furor.</a:t>
              </a:r>
              <a:endParaRPr sz="15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22" name="Google Shape;122;p17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"...enemistades, pleitos, celos, iras..."</a:t>
            </a:r>
            <a:endParaRPr sz="1300" i="1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Obras de la carne: Más Divisiones</a:t>
            </a:r>
            <a:endParaRPr sz="30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5:20-21</a:t>
            </a:r>
            <a:endParaRPr sz="1500" b="0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30" name="Google Shape;130;p18"/>
          <p:cNvGrpSpPr/>
          <p:nvPr/>
        </p:nvGrpSpPr>
        <p:grpSpPr>
          <a:xfrm>
            <a:off x="571500" y="1524000"/>
            <a:ext cx="1905000" cy="2857500"/>
            <a:chOff x="571500" y="1524000"/>
            <a:chExt cx="1905000" cy="2857500"/>
          </a:xfrm>
        </p:grpSpPr>
        <p:sp>
          <p:nvSpPr>
            <p:cNvPr id="131" name="Google Shape;131;p18"/>
            <p:cNvSpPr/>
            <p:nvPr/>
          </p:nvSpPr>
          <p:spPr>
            <a:xfrm>
              <a:off x="571500" y="1524000"/>
              <a:ext cx="1905000" cy="2857500"/>
            </a:xfrm>
            <a:prstGeom prst="roundRect">
              <a:avLst>
                <a:gd name="adj" fmla="val 5000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2" name="Google Shape;132;p18"/>
            <p:cNvPicPr preferRelativeResize="0"/>
            <p:nvPr/>
          </p:nvPicPr>
          <p:blipFill rotWithShape="1">
            <a:blip r:embed="rId4">
              <a:alphaModFix/>
            </a:blip>
            <a:srcRect l="3332" r="3332"/>
            <a:stretch/>
          </p:blipFill>
          <p:spPr>
            <a:xfrm>
              <a:off x="571500" y="1524000"/>
              <a:ext cx="19050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33" name="Google Shape;133;p18"/>
            <p:cNvSpPr txBox="1"/>
            <p:nvPr/>
          </p:nvSpPr>
          <p:spPr>
            <a:xfrm>
              <a:off x="6667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Ambición egoísta: interés propio y ambición personal.</a:t>
              </a:r>
              <a:endParaRPr sz="14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34" name="Google Shape;134;p18"/>
          <p:cNvGrpSpPr/>
          <p:nvPr/>
        </p:nvGrpSpPr>
        <p:grpSpPr>
          <a:xfrm>
            <a:off x="2667000" y="1524000"/>
            <a:ext cx="1905000" cy="2857500"/>
            <a:chOff x="2667000" y="1524000"/>
            <a:chExt cx="1905000" cy="2857500"/>
          </a:xfrm>
        </p:grpSpPr>
        <p:sp>
          <p:nvSpPr>
            <p:cNvPr id="135" name="Google Shape;135;p18"/>
            <p:cNvSpPr/>
            <p:nvPr/>
          </p:nvSpPr>
          <p:spPr>
            <a:xfrm>
              <a:off x="2667000" y="1524000"/>
              <a:ext cx="1905000" cy="2857500"/>
            </a:xfrm>
            <a:prstGeom prst="roundRect">
              <a:avLst>
                <a:gd name="adj" fmla="val 5000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6" name="Google Shape;136;p18"/>
            <p:cNvPicPr preferRelativeResize="0"/>
            <p:nvPr/>
          </p:nvPicPr>
          <p:blipFill rotWithShape="1">
            <a:blip r:embed="rId5">
              <a:alphaModFix/>
            </a:blip>
            <a:srcRect l="3332" r="3332"/>
            <a:stretch/>
          </p:blipFill>
          <p:spPr>
            <a:xfrm>
              <a:off x="2667000" y="1524000"/>
              <a:ext cx="19050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37" name="Google Shape;137;p18"/>
            <p:cNvSpPr txBox="1"/>
            <p:nvPr/>
          </p:nvSpPr>
          <p:spPr>
            <a:xfrm>
              <a:off x="27622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Disensiones: divisiones y sediciones.</a:t>
              </a:r>
              <a:endParaRPr sz="14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38" name="Google Shape;138;p18"/>
          <p:cNvGrpSpPr/>
          <p:nvPr/>
        </p:nvGrpSpPr>
        <p:grpSpPr>
          <a:xfrm>
            <a:off x="4762500" y="1524000"/>
            <a:ext cx="1905000" cy="2857500"/>
            <a:chOff x="4762500" y="1524000"/>
            <a:chExt cx="1905000" cy="2857500"/>
          </a:xfrm>
        </p:grpSpPr>
        <p:sp>
          <p:nvSpPr>
            <p:cNvPr id="139" name="Google Shape;139;p18"/>
            <p:cNvSpPr/>
            <p:nvPr/>
          </p:nvSpPr>
          <p:spPr>
            <a:xfrm>
              <a:off x="4762500" y="1524000"/>
              <a:ext cx="1905000" cy="2857500"/>
            </a:xfrm>
            <a:prstGeom prst="roundRect">
              <a:avLst>
                <a:gd name="adj" fmla="val 5000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" name="Google Shape;140;p18"/>
            <p:cNvPicPr preferRelativeResize="0"/>
            <p:nvPr/>
          </p:nvPicPr>
          <p:blipFill rotWithShape="1">
            <a:blip r:embed="rId6">
              <a:alphaModFix/>
            </a:blip>
            <a:srcRect l="3332" r="3332"/>
            <a:stretch/>
          </p:blipFill>
          <p:spPr>
            <a:xfrm>
              <a:off x="4762500" y="1524000"/>
              <a:ext cx="19050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41" name="Google Shape;141;p18"/>
            <p:cNvSpPr txBox="1"/>
            <p:nvPr/>
          </p:nvSpPr>
          <p:spPr>
            <a:xfrm>
              <a:off x="48577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Facciones: sectas o grupos definidos por opiniones escogidas.</a:t>
              </a:r>
              <a:endParaRPr sz="14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42" name="Google Shape;142;p18"/>
          <p:cNvGrpSpPr/>
          <p:nvPr/>
        </p:nvGrpSpPr>
        <p:grpSpPr>
          <a:xfrm>
            <a:off x="6858000" y="1524000"/>
            <a:ext cx="1905000" cy="2857500"/>
            <a:chOff x="6858000" y="1524000"/>
            <a:chExt cx="1905000" cy="2857500"/>
          </a:xfrm>
        </p:grpSpPr>
        <p:sp>
          <p:nvSpPr>
            <p:cNvPr id="143" name="Google Shape;143;p18"/>
            <p:cNvSpPr/>
            <p:nvPr/>
          </p:nvSpPr>
          <p:spPr>
            <a:xfrm>
              <a:off x="6858000" y="1524000"/>
              <a:ext cx="1905000" cy="2857500"/>
            </a:xfrm>
            <a:prstGeom prst="roundRect">
              <a:avLst>
                <a:gd name="adj" fmla="val 5000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4" name="Google Shape;144;p18"/>
            <p:cNvPicPr preferRelativeResize="0"/>
            <p:nvPr/>
          </p:nvPicPr>
          <p:blipFill rotWithShape="1">
            <a:blip r:embed="rId7">
              <a:alphaModFix/>
            </a:blip>
            <a:srcRect l="3332" r="3332"/>
            <a:stretch/>
          </p:blipFill>
          <p:spPr>
            <a:xfrm>
              <a:off x="6858000" y="1524000"/>
              <a:ext cx="19050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45" name="Google Shape;145;p18"/>
            <p:cNvSpPr txBox="1"/>
            <p:nvPr/>
          </p:nvSpPr>
          <p:spPr>
            <a:xfrm>
              <a:off x="6953250" y="3048000"/>
              <a:ext cx="1714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Envidias: malicia por el bien ajeno.</a:t>
              </a:r>
              <a:endParaRPr sz="14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46" name="Google Shape;146;p18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"...ambición egoísta, disensiones, facciones, envidias..."</a:t>
            </a:r>
            <a:endParaRPr sz="1300" b="0" i="1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Obras de la carne: Vicios y Excesos</a:t>
            </a:r>
            <a:endParaRPr sz="30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5:21</a:t>
            </a:r>
            <a:endParaRPr sz="1500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55" name="Google Shape;155;p19"/>
          <p:cNvGrpSpPr/>
          <p:nvPr/>
        </p:nvGrpSpPr>
        <p:grpSpPr>
          <a:xfrm>
            <a:off x="571500" y="1524000"/>
            <a:ext cx="2476500" cy="2857500"/>
            <a:chOff x="571500" y="1524000"/>
            <a:chExt cx="2476500" cy="2857500"/>
          </a:xfrm>
        </p:grpSpPr>
        <p:sp>
          <p:nvSpPr>
            <p:cNvPr id="156" name="Google Shape;156;p19"/>
            <p:cNvSpPr/>
            <p:nvPr/>
          </p:nvSpPr>
          <p:spPr>
            <a:xfrm>
              <a:off x="57150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7" name="Google Shape;157;p19" descr="Cinematic dark image of a spilled wine glass on a dark table, with blurred city lights in the background, representing drunkenness and loss of control."/>
            <p:cNvPicPr preferRelativeResize="0"/>
            <p:nvPr/>
          </p:nvPicPr>
          <p:blipFill rotWithShape="1">
            <a:blip r:embed="rId4">
              <a:alphaModFix/>
            </a:blip>
            <a:srcRect l="1248" r="1248"/>
            <a:stretch/>
          </p:blipFill>
          <p:spPr>
            <a:xfrm>
              <a:off x="571500" y="152400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9"/>
            <p:cNvSpPr txBox="1"/>
            <p:nvPr/>
          </p:nvSpPr>
          <p:spPr>
            <a:xfrm>
              <a:off x="7620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Borracheras</a:t>
              </a:r>
              <a:endParaRPr sz="15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9" name="Google Shape;159;p19"/>
            <p:cNvSpPr txBox="1"/>
            <p:nvPr/>
          </p:nvSpPr>
          <p:spPr>
            <a:xfrm>
              <a:off x="7620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Embriaguez que nubla el juicio y el control.</a:t>
              </a:r>
              <a:endPara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60" name="Google Shape;160;p19"/>
          <p:cNvGrpSpPr/>
          <p:nvPr/>
        </p:nvGrpSpPr>
        <p:grpSpPr>
          <a:xfrm>
            <a:off x="3333750" y="1524000"/>
            <a:ext cx="2476500" cy="2857500"/>
            <a:chOff x="3333750" y="1524000"/>
            <a:chExt cx="2476500" cy="2857500"/>
          </a:xfrm>
        </p:grpSpPr>
        <p:sp>
          <p:nvSpPr>
            <p:cNvPr id="161" name="Google Shape;161;p19"/>
            <p:cNvSpPr/>
            <p:nvPr/>
          </p:nvSpPr>
          <p:spPr>
            <a:xfrm>
              <a:off x="333375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2" name="Google Shape;162;p19" descr="A dark, abstract cinematic image with neon lights and chaotic shadows, representing wild parties, revelries, and moral decay."/>
            <p:cNvPicPr preferRelativeResize="0"/>
            <p:nvPr/>
          </p:nvPicPr>
          <p:blipFill rotWithShape="1">
            <a:blip r:embed="rId5">
              <a:alphaModFix/>
            </a:blip>
            <a:srcRect l="1248" r="1248"/>
            <a:stretch/>
          </p:blipFill>
          <p:spPr>
            <a:xfrm>
              <a:off x="3333750" y="152400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9"/>
            <p:cNvSpPr txBox="1"/>
            <p:nvPr/>
          </p:nvSpPr>
          <p:spPr>
            <a:xfrm>
              <a:off x="352425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Orgías</a:t>
              </a:r>
              <a:endParaRPr sz="15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352425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Juergas y excesos ligados a la bebida y a fiestas paganas.</a:t>
              </a:r>
              <a:endPara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65" name="Google Shape;165;p19"/>
          <p:cNvGrpSpPr/>
          <p:nvPr/>
        </p:nvGrpSpPr>
        <p:grpSpPr>
          <a:xfrm>
            <a:off x="6096000" y="1524000"/>
            <a:ext cx="2476500" cy="2857500"/>
            <a:chOff x="6096000" y="1524000"/>
            <a:chExt cx="2476500" cy="2857500"/>
          </a:xfrm>
        </p:grpSpPr>
        <p:sp>
          <p:nvSpPr>
            <p:cNvPr id="166" name="Google Shape;166;p19"/>
            <p:cNvSpPr/>
            <p:nvPr/>
          </p:nvSpPr>
          <p:spPr>
            <a:xfrm>
              <a:off x="609600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7" name="Google Shape;167;p19" descr="A moody, dark image of a shadowy figure walking away into a dark alleyway, representing other similar sinful behaviors and a path of corruption."/>
            <p:cNvPicPr preferRelativeResize="0"/>
            <p:nvPr/>
          </p:nvPicPr>
          <p:blipFill rotWithShape="1">
            <a:blip r:embed="rId6">
              <a:alphaModFix/>
            </a:blip>
            <a:srcRect l="1248" r="1248"/>
            <a:stretch/>
          </p:blipFill>
          <p:spPr>
            <a:xfrm>
              <a:off x="6096000" y="152400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9"/>
            <p:cNvSpPr txBox="1"/>
            <p:nvPr/>
          </p:nvSpPr>
          <p:spPr>
            <a:xfrm>
              <a:off x="62865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Cosas semejantes</a:t>
              </a:r>
              <a:endParaRPr sz="15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62865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Otros excesos semejantes a estos.</a:t>
              </a:r>
              <a:endPara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70" name="Google Shape;170;p19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"...borracheras, orgías, y cosas semejantes a estas..."</a:t>
            </a:r>
            <a:endParaRPr sz="1300" i="1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75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Fruto del Espíritu</a:t>
            </a:r>
            <a:endParaRPr sz="2775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5:22</a:t>
            </a:r>
            <a:endParaRPr sz="1500" b="0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571500" y="1524000"/>
            <a:ext cx="2476500" cy="2857500"/>
            <a:chOff x="571500" y="1524000"/>
            <a:chExt cx="2476500" cy="2857500"/>
          </a:xfrm>
        </p:grpSpPr>
        <p:sp>
          <p:nvSpPr>
            <p:cNvPr id="179" name="Google Shape;179;p20"/>
            <p:cNvSpPr/>
            <p:nvPr/>
          </p:nvSpPr>
          <p:spPr>
            <a:xfrm>
              <a:off x="57150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1B5E20"/>
            </a:solidFill>
            <a:ln w="19050" cap="flat" cmpd="sng">
              <a:solidFill>
                <a:srgbClr val="4CAF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0" name="Google Shape;180;p20" descr="Cinematic, warm lighting showing a compassionate gesture of hands holding each other, representing selfless biblical love (Agape)."/>
            <p:cNvPicPr preferRelativeResize="0"/>
            <p:nvPr/>
          </p:nvPicPr>
          <p:blipFill rotWithShape="1">
            <a:blip r:embed="rId4">
              <a:alphaModFix/>
            </a:blip>
            <a:srcRect l="1248" r="1248"/>
            <a:stretch/>
          </p:blipFill>
          <p:spPr>
            <a:xfrm>
              <a:off x="57150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81" name="Google Shape;181;p20"/>
            <p:cNvSpPr txBox="1"/>
            <p:nvPr/>
          </p:nvSpPr>
          <p:spPr>
            <a:xfrm>
              <a:off x="7620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Amor</a:t>
              </a:r>
              <a:endParaRPr sz="1500" b="1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7620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La palabra principal del NT para amor; las demás virtudes brotan de él.</a:t>
              </a:r>
              <a:endParaRPr sz="11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3333750" y="1524000"/>
            <a:ext cx="2476500" cy="2857500"/>
            <a:chOff x="3333750" y="1524000"/>
            <a:chExt cx="2476500" cy="2857500"/>
          </a:xfrm>
        </p:grpSpPr>
        <p:sp>
          <p:nvSpPr>
            <p:cNvPr id="184" name="Google Shape;184;p20"/>
            <p:cNvSpPr/>
            <p:nvPr/>
          </p:nvSpPr>
          <p:spPr>
            <a:xfrm>
              <a:off x="333375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1B5E20"/>
            </a:solidFill>
            <a:ln w="19050" cap="flat" cmpd="sng">
              <a:solidFill>
                <a:srgbClr val="4CAF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5" name="Google Shape;185;p20" descr="Radiant, soft morning light filtering through leaves, suggesting a deep, internal sense of spiritual joy and gratitude."/>
            <p:cNvPicPr preferRelativeResize="0"/>
            <p:nvPr/>
          </p:nvPicPr>
          <p:blipFill rotWithShape="1">
            <a:blip r:embed="rId5">
              <a:alphaModFix/>
            </a:blip>
            <a:srcRect l="1248" r="1248"/>
            <a:stretch/>
          </p:blipFill>
          <p:spPr>
            <a:xfrm>
              <a:off x="333375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86" name="Google Shape;186;p20"/>
            <p:cNvSpPr txBox="1"/>
            <p:nvPr/>
          </p:nvSpPr>
          <p:spPr>
            <a:xfrm>
              <a:off x="352425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Gozo</a:t>
              </a:r>
              <a:endParaRPr sz="1500" b="1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352425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No depende de circunstancias agradables, sino de vivir rectamente con esperanza en Dios.</a:t>
              </a:r>
              <a:endParaRPr sz="11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88" name="Google Shape;188;p20"/>
          <p:cNvGrpSpPr/>
          <p:nvPr/>
        </p:nvGrpSpPr>
        <p:grpSpPr>
          <a:xfrm>
            <a:off x="6096000" y="1524000"/>
            <a:ext cx="2476500" cy="2857500"/>
            <a:chOff x="6096000" y="1524000"/>
            <a:chExt cx="2476500" cy="2857500"/>
          </a:xfrm>
        </p:grpSpPr>
        <p:sp>
          <p:nvSpPr>
            <p:cNvPr id="189" name="Google Shape;189;p20"/>
            <p:cNvSpPr/>
            <p:nvPr/>
          </p:nvSpPr>
          <p:spPr>
            <a:xfrm>
              <a:off x="609600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1B5E20"/>
            </a:solidFill>
            <a:ln w="19050" cap="flat" cmpd="sng">
              <a:solidFill>
                <a:srgbClr val="4CAF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0" name="Google Shape;190;p20" descr="A calm, still lake at sunrise with minimal ripples, representing the peace of God that surpasses all understanding."/>
            <p:cNvPicPr preferRelativeResize="0"/>
            <p:nvPr/>
          </p:nvPicPr>
          <p:blipFill rotWithShape="1">
            <a:blip r:embed="rId6">
              <a:alphaModFix/>
            </a:blip>
            <a:srcRect l="1248" r="1248"/>
            <a:stretch/>
          </p:blipFill>
          <p:spPr>
            <a:xfrm>
              <a:off x="609600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191" name="Google Shape;191;p20"/>
            <p:cNvSpPr txBox="1"/>
            <p:nvPr/>
          </p:nvSpPr>
          <p:spPr>
            <a:xfrm>
              <a:off x="6286500" y="3048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Paz</a:t>
              </a:r>
              <a:endParaRPr sz="1500" b="1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6286500" y="3476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Integridad personal y relaciones sanas; algo de la paz de Dios en la vida del creyente.</a:t>
              </a:r>
              <a:endParaRPr sz="11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93" name="Google Shape;193;p20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"Mas el fruto del Espíritu es amor, gozo, paz..."</a:t>
            </a:r>
            <a:endParaRPr sz="1300" b="0" i="1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Fruto del Espíritu</a:t>
            </a:r>
            <a:endParaRPr sz="28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5:22</a:t>
            </a:r>
            <a:endParaRPr sz="1500" b="0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00" name="Google Shape;200;p21"/>
          <p:cNvGrpSpPr/>
          <p:nvPr/>
        </p:nvGrpSpPr>
        <p:grpSpPr>
          <a:xfrm>
            <a:off x="323850" y="1514475"/>
            <a:ext cx="2019300" cy="2876700"/>
            <a:chOff x="323850" y="1514475"/>
            <a:chExt cx="2019300" cy="2876700"/>
          </a:xfrm>
        </p:grpSpPr>
        <p:pic>
          <p:nvPicPr>
            <p:cNvPr id="201" name="Google Shape;201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23850" y="1514475"/>
              <a:ext cx="2019300" cy="28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1" descr="Cinematic macro shot of a single green sprout pushing through dry, cracked earth under a soft sunset, representing patience and endurance."/>
            <p:cNvPicPr preferRelativeResize="0"/>
            <p:nvPr/>
          </p:nvPicPr>
          <p:blipFill rotWithShape="1">
            <a:blip r:embed="rId5">
              <a:alphaModFix/>
            </a:blip>
            <a:srcRect t="2381" b="2381"/>
            <a:stretch/>
          </p:blipFill>
          <p:spPr>
            <a:xfrm>
              <a:off x="333375" y="1524000"/>
              <a:ext cx="20001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203" name="Google Shape;203;p21"/>
            <p:cNvSpPr txBox="1"/>
            <p:nvPr/>
          </p:nvSpPr>
          <p:spPr>
            <a:xfrm>
              <a:off x="428625" y="30480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Paciencia</a:t>
              </a:r>
              <a:endParaRPr sz="1400" b="1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428625" y="3476625"/>
              <a:ext cx="18096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Firmeza y longanimidad ante provocación o sufrimiento, sin ira ni venganza.</a:t>
              </a:r>
              <a:endParaRPr sz="105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2514600" y="1514475"/>
            <a:ext cx="2019300" cy="2876700"/>
            <a:chOff x="2514600" y="1514475"/>
            <a:chExt cx="2019300" cy="2876700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14600" y="1514475"/>
              <a:ext cx="2019300" cy="28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1" descr="A warm, cinematic image of a person's hand gently helping an elderly hand, bathed in soft, golden morning light, representing kindness."/>
            <p:cNvPicPr preferRelativeResize="0"/>
            <p:nvPr/>
          </p:nvPicPr>
          <p:blipFill rotWithShape="1">
            <a:blip r:embed="rId6">
              <a:alphaModFix/>
            </a:blip>
            <a:srcRect t="2381" b="2381"/>
            <a:stretch/>
          </p:blipFill>
          <p:spPr>
            <a:xfrm>
              <a:off x="2524125" y="1524000"/>
              <a:ext cx="20001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208" name="Google Shape;208;p21"/>
            <p:cNvSpPr txBox="1"/>
            <p:nvPr/>
          </p:nvSpPr>
          <p:spPr>
            <a:xfrm>
              <a:off x="2619375" y="30480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Benignidad</a:t>
              </a:r>
              <a:endParaRPr sz="1400" b="1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2619375" y="3476625"/>
              <a:ext cx="18096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Bondad amable en el trato con otros.</a:t>
              </a:r>
              <a:endParaRPr sz="105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10" name="Google Shape;210;p21"/>
          <p:cNvGrpSpPr/>
          <p:nvPr/>
        </p:nvGrpSpPr>
        <p:grpSpPr>
          <a:xfrm>
            <a:off x="4705350" y="1514475"/>
            <a:ext cx="2019300" cy="2876700"/>
            <a:chOff x="4705350" y="1514475"/>
            <a:chExt cx="2019300" cy="2876700"/>
          </a:xfrm>
        </p:grpSpPr>
        <p:pic>
          <p:nvPicPr>
            <p:cNvPr id="211" name="Google Shape;211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05350" y="1514475"/>
              <a:ext cx="2019300" cy="28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1" descr="A basket of fresh, glowing red apples in a sunlit rustic kitchen, symbolizing the active produce of goodness and generosity."/>
            <p:cNvPicPr preferRelativeResize="0"/>
            <p:nvPr/>
          </p:nvPicPr>
          <p:blipFill rotWithShape="1">
            <a:blip r:embed="rId7">
              <a:alphaModFix/>
            </a:blip>
            <a:srcRect t="2381" b="2381"/>
            <a:stretch/>
          </p:blipFill>
          <p:spPr>
            <a:xfrm>
              <a:off x="4714875" y="1524000"/>
              <a:ext cx="20001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213" name="Google Shape;213;p21"/>
            <p:cNvSpPr txBox="1"/>
            <p:nvPr/>
          </p:nvSpPr>
          <p:spPr>
            <a:xfrm>
              <a:off x="4810125" y="30480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Bondad</a:t>
              </a:r>
              <a:endParaRPr sz="1400" b="1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4810125" y="3476625"/>
              <a:ext cx="18096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Rectitud activa y hacer el bien.</a:t>
              </a:r>
              <a:endParaRPr sz="105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15" name="Google Shape;215;p21"/>
          <p:cNvGrpSpPr/>
          <p:nvPr/>
        </p:nvGrpSpPr>
        <p:grpSpPr>
          <a:xfrm>
            <a:off x="6896100" y="1514475"/>
            <a:ext cx="2019300" cy="2876700"/>
            <a:chOff x="6896100" y="1514475"/>
            <a:chExt cx="2019300" cy="2876700"/>
          </a:xfrm>
        </p:grpSpPr>
        <p:pic>
          <p:nvPicPr>
            <p:cNvPr id="216" name="Google Shape;216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896100" y="1514475"/>
              <a:ext cx="2019300" cy="287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1" descr="A cinematic close-up of a sturdy, ancient anchor resting on a wooden dock against a calm sea, representing faithfulness and stability."/>
            <p:cNvPicPr preferRelativeResize="0"/>
            <p:nvPr/>
          </p:nvPicPr>
          <p:blipFill rotWithShape="1">
            <a:blip r:embed="rId8">
              <a:alphaModFix/>
            </a:blip>
            <a:srcRect t="2381" b="2381"/>
            <a:stretch/>
          </p:blipFill>
          <p:spPr>
            <a:xfrm>
              <a:off x="6905625" y="1524000"/>
              <a:ext cx="20001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218" name="Google Shape;218;p21"/>
            <p:cNvSpPr txBox="1"/>
            <p:nvPr/>
          </p:nvSpPr>
          <p:spPr>
            <a:xfrm>
              <a:off x="7000875" y="30480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Fidelidad</a:t>
              </a:r>
              <a:endParaRPr sz="1400" b="1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9" name="Google Shape;219;p21"/>
            <p:cNvSpPr txBox="1"/>
            <p:nvPr/>
          </p:nvSpPr>
          <p:spPr>
            <a:xfrm>
              <a:off x="7000875" y="3476625"/>
              <a:ext cx="18096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Producida en el creyente por el Dios fiel mediante su Espíritu.</a:t>
              </a:r>
              <a:endParaRPr sz="105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220" name="Google Shape;220;p21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"...paciencia, benignidad, bondad, fe..."</a:t>
            </a:r>
            <a:endParaRPr sz="1300" b="0" i="1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75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Fruto del Espíritu</a:t>
            </a:r>
            <a:endParaRPr sz="2775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Gálatas 5:23</a:t>
            </a:r>
            <a:endParaRPr sz="1500" b="0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28" name="Google Shape;228;p22"/>
          <p:cNvGrpSpPr/>
          <p:nvPr/>
        </p:nvGrpSpPr>
        <p:grpSpPr>
          <a:xfrm>
            <a:off x="571500" y="1524000"/>
            <a:ext cx="2476500" cy="2857500"/>
            <a:chOff x="571500" y="1524000"/>
            <a:chExt cx="2476500" cy="2857500"/>
          </a:xfrm>
        </p:grpSpPr>
        <p:sp>
          <p:nvSpPr>
            <p:cNvPr id="229" name="Google Shape;229;p22"/>
            <p:cNvSpPr/>
            <p:nvPr/>
          </p:nvSpPr>
          <p:spPr>
            <a:xfrm>
              <a:off x="57150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1B5E20"/>
            </a:solidFill>
            <a:ln w="19050" cap="flat" cmpd="sng">
              <a:solidFill>
                <a:srgbClr val="4CAF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0" name="Google Shape;230;p22" descr="A cinematic, soft-focus shot of a person gently petting a small, calm lamb in a sunlit meadow, symbolizing gentleness and meekness."/>
            <p:cNvPicPr preferRelativeResize="0"/>
            <p:nvPr/>
          </p:nvPicPr>
          <p:blipFill rotWithShape="1">
            <a:blip r:embed="rId4">
              <a:alphaModFix/>
            </a:blip>
            <a:srcRect l="1248" r="1248"/>
            <a:stretch/>
          </p:blipFill>
          <p:spPr>
            <a:xfrm>
              <a:off x="57150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231" name="Google Shape;231;p22"/>
            <p:cNvSpPr txBox="1"/>
            <p:nvPr/>
          </p:nvSpPr>
          <p:spPr>
            <a:xfrm>
              <a:off x="762000" y="3048000"/>
              <a:ext cx="2095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Mansedumbre</a:t>
              </a:r>
              <a:endParaRPr sz="1500" b="1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762000" y="3476625"/>
              <a:ext cx="2095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Docilidad, sumisión a la voluntad de Dios y un espíritu no arrogante.</a:t>
              </a:r>
              <a:endParaRPr sz="11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33" name="Google Shape;233;p22"/>
          <p:cNvGrpSpPr/>
          <p:nvPr/>
        </p:nvGrpSpPr>
        <p:grpSpPr>
          <a:xfrm>
            <a:off x="3333750" y="1524000"/>
            <a:ext cx="2476500" cy="2857500"/>
            <a:chOff x="3333750" y="1524000"/>
            <a:chExt cx="2476500" cy="2857500"/>
          </a:xfrm>
        </p:grpSpPr>
        <p:sp>
          <p:nvSpPr>
            <p:cNvPr id="234" name="Google Shape;234;p22"/>
            <p:cNvSpPr/>
            <p:nvPr/>
          </p:nvSpPr>
          <p:spPr>
            <a:xfrm>
              <a:off x="333375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1B5E20"/>
            </a:solidFill>
            <a:ln w="19050" cap="flat" cmpd="sng">
              <a:solidFill>
                <a:srgbClr val="4CAF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5" name="Google Shape;235;p22" descr="A cinematic close-up of a person's hands firmly gripping a steering wheel or a set of reins, representing discipline and self-control in a serene environment."/>
            <p:cNvPicPr preferRelativeResize="0"/>
            <p:nvPr/>
          </p:nvPicPr>
          <p:blipFill rotWithShape="1">
            <a:blip r:embed="rId5">
              <a:alphaModFix/>
            </a:blip>
            <a:srcRect l="1248" r="1248"/>
            <a:stretch/>
          </p:blipFill>
          <p:spPr>
            <a:xfrm>
              <a:off x="333375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236" name="Google Shape;236;p22"/>
            <p:cNvSpPr txBox="1"/>
            <p:nvPr/>
          </p:nvSpPr>
          <p:spPr>
            <a:xfrm>
              <a:off x="3524250" y="3048000"/>
              <a:ext cx="2095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Dominio Propio</a:t>
              </a:r>
              <a:endParaRPr sz="1500" b="1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37" name="Google Shape;237;p22"/>
            <p:cNvSpPr txBox="1"/>
            <p:nvPr/>
          </p:nvSpPr>
          <p:spPr>
            <a:xfrm>
              <a:off x="3524250" y="3476625"/>
              <a:ext cx="2095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Pasiones fuertes mantenidas bajo control; fuerza para resistir la tentación.</a:t>
              </a:r>
              <a:endParaRPr sz="11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238" name="Google Shape;238;p22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r>
              <a:rPr lang="en" sz="130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Mansedumbre, dominio propio;contra tales cosas no hay ley</a:t>
            </a:r>
            <a:r>
              <a:rPr lang="en" sz="1300" b="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."</a:t>
            </a:r>
            <a:endParaRPr sz="1300" b="0" i="1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39" name="Google Shape;239;p22"/>
          <p:cNvGrpSpPr/>
          <p:nvPr/>
        </p:nvGrpSpPr>
        <p:grpSpPr>
          <a:xfrm>
            <a:off x="6096000" y="1524000"/>
            <a:ext cx="2476500" cy="2857500"/>
            <a:chOff x="6096000" y="1524000"/>
            <a:chExt cx="2476500" cy="2857500"/>
          </a:xfrm>
        </p:grpSpPr>
        <p:sp>
          <p:nvSpPr>
            <p:cNvPr id="240" name="Google Shape;240;p22"/>
            <p:cNvSpPr/>
            <p:nvPr/>
          </p:nvSpPr>
          <p:spPr>
            <a:xfrm>
              <a:off x="6096000" y="1524000"/>
              <a:ext cx="2476500" cy="2857500"/>
            </a:xfrm>
            <a:prstGeom prst="roundRect">
              <a:avLst>
                <a:gd name="adj" fmla="val 3846"/>
              </a:avLst>
            </a:prstGeom>
            <a:solidFill>
              <a:srgbClr val="1B5E20"/>
            </a:solidFill>
            <a:ln w="19050" cap="flat" cmpd="sng">
              <a:solidFill>
                <a:srgbClr val="4CAF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1" name="Google Shape;241;p22" descr="A wide cinematic shot of a peaceful valley under a clear blue sky, suggesting the broadness of God's grace and &quot;tales cosas&quot; (such things)."/>
            <p:cNvPicPr preferRelativeResize="0"/>
            <p:nvPr/>
          </p:nvPicPr>
          <p:blipFill rotWithShape="1">
            <a:blip r:embed="rId6">
              <a:alphaModFix/>
            </a:blip>
            <a:srcRect l="1248" r="1248"/>
            <a:stretch/>
          </p:blipFill>
          <p:spPr>
            <a:xfrm>
              <a:off x="6096000" y="1524000"/>
              <a:ext cx="2476500" cy="1428900"/>
            </a:xfrm>
            <a:prstGeom prst="roundRect">
              <a:avLst>
                <a:gd name="adj" fmla="val 6666"/>
              </a:avLst>
            </a:prstGeom>
            <a:noFill/>
            <a:ln>
              <a:noFill/>
            </a:ln>
          </p:spPr>
        </p:pic>
        <p:sp>
          <p:nvSpPr>
            <p:cNvPr id="242" name="Google Shape;242;p22"/>
            <p:cNvSpPr txBox="1"/>
            <p:nvPr/>
          </p:nvSpPr>
          <p:spPr>
            <a:xfrm>
              <a:off x="6286500" y="3619499"/>
              <a:ext cx="2095500" cy="6191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Contra tales cosas no hay ley.</a:t>
              </a:r>
              <a:endParaRPr sz="1100" b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3" name="Google Shape;243;p22"/>
            <p:cNvSpPr txBox="1"/>
            <p:nvPr/>
          </p:nvSpPr>
          <p:spPr>
            <a:xfrm>
              <a:off x="6286500" y="2928938"/>
              <a:ext cx="2095500" cy="61912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 dirty="0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Tales Cosas</a:t>
              </a:r>
              <a:endParaRPr sz="1500" b="1" dirty="0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Conclusión: Una Vida Transformada</a:t>
            </a:r>
            <a:endParaRPr sz="3200"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La decisión final: Sembrar para la Carne o para el Espíritu</a:t>
            </a:r>
            <a:endParaRPr sz="1600" b="0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50" name="Google Shape;250;p23"/>
          <p:cNvGrpSpPr/>
          <p:nvPr/>
        </p:nvGrpSpPr>
        <p:grpSpPr>
          <a:xfrm>
            <a:off x="571500" y="1524000"/>
            <a:ext cx="3905400" cy="2857500"/>
            <a:chOff x="571500" y="1524000"/>
            <a:chExt cx="3905400" cy="2857500"/>
          </a:xfrm>
        </p:grpSpPr>
        <p:sp>
          <p:nvSpPr>
            <p:cNvPr id="251" name="Google Shape;251;p23"/>
            <p:cNvSpPr/>
            <p:nvPr/>
          </p:nvSpPr>
          <p:spPr>
            <a:xfrm>
              <a:off x="571500" y="1524000"/>
              <a:ext cx="3905400" cy="2857500"/>
            </a:xfrm>
            <a:prstGeom prst="roundRect">
              <a:avLst>
                <a:gd name="adj" fmla="val 3333"/>
              </a:avLst>
            </a:prstGeom>
            <a:solidFill>
              <a:srgbClr val="212121"/>
            </a:solidFill>
            <a:ln w="19050" cap="flat" cmpd="sng">
              <a:solidFill>
                <a:srgbClr val="F443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2" name="Google Shape;252;p23" descr="A cinematic, dark image of a barren, cracked desert landscape under a stormy sky, representing the corruption of sowing to the flesh."/>
            <p:cNvPicPr preferRelativeResize="0"/>
            <p:nvPr/>
          </p:nvPicPr>
          <p:blipFill rotWithShape="1">
            <a:blip r:embed="rId4">
              <a:alphaModFix/>
            </a:blip>
            <a:srcRect t="10980" b="-6372"/>
            <a:stretch/>
          </p:blipFill>
          <p:spPr>
            <a:xfrm>
              <a:off x="571500" y="1524000"/>
              <a:ext cx="3905400" cy="2095500"/>
            </a:xfrm>
            <a:prstGeom prst="roundRect">
              <a:avLst>
                <a:gd name="adj" fmla="val 4545"/>
              </a:avLst>
            </a:prstGeom>
            <a:noFill/>
            <a:ln>
              <a:noFill/>
            </a:ln>
          </p:spPr>
        </p:pic>
        <p:sp>
          <p:nvSpPr>
            <p:cNvPr id="253" name="Google Shape;253;p23"/>
            <p:cNvSpPr txBox="1"/>
            <p:nvPr/>
          </p:nvSpPr>
          <p:spPr>
            <a:xfrm>
              <a:off x="762000" y="333375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44336"/>
                  </a:solidFill>
                  <a:latin typeface="Georgia"/>
                  <a:ea typeface="Georgia"/>
                  <a:cs typeface="Georgia"/>
                  <a:sym typeface="Georgia"/>
                </a:rPr>
                <a:t>La Carne: Corrupción</a:t>
              </a:r>
              <a:endParaRPr sz="1800" b="1">
                <a:solidFill>
                  <a:srgbClr val="F4433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762000" y="3762375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El que siembra para su carne, de la carne segará corrupción y no heredará el reino.</a:t>
              </a:r>
              <a:endParaRPr sz="13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55" name="Google Shape;255;p23"/>
          <p:cNvGrpSpPr/>
          <p:nvPr/>
        </p:nvGrpSpPr>
        <p:grpSpPr>
          <a:xfrm>
            <a:off x="4667250" y="1524000"/>
            <a:ext cx="3905400" cy="2857500"/>
            <a:chOff x="4667250" y="1524000"/>
            <a:chExt cx="3905400" cy="2857500"/>
          </a:xfrm>
        </p:grpSpPr>
        <p:sp>
          <p:nvSpPr>
            <p:cNvPr id="256" name="Google Shape;256;p23"/>
            <p:cNvSpPr/>
            <p:nvPr/>
          </p:nvSpPr>
          <p:spPr>
            <a:xfrm>
              <a:off x="4667250" y="1524000"/>
              <a:ext cx="3905400" cy="2857500"/>
            </a:xfrm>
            <a:prstGeom prst="roundRect">
              <a:avLst>
                <a:gd name="adj" fmla="val 3333"/>
              </a:avLst>
            </a:prstGeom>
            <a:solidFill>
              <a:srgbClr val="1B5E20"/>
            </a:solidFill>
            <a:ln w="19050" cap="flat" cmpd="sng">
              <a:solidFill>
                <a:srgbClr val="4CAF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7" name="Google Shape;257;p23" descr="A lush, vibrant forest interior with sunlight streaming through green leaves, representing eternal life and the harvest of the Spirit."/>
            <p:cNvPicPr preferRelativeResize="0"/>
            <p:nvPr/>
          </p:nvPicPr>
          <p:blipFill rotWithShape="1">
            <a:blip r:embed="rId5">
              <a:alphaModFix/>
            </a:blip>
            <a:srcRect t="10980" b="-6372"/>
            <a:stretch/>
          </p:blipFill>
          <p:spPr>
            <a:xfrm>
              <a:off x="4667250" y="1524000"/>
              <a:ext cx="3905400" cy="2095500"/>
            </a:xfrm>
            <a:prstGeom prst="roundRect">
              <a:avLst>
                <a:gd name="adj" fmla="val 4545"/>
              </a:avLst>
            </a:prstGeom>
            <a:noFill/>
            <a:ln>
              <a:noFill/>
            </a:ln>
          </p:spPr>
        </p:pic>
        <p:sp>
          <p:nvSpPr>
            <p:cNvPr id="258" name="Google Shape;258;p23"/>
            <p:cNvSpPr txBox="1"/>
            <p:nvPr/>
          </p:nvSpPr>
          <p:spPr>
            <a:xfrm>
              <a:off x="4857750" y="333375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4CAF50"/>
                  </a:solidFill>
                  <a:latin typeface="Georgia"/>
                  <a:ea typeface="Georgia"/>
                  <a:cs typeface="Georgia"/>
                  <a:sym typeface="Georgia"/>
                </a:rPr>
                <a:t>El Espíritu: Vida Eterna</a:t>
              </a:r>
              <a:endParaRPr sz="1800" b="1">
                <a:solidFill>
                  <a:srgbClr val="4CAF5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59" name="Google Shape;259;p23"/>
            <p:cNvSpPr txBox="1"/>
            <p:nvPr/>
          </p:nvSpPr>
          <p:spPr>
            <a:xfrm>
              <a:off x="4857750" y="3762375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El que siembra para el Espíritu, del Espíritu segará vida eterna si no desmaya.</a:t>
              </a:r>
              <a:endParaRPr sz="130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260" name="Google Shape;260;p23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>
                <a:solidFill>
                  <a:srgbClr val="E0E0E0"/>
                </a:solidFill>
                <a:latin typeface="Georgia"/>
                <a:ea typeface="Georgia"/>
                <a:cs typeface="Georgia"/>
                <a:sym typeface="Georgia"/>
              </a:rPr>
              <a:t>"Si vivimos por el Espíritu, andemos también por el Espíritu." — Gálatas 5:25</a:t>
            </a:r>
            <a:endParaRPr sz="1400" i="1">
              <a:solidFill>
                <a:srgbClr val="E0E0E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Microsoft Office PowerPoint</Application>
  <PresentationFormat>On-screen Show (16:9)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Caleb George</cp:lastModifiedBy>
  <cp:revision>1</cp:revision>
  <dcterms:modified xsi:type="dcterms:W3CDTF">2026-04-05T10:47:50Z</dcterms:modified>
</cp:coreProperties>
</file>