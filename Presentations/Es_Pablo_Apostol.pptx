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embeddedFontLst>
    <p:embeddedFont>
      <p:font typeface="Oswald"/>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d3a14f52f5_0_97:notes"/>
          <p:cNvSpPr txBox="1"/>
          <p:nvPr>
            <p:ph idx="1" type="body"/>
          </p:nvPr>
        </p:nvSpPr>
        <p:spPr>
          <a:xfrm>
            <a:off x="2286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3d3a14f52f5_0_200:notes"/>
          <p:cNvSpPr txBox="1"/>
          <p:nvPr>
            <p:ph idx="1" type="body"/>
          </p:nvPr>
        </p:nvSpPr>
        <p:spPr>
          <a:xfrm>
            <a:off x="2286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3a14f52f5_0_547:notes"/>
          <p:cNvSpPr txBox="1"/>
          <p:nvPr>
            <p:ph idx="1" type="body"/>
          </p:nvPr>
        </p:nvSpPr>
        <p:spPr>
          <a:xfrm>
            <a:off x="2286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3a14f52f5_0_3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d3a14f52f5_0_3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d3a14f52f5_0_3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3a14f52f5_0_4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d3a14f52f5_0_4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g3d3a14f52f5_0_4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3a14f52f5_0_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d3a14f52f5_0_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d3a14f52f5_0_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3a14f52f5_0_4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d3a14f52f5_0_4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d3a14f52f5_0_4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3a14f52f5_0_4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d3a14f52f5_0_4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3a14f52f5_0_4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3a14f52f5_0_575:notes"/>
          <p:cNvSpPr txBox="1"/>
          <p:nvPr>
            <p:ph idx="1" type="body"/>
          </p:nvPr>
        </p:nvSpPr>
        <p:spPr>
          <a:xfrm>
            <a:off x="2286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3a14f52f5_0_7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d3a14f52f5_0_7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d3a14f52f5_0_7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ffe6c3ed4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cffe6c3ed4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cffe6c3ed4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d3a14f52f5_0_1011:notes"/>
          <p:cNvSpPr txBox="1"/>
          <p:nvPr>
            <p:ph idx="1" type="body"/>
          </p:nvPr>
        </p:nvSpPr>
        <p:spPr>
          <a:xfrm>
            <a:off x="2286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p:cSld name="Generated">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6.jpg"/><Relationship Id="rId6" Type="http://schemas.openxmlformats.org/officeDocument/2006/relationships/image" Target="../media/image15.jpg"/><Relationship Id="rId7"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jpg"/><Relationship Id="rId5" Type="http://schemas.openxmlformats.org/officeDocument/2006/relationships/image" Target="../media/image29.jpg"/><Relationship Id="rId6"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3.jpg"/><Relationship Id="rId5" Type="http://schemas.openxmlformats.org/officeDocument/2006/relationships/image" Target="../media/image28.jpg"/><Relationship Id="rId6" Type="http://schemas.openxmlformats.org/officeDocument/2006/relationships/image" Target="../media/image3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4.jpg"/><Relationship Id="rId5" Type="http://schemas.openxmlformats.org/officeDocument/2006/relationships/image" Target="../media/image26.jpg"/><Relationship Id="rId6" Type="http://schemas.openxmlformats.org/officeDocument/2006/relationships/image" Target="../media/image30.jpg"/><Relationship Id="rId7" Type="http://schemas.openxmlformats.org/officeDocument/2006/relationships/image" Target="../media/image3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5.jpg"/><Relationship Id="rId5" Type="http://schemas.openxmlformats.org/officeDocument/2006/relationships/image" Target="../media/image27.jpg"/><Relationship Id="rId6"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 name="Shape 16"/>
        <p:cNvGrpSpPr/>
        <p:nvPr/>
      </p:nvGrpSpPr>
      <p:grpSpPr>
        <a:xfrm>
          <a:off x="0" y="0"/>
          <a:ext cx="0" cy="0"/>
          <a:chOff x="0" y="0"/>
          <a:chExt cx="0" cy="0"/>
        </a:xfrm>
      </p:grpSpPr>
      <p:sp>
        <p:nvSpPr>
          <p:cNvPr id="17" name="Google Shape;17;p4"/>
          <p:cNvSpPr/>
          <p:nvPr/>
        </p:nvSpPr>
        <p:spPr>
          <a:xfrm>
            <a:off x="0" y="0"/>
            <a:ext cx="12192000" cy="11430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 name="Google Shape;18;p4"/>
          <p:cNvGrpSpPr/>
          <p:nvPr/>
        </p:nvGrpSpPr>
        <p:grpSpPr>
          <a:xfrm>
            <a:off x="571500" y="0"/>
            <a:ext cx="11049000" cy="1143000"/>
            <a:chOff x="571500" y="0"/>
            <a:chExt cx="11049000" cy="1143000"/>
          </a:xfrm>
        </p:grpSpPr>
        <p:sp>
          <p:nvSpPr>
            <p:cNvPr id="19" name="Google Shape;19;p4"/>
            <p:cNvSpPr txBox="1"/>
            <p:nvPr/>
          </p:nvSpPr>
          <p:spPr>
            <a:xfrm>
              <a:off x="571500" y="0"/>
              <a:ext cx="7620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Gálatas: La Verdad del Evangelio</a:t>
              </a:r>
              <a:endParaRPr b="1" sz="3200">
                <a:solidFill>
                  <a:srgbClr val="FFFFFF"/>
                </a:solidFill>
                <a:latin typeface="Oswald"/>
                <a:ea typeface="Oswald"/>
                <a:cs typeface="Oswald"/>
                <a:sym typeface="Oswald"/>
              </a:endParaRPr>
            </a:p>
          </p:txBody>
        </p:sp>
        <p:sp>
          <p:nvSpPr>
            <p:cNvPr id="20" name="Google Shape;20;p4"/>
            <p:cNvSpPr/>
            <p:nvPr/>
          </p:nvSpPr>
          <p:spPr>
            <a:xfrm>
              <a:off x="9715500" y="333375"/>
              <a:ext cx="1905000" cy="476400"/>
            </a:xfrm>
            <a:prstGeom prst="roundRect">
              <a:avLst>
                <a:gd fmla="val 50000" name="adj"/>
              </a:avLst>
            </a:prstGeom>
            <a:solidFill>
              <a:srgbClr val="ED1C2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 name="Google Shape;21;p4"/>
            <p:cNvSpPr txBox="1"/>
            <p:nvPr/>
          </p:nvSpPr>
          <p:spPr>
            <a:xfrm>
              <a:off x="9715500" y="333375"/>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FFFFFF"/>
                  </a:solidFill>
                  <a:latin typeface="Oswald"/>
                  <a:ea typeface="Oswald"/>
                  <a:cs typeface="Oswald"/>
                  <a:sym typeface="Oswald"/>
                </a:rPr>
                <a:t>Lección 1</a:t>
              </a:r>
              <a:endParaRPr b="1" sz="1800">
                <a:solidFill>
                  <a:srgbClr val="FFFFFF"/>
                </a:solidFill>
                <a:latin typeface="Oswald"/>
                <a:ea typeface="Oswald"/>
                <a:cs typeface="Oswald"/>
                <a:sym typeface="Oswald"/>
              </a:endParaRPr>
            </a:p>
          </p:txBody>
        </p:sp>
      </p:grpSp>
      <p:grpSp>
        <p:nvGrpSpPr>
          <p:cNvPr id="22" name="Google Shape;22;p4"/>
          <p:cNvGrpSpPr/>
          <p:nvPr/>
        </p:nvGrpSpPr>
        <p:grpSpPr>
          <a:xfrm>
            <a:off x="571500" y="1714500"/>
            <a:ext cx="11049000" cy="4572000"/>
            <a:chOff x="571500" y="1714500"/>
            <a:chExt cx="11049000" cy="4572000"/>
          </a:xfrm>
        </p:grpSpPr>
        <p:sp>
          <p:nvSpPr>
            <p:cNvPr id="23" name="Google Shape;23;p4"/>
            <p:cNvSpPr/>
            <p:nvPr/>
          </p:nvSpPr>
          <p:spPr>
            <a:xfrm>
              <a:off x="571500" y="1714500"/>
              <a:ext cx="11049000" cy="4572000"/>
            </a:xfrm>
            <a:prstGeom prst="roundRect">
              <a:avLst>
                <a:gd fmla="val 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4" name="Google Shape;24;p4"/>
            <p:cNvCxnSpPr/>
            <p:nvPr/>
          </p:nvCxnSpPr>
          <p:spPr>
            <a:xfrm>
              <a:off x="5810250" y="2000250"/>
              <a:ext cx="0" cy="40005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5" name="Google Shape;25;p4"/>
            <p:cNvSpPr txBox="1"/>
            <p:nvPr/>
          </p:nvSpPr>
          <p:spPr>
            <a:xfrm>
              <a:off x="952500" y="2000250"/>
              <a:ext cx="4572000" cy="400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6400">
                  <a:solidFill>
                    <a:srgbClr val="1E293B"/>
                  </a:solidFill>
                  <a:latin typeface="Oswald"/>
                  <a:ea typeface="Oswald"/>
                  <a:cs typeface="Oswald"/>
                  <a:sym typeface="Oswald"/>
                </a:rPr>
                <a:t>¿Es Pablo</a:t>
              </a:r>
              <a:endParaRPr b="1" sz="6400">
                <a:solidFill>
                  <a:srgbClr val="1E293B"/>
                </a:solidFill>
                <a:latin typeface="Oswald"/>
                <a:ea typeface="Oswald"/>
                <a:cs typeface="Oswald"/>
                <a:sym typeface="Oswald"/>
              </a:endParaRPr>
            </a:p>
            <a:p>
              <a:pPr indent="0" lvl="0" marL="0" rtl="0" algn="l">
                <a:spcBef>
                  <a:spcPts val="0"/>
                </a:spcBef>
                <a:spcAft>
                  <a:spcPts val="0"/>
                </a:spcAft>
                <a:buNone/>
              </a:pPr>
              <a:r>
                <a:rPr b="1" lang="en-US" sz="6400">
                  <a:solidFill>
                    <a:srgbClr val="ED1C24"/>
                  </a:solidFill>
                  <a:latin typeface="Oswald"/>
                  <a:ea typeface="Oswald"/>
                  <a:cs typeface="Oswald"/>
                  <a:sym typeface="Oswald"/>
                </a:rPr>
                <a:t>realmente</a:t>
              </a:r>
              <a:endParaRPr b="1" sz="6400">
                <a:solidFill>
                  <a:srgbClr val="ED1C24"/>
                </a:solidFill>
                <a:latin typeface="Oswald"/>
                <a:ea typeface="Oswald"/>
                <a:cs typeface="Oswald"/>
                <a:sym typeface="Oswald"/>
              </a:endParaRPr>
            </a:p>
            <a:p>
              <a:pPr indent="0" lvl="0" marL="0" rtl="0" algn="l">
                <a:spcBef>
                  <a:spcPts val="0"/>
                </a:spcBef>
                <a:spcAft>
                  <a:spcPts val="0"/>
                </a:spcAft>
                <a:buNone/>
              </a:pPr>
              <a:r>
                <a:rPr b="1" lang="en-US" sz="6400">
                  <a:solidFill>
                    <a:srgbClr val="1E293B"/>
                  </a:solidFill>
                  <a:latin typeface="Oswald"/>
                  <a:ea typeface="Oswald"/>
                  <a:cs typeface="Oswald"/>
                  <a:sym typeface="Oswald"/>
                </a:rPr>
                <a:t>apóstol?</a:t>
              </a:r>
              <a:endParaRPr b="1" sz="6400">
                <a:solidFill>
                  <a:srgbClr val="1E293B"/>
                </a:solidFill>
                <a:latin typeface="Oswald"/>
                <a:ea typeface="Oswald"/>
                <a:cs typeface="Oswald"/>
                <a:sym typeface="Oswald"/>
              </a:endParaRPr>
            </a:p>
          </p:txBody>
        </p:sp>
        <p:pic>
          <p:nvPicPr>
            <p:cNvPr id="26" name="Google Shape;26;p4"/>
            <p:cNvPicPr preferRelativeResize="0"/>
            <p:nvPr/>
          </p:nvPicPr>
          <p:blipFill rotWithShape="1">
            <a:blip r:embed="rId4">
              <a:alphaModFix/>
            </a:blip>
            <a:srcRect b="4221" l="0" r="0" t="4212"/>
            <a:stretch/>
          </p:blipFill>
          <p:spPr>
            <a:xfrm>
              <a:off x="6096000" y="2000250"/>
              <a:ext cx="5238900" cy="4000500"/>
            </a:xfrm>
            <a:prstGeom prst="roundRect">
              <a:avLst>
                <a:gd fmla="val 1904" name="adj"/>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 name="Shape 29"/>
        <p:cNvGrpSpPr/>
        <p:nvPr/>
      </p:nvGrpSpPr>
      <p:grpSpPr>
        <a:xfrm>
          <a:off x="0" y="0"/>
          <a:ext cx="0" cy="0"/>
          <a:chOff x="0" y="0"/>
          <a:chExt cx="0" cy="0"/>
        </a:xfrm>
      </p:grpSpPr>
      <p:sp>
        <p:nvSpPr>
          <p:cNvPr id="30" name="Google Shape;30;p5"/>
          <p:cNvSpPr/>
          <p:nvPr/>
        </p:nvSpPr>
        <p:spPr>
          <a:xfrm>
            <a:off x="0" y="0"/>
            <a:ext cx="9144000" cy="5143500"/>
          </a:xfrm>
          <a:prstGeom prst="rect">
            <a:avLst/>
          </a:prstGeom>
          <a:solidFill>
            <a:srgbClr val="F5F7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1" name="Google Shape;31;p5"/>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id="32" name="Google Shape;32;p5"/>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3" name="Google Shape;33;p5"/>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 name="Google Shape;34;p5"/>
          <p:cNvSpPr txBox="1"/>
          <p:nvPr/>
        </p:nvSpPr>
        <p:spPr>
          <a:xfrm>
            <a:off x="381000" y="0"/>
            <a:ext cx="11430000" cy="9525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Ejemplos de calumnia contra Pablo (Nuevo Testamento)</a:t>
            </a:r>
            <a:endParaRPr b="1" sz="3200">
              <a:solidFill>
                <a:srgbClr val="FFFFFF"/>
              </a:solidFill>
              <a:latin typeface="Oswald"/>
              <a:ea typeface="Oswald"/>
              <a:cs typeface="Oswald"/>
              <a:sym typeface="Oswald"/>
            </a:endParaRPr>
          </a:p>
        </p:txBody>
      </p:sp>
      <p:pic>
        <p:nvPicPr>
          <p:cNvPr id="35" name="Google Shape;35;p5"/>
          <p:cNvPicPr preferRelativeResize="0"/>
          <p:nvPr/>
        </p:nvPicPr>
        <p:blipFill rotWithShape="1">
          <a:blip r:embed="rId5">
            <a:alphaModFix/>
          </a:blip>
          <a:srcRect b="0" l="0" r="0" t="0"/>
          <a:stretch/>
        </p:blipFill>
        <p:spPr>
          <a:xfrm>
            <a:off x="571500" y="2095500"/>
            <a:ext cx="3048000" cy="3048000"/>
          </a:xfrm>
          <a:prstGeom prst="rect">
            <a:avLst/>
          </a:prstGeom>
          <a:noFill/>
          <a:ln>
            <a:noFill/>
          </a:ln>
        </p:spPr>
      </p:pic>
      <p:pic>
        <p:nvPicPr>
          <p:cNvPr id="36" name="Google Shape;36;p5"/>
          <p:cNvPicPr preferRelativeResize="0"/>
          <p:nvPr/>
        </p:nvPicPr>
        <p:blipFill rotWithShape="1">
          <a:blip r:embed="rId6">
            <a:alphaModFix/>
          </a:blip>
          <a:srcRect b="0" l="0" r="0" t="0"/>
          <a:stretch/>
        </p:blipFill>
        <p:spPr>
          <a:xfrm>
            <a:off x="4095750" y="1524000"/>
            <a:ext cx="4000500" cy="4000500"/>
          </a:xfrm>
          <a:prstGeom prst="rect">
            <a:avLst/>
          </a:prstGeom>
          <a:noFill/>
          <a:ln>
            <a:noFill/>
          </a:ln>
        </p:spPr>
      </p:pic>
      <p:pic>
        <p:nvPicPr>
          <p:cNvPr id="37" name="Google Shape;37;p5"/>
          <p:cNvPicPr preferRelativeResize="0"/>
          <p:nvPr/>
        </p:nvPicPr>
        <p:blipFill rotWithShape="1">
          <a:blip r:embed="rId7">
            <a:alphaModFix/>
          </a:blip>
          <a:srcRect b="0" l="0" r="0" t="0"/>
          <a:stretch/>
        </p:blipFill>
        <p:spPr>
          <a:xfrm>
            <a:off x="8382000" y="2476500"/>
            <a:ext cx="3429000" cy="3429000"/>
          </a:xfrm>
          <a:prstGeom prst="rect">
            <a:avLst/>
          </a:prstGeom>
          <a:noFill/>
          <a:ln>
            <a:noFill/>
          </a:ln>
        </p:spPr>
      </p:pic>
      <p:sp>
        <p:nvSpPr>
          <p:cNvPr id="38" name="Google Shape;38;p5"/>
          <p:cNvSpPr/>
          <p:nvPr/>
        </p:nvSpPr>
        <p:spPr>
          <a:xfrm>
            <a:off x="285750" y="1000125"/>
            <a:ext cx="3048000" cy="1143000"/>
          </a:xfrm>
          <a:prstGeom prst="roundRect">
            <a:avLst>
              <a:gd fmla="val 12500" name="adj"/>
            </a:avLst>
          </a:prstGeom>
          <a:solidFill>
            <a:srgbClr val="FFFFFF"/>
          </a:solidFill>
          <a:ln cap="flat" cmpd="sng" w="285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 name="Google Shape;39;p5"/>
          <p:cNvSpPr txBox="1"/>
          <p:nvPr/>
        </p:nvSpPr>
        <p:spPr>
          <a:xfrm>
            <a:off x="285750" y="1000125"/>
            <a:ext cx="3048000" cy="1143000"/>
          </a:xfrm>
          <a:prstGeom prst="rect">
            <a:avLst/>
          </a:prstGeom>
          <a:solidFill>
            <a:srgbClr val="000000">
              <a:alpha val="0"/>
            </a:srgbClr>
          </a:solid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500">
                <a:solidFill>
                  <a:srgbClr val="ED1C24"/>
                </a:solidFill>
                <a:latin typeface="Calibri"/>
                <a:ea typeface="Calibri"/>
                <a:cs typeface="Calibri"/>
                <a:sym typeface="Calibri"/>
              </a:rPr>
              <a:t>Hch 18:13:</a:t>
            </a:r>
            <a:r>
              <a:rPr b="0" lang="en-US" sz="1500">
                <a:solidFill>
                  <a:srgbClr val="1A1A1A"/>
                </a:solidFill>
                <a:latin typeface="Calibri"/>
                <a:ea typeface="Calibri"/>
                <a:cs typeface="Calibri"/>
                <a:sym typeface="Calibri"/>
              </a:rPr>
              <a:t> "Persuade a los hombres a adorar a Dios de forma contraria a la ley."</a:t>
            </a:r>
            <a:endParaRPr b="1" sz="1500">
              <a:solidFill>
                <a:srgbClr val="ED1C24"/>
              </a:solidFill>
              <a:latin typeface="Calibri"/>
              <a:ea typeface="Calibri"/>
              <a:cs typeface="Calibri"/>
              <a:sym typeface="Calibri"/>
            </a:endParaRPr>
          </a:p>
        </p:txBody>
      </p:sp>
      <p:sp>
        <p:nvSpPr>
          <p:cNvPr id="40" name="Google Shape;40;p5"/>
          <p:cNvSpPr/>
          <p:nvPr/>
        </p:nvSpPr>
        <p:spPr>
          <a:xfrm>
            <a:off x="4572000" y="5334000"/>
            <a:ext cx="3048000" cy="1238400"/>
          </a:xfrm>
          <a:prstGeom prst="roundRect">
            <a:avLst>
              <a:gd fmla="val 11537" name="adj"/>
            </a:avLst>
          </a:prstGeom>
          <a:solidFill>
            <a:srgbClr val="FFFFFF"/>
          </a:solidFill>
          <a:ln cap="flat" cmpd="sng" w="285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 name="Google Shape;41;p5"/>
          <p:cNvSpPr txBox="1"/>
          <p:nvPr/>
        </p:nvSpPr>
        <p:spPr>
          <a:xfrm>
            <a:off x="4572000" y="5334000"/>
            <a:ext cx="3048000" cy="1238400"/>
          </a:xfrm>
          <a:prstGeom prst="rect">
            <a:avLst/>
          </a:prstGeom>
          <a:solidFill>
            <a:srgbClr val="000000">
              <a:alpha val="0"/>
            </a:srgbClr>
          </a:solid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500">
                <a:solidFill>
                  <a:srgbClr val="ED1C24"/>
                </a:solidFill>
                <a:latin typeface="Calibri"/>
                <a:ea typeface="Calibri"/>
                <a:cs typeface="Calibri"/>
                <a:sym typeface="Calibri"/>
              </a:rPr>
              <a:t>Hch 21:21:</a:t>
            </a:r>
            <a:r>
              <a:rPr b="0" lang="en-US" sz="1500">
                <a:solidFill>
                  <a:srgbClr val="1A1A1A"/>
                </a:solidFill>
                <a:latin typeface="Calibri"/>
                <a:ea typeface="Calibri"/>
                <a:cs typeface="Calibri"/>
                <a:sym typeface="Calibri"/>
              </a:rPr>
              <a:t> "Enseñas a apartarse de Moisés y a no observar las tradiciones."</a:t>
            </a:r>
            <a:endParaRPr b="1" sz="1500">
              <a:solidFill>
                <a:srgbClr val="ED1C24"/>
              </a:solidFill>
              <a:latin typeface="Calibri"/>
              <a:ea typeface="Calibri"/>
              <a:cs typeface="Calibri"/>
              <a:sym typeface="Calibri"/>
            </a:endParaRPr>
          </a:p>
        </p:txBody>
      </p:sp>
      <p:sp>
        <p:nvSpPr>
          <p:cNvPr id="42" name="Google Shape;42;p5"/>
          <p:cNvSpPr/>
          <p:nvPr/>
        </p:nvSpPr>
        <p:spPr>
          <a:xfrm>
            <a:off x="8382000" y="1095375"/>
            <a:ext cx="3429000" cy="1428900"/>
          </a:xfrm>
          <a:prstGeom prst="roundRect">
            <a:avLst>
              <a:gd fmla="val 13332" name="adj"/>
            </a:avLst>
          </a:prstGeom>
          <a:solidFill>
            <a:srgbClr val="FFFFFF"/>
          </a:solidFill>
          <a:ln cap="flat" cmpd="sng" w="285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 name="Google Shape;43;p5"/>
          <p:cNvSpPr txBox="1"/>
          <p:nvPr/>
        </p:nvSpPr>
        <p:spPr>
          <a:xfrm>
            <a:off x="8382000" y="1095375"/>
            <a:ext cx="3429000" cy="1428900"/>
          </a:xfrm>
          <a:prstGeom prst="rect">
            <a:avLst/>
          </a:prstGeom>
          <a:solidFill>
            <a:srgbClr val="000000">
              <a:alpha val="0"/>
            </a:srgbClr>
          </a:solid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800">
                <a:solidFill>
                  <a:srgbClr val="ED1C24"/>
                </a:solidFill>
                <a:latin typeface="Calibri"/>
                <a:ea typeface="Calibri"/>
                <a:cs typeface="Calibri"/>
                <a:sym typeface="Calibri"/>
              </a:rPr>
              <a:t>Hch 24:5:</a:t>
            </a:r>
            <a:r>
              <a:rPr b="0" lang="en-US" sz="1800">
                <a:solidFill>
                  <a:srgbClr val="1A1A1A"/>
                </a:solidFill>
                <a:latin typeface="Calibri"/>
                <a:ea typeface="Calibri"/>
                <a:cs typeface="Calibri"/>
                <a:sym typeface="Calibri"/>
              </a:rPr>
              <a:t> "Este hombre es una plaga y líder de la secta de los nazarenos."</a:t>
            </a:r>
            <a:endParaRPr b="1" sz="1800">
              <a:solidFill>
                <a:srgbClr val="ED1C24"/>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46" name="Shape 46"/>
        <p:cNvGrpSpPr/>
        <p:nvPr/>
      </p:nvGrpSpPr>
      <p:grpSpPr>
        <a:xfrm>
          <a:off x="0" y="0"/>
          <a:ext cx="0" cy="0"/>
          <a:chOff x="0" y="0"/>
          <a:chExt cx="0" cy="0"/>
        </a:xfrm>
      </p:grpSpPr>
      <p:pic>
        <p:nvPicPr>
          <p:cNvPr id="47" name="Google Shape;47;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8" name="Google Shape;48;p6"/>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 name="Google Shape;49;p6"/>
          <p:cNvSpPr txBox="1"/>
          <p:nvPr/>
        </p:nvSpPr>
        <p:spPr>
          <a:xfrm>
            <a:off x="381000" y="0"/>
            <a:ext cx="1143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Más calumnias contra el apóstol Pablo</a:t>
            </a:r>
            <a:endParaRPr b="1" sz="3200">
              <a:solidFill>
                <a:srgbClr val="FFFFFF"/>
              </a:solidFill>
              <a:latin typeface="Oswald"/>
              <a:ea typeface="Oswald"/>
              <a:cs typeface="Oswald"/>
              <a:sym typeface="Oswald"/>
            </a:endParaRPr>
          </a:p>
        </p:txBody>
      </p:sp>
      <p:pic>
        <p:nvPicPr>
          <p:cNvPr id="50" name="Google Shape;50;p6"/>
          <p:cNvPicPr preferRelativeResize="0"/>
          <p:nvPr/>
        </p:nvPicPr>
        <p:blipFill rotWithShape="1">
          <a:blip r:embed="rId4">
            <a:alphaModFix/>
          </a:blip>
          <a:srcRect b="0" l="0" r="0" t="0"/>
          <a:stretch/>
        </p:blipFill>
        <p:spPr>
          <a:xfrm>
            <a:off x="571500" y="2095500"/>
            <a:ext cx="3048000" cy="3048000"/>
          </a:xfrm>
          <a:prstGeom prst="rect">
            <a:avLst/>
          </a:prstGeom>
          <a:noFill/>
          <a:ln>
            <a:noFill/>
          </a:ln>
        </p:spPr>
      </p:pic>
      <p:pic>
        <p:nvPicPr>
          <p:cNvPr id="51" name="Google Shape;51;p6"/>
          <p:cNvPicPr preferRelativeResize="0"/>
          <p:nvPr/>
        </p:nvPicPr>
        <p:blipFill rotWithShape="1">
          <a:blip r:embed="rId5">
            <a:alphaModFix/>
          </a:blip>
          <a:srcRect b="0" l="15001" r="15001" t="0"/>
          <a:stretch/>
        </p:blipFill>
        <p:spPr>
          <a:xfrm>
            <a:off x="4095750" y="1524000"/>
            <a:ext cx="4000500" cy="4000500"/>
          </a:xfrm>
          <a:prstGeom prst="rect">
            <a:avLst/>
          </a:prstGeom>
          <a:noFill/>
          <a:ln>
            <a:noFill/>
          </a:ln>
        </p:spPr>
      </p:pic>
      <p:pic>
        <p:nvPicPr>
          <p:cNvPr id="52" name="Google Shape;52;p6"/>
          <p:cNvPicPr preferRelativeResize="0"/>
          <p:nvPr/>
        </p:nvPicPr>
        <p:blipFill rotWithShape="1">
          <a:blip r:embed="rId6">
            <a:alphaModFix/>
          </a:blip>
          <a:srcRect b="0" l="0" r="0" t="0"/>
          <a:stretch/>
        </p:blipFill>
        <p:spPr>
          <a:xfrm>
            <a:off x="8382000" y="2476500"/>
            <a:ext cx="3429000" cy="3429000"/>
          </a:xfrm>
          <a:prstGeom prst="rect">
            <a:avLst/>
          </a:prstGeom>
          <a:noFill/>
          <a:ln>
            <a:noFill/>
          </a:ln>
        </p:spPr>
      </p:pic>
      <p:grpSp>
        <p:nvGrpSpPr>
          <p:cNvPr id="53" name="Google Shape;53;p6"/>
          <p:cNvGrpSpPr/>
          <p:nvPr/>
        </p:nvGrpSpPr>
        <p:grpSpPr>
          <a:xfrm>
            <a:off x="285750" y="1000125"/>
            <a:ext cx="3048000" cy="1143000"/>
            <a:chOff x="285750" y="1000125"/>
            <a:chExt cx="3048000" cy="1143000"/>
          </a:xfrm>
        </p:grpSpPr>
        <p:sp>
          <p:nvSpPr>
            <p:cNvPr id="54" name="Google Shape;54;p6"/>
            <p:cNvSpPr/>
            <p:nvPr/>
          </p:nvSpPr>
          <p:spPr>
            <a:xfrm>
              <a:off x="285750" y="1000125"/>
              <a:ext cx="3048000" cy="1143000"/>
            </a:xfrm>
            <a:prstGeom prst="roundRect">
              <a:avLst>
                <a:gd fmla="val 12500" name="adj"/>
              </a:avLst>
            </a:prstGeom>
            <a:solidFill>
              <a:srgbClr val="FFFFFF"/>
            </a:solidFill>
            <a:ln cap="flat" cmpd="sng" w="285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 name="Google Shape;55;p6"/>
            <p:cNvSpPr txBox="1"/>
            <p:nvPr/>
          </p:nvSpPr>
          <p:spPr>
            <a:xfrm>
              <a:off x="285750" y="1000125"/>
              <a:ext cx="3048000" cy="11430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500">
                  <a:solidFill>
                    <a:srgbClr val="ED1C24"/>
                  </a:solidFill>
                  <a:latin typeface="Calibri"/>
                  <a:ea typeface="Calibri"/>
                  <a:cs typeface="Calibri"/>
                  <a:sym typeface="Calibri"/>
                </a:rPr>
                <a:t>Hechos 26:24:</a:t>
              </a:r>
              <a:r>
                <a:rPr b="0" lang="en-US" sz="1500">
                  <a:solidFill>
                    <a:srgbClr val="1A1A1A"/>
                  </a:solidFill>
                  <a:latin typeface="Calibri"/>
                  <a:ea typeface="Calibri"/>
                  <a:cs typeface="Calibri"/>
                  <a:sym typeface="Calibri"/>
                </a:rPr>
                <a:t> "¡Pablo, estás loco! ¡Tu mucho saber te está haciendo perder la cabeza!"</a:t>
              </a:r>
              <a:endParaRPr b="1" sz="1500">
                <a:solidFill>
                  <a:srgbClr val="ED1C24"/>
                </a:solidFill>
                <a:latin typeface="Calibri"/>
                <a:ea typeface="Calibri"/>
                <a:cs typeface="Calibri"/>
                <a:sym typeface="Calibri"/>
              </a:endParaRPr>
            </a:p>
          </p:txBody>
        </p:sp>
      </p:grpSp>
      <p:grpSp>
        <p:nvGrpSpPr>
          <p:cNvPr id="56" name="Google Shape;56;p6"/>
          <p:cNvGrpSpPr/>
          <p:nvPr/>
        </p:nvGrpSpPr>
        <p:grpSpPr>
          <a:xfrm>
            <a:off x="4572000" y="5334000"/>
            <a:ext cx="3048000" cy="1238400"/>
            <a:chOff x="4572000" y="5334000"/>
            <a:chExt cx="3048000" cy="1238400"/>
          </a:xfrm>
        </p:grpSpPr>
        <p:sp>
          <p:nvSpPr>
            <p:cNvPr id="57" name="Google Shape;57;p6"/>
            <p:cNvSpPr/>
            <p:nvPr/>
          </p:nvSpPr>
          <p:spPr>
            <a:xfrm>
              <a:off x="4572000" y="5334000"/>
              <a:ext cx="3048000" cy="1238400"/>
            </a:xfrm>
            <a:prstGeom prst="roundRect">
              <a:avLst>
                <a:gd fmla="val 11537" name="adj"/>
              </a:avLst>
            </a:prstGeom>
            <a:solidFill>
              <a:srgbClr val="FFFFFF"/>
            </a:solidFill>
            <a:ln cap="flat" cmpd="sng" w="285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6"/>
            <p:cNvSpPr txBox="1"/>
            <p:nvPr/>
          </p:nvSpPr>
          <p:spPr>
            <a:xfrm>
              <a:off x="4572000" y="5334000"/>
              <a:ext cx="3048000" cy="1238400"/>
            </a:xfrm>
            <a:prstGeom prst="rect">
              <a:avLst/>
            </a:prstGeom>
            <a:solidFill>
              <a:srgbClr val="000000">
                <a:alpha val="0"/>
              </a:srgbClr>
            </a:solid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500">
                  <a:solidFill>
                    <a:srgbClr val="ED1C24"/>
                  </a:solidFill>
                  <a:latin typeface="Calibri"/>
                  <a:ea typeface="Calibri"/>
                  <a:cs typeface="Calibri"/>
                  <a:sym typeface="Calibri"/>
                </a:rPr>
                <a:t>Romanos 3:8: </a:t>
              </a:r>
              <a:r>
                <a:rPr b="0" lang="en-US" sz="1500">
                  <a:solidFill>
                    <a:srgbClr val="1A1A1A"/>
                  </a:solidFill>
                  <a:latin typeface="Calibri"/>
                  <a:ea typeface="Calibri"/>
                  <a:cs typeface="Calibri"/>
                  <a:sym typeface="Calibri"/>
                </a:rPr>
                <a:t>"Él dice: 'Hagamos el mal para que venga el bien'."</a:t>
              </a:r>
              <a:endParaRPr b="1" sz="1500">
                <a:solidFill>
                  <a:srgbClr val="ED1C24"/>
                </a:solidFill>
                <a:latin typeface="Calibri"/>
                <a:ea typeface="Calibri"/>
                <a:cs typeface="Calibri"/>
                <a:sym typeface="Calibri"/>
              </a:endParaRPr>
            </a:p>
          </p:txBody>
        </p:sp>
      </p:grpSp>
      <p:grpSp>
        <p:nvGrpSpPr>
          <p:cNvPr id="59" name="Google Shape;59;p6"/>
          <p:cNvGrpSpPr/>
          <p:nvPr/>
        </p:nvGrpSpPr>
        <p:grpSpPr>
          <a:xfrm>
            <a:off x="8382000" y="1095375"/>
            <a:ext cx="3429000" cy="1428900"/>
            <a:chOff x="8382000" y="1095375"/>
            <a:chExt cx="3429000" cy="1428900"/>
          </a:xfrm>
        </p:grpSpPr>
        <p:sp>
          <p:nvSpPr>
            <p:cNvPr id="60" name="Google Shape;60;p6"/>
            <p:cNvSpPr/>
            <p:nvPr/>
          </p:nvSpPr>
          <p:spPr>
            <a:xfrm>
              <a:off x="8382000" y="1095375"/>
              <a:ext cx="3429000" cy="1428900"/>
            </a:xfrm>
            <a:prstGeom prst="roundRect">
              <a:avLst>
                <a:gd fmla="val 13333" name="adj"/>
              </a:avLst>
            </a:prstGeom>
            <a:solidFill>
              <a:srgbClr val="FFFFFF"/>
            </a:solidFill>
            <a:ln cap="flat" cmpd="sng" w="285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6"/>
            <p:cNvSpPr txBox="1"/>
            <p:nvPr/>
          </p:nvSpPr>
          <p:spPr>
            <a:xfrm>
              <a:off x="8382000" y="1095375"/>
              <a:ext cx="3429000" cy="14289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600">
                  <a:solidFill>
                    <a:srgbClr val="ED1C24"/>
                  </a:solidFill>
                  <a:latin typeface="Calibri"/>
                  <a:ea typeface="Calibri"/>
                  <a:cs typeface="Calibri"/>
                  <a:sym typeface="Calibri"/>
                </a:rPr>
                <a:t>2 Corintios 10:10:</a:t>
              </a:r>
              <a:r>
                <a:rPr b="0" lang="en-US" sz="1600">
                  <a:solidFill>
                    <a:srgbClr val="1A1A1A"/>
                  </a:solidFill>
                  <a:latin typeface="Calibri"/>
                  <a:ea typeface="Calibri"/>
                  <a:cs typeface="Calibri"/>
                  <a:sym typeface="Calibri"/>
                </a:rPr>
                <a:t> "Sus cartas son severas y duras, pero </a:t>
              </a:r>
              <a:r>
                <a:rPr lang="en-US" sz="1600">
                  <a:solidFill>
                    <a:srgbClr val="1A1A1A"/>
                  </a:solidFill>
                  <a:latin typeface="Calibri"/>
                  <a:ea typeface="Calibri"/>
                  <a:cs typeface="Calibri"/>
                  <a:sym typeface="Calibri"/>
                </a:rPr>
                <a:t>la</a:t>
              </a:r>
              <a:r>
                <a:rPr b="0" lang="en-US" sz="1600">
                  <a:solidFill>
                    <a:srgbClr val="1A1A1A"/>
                  </a:solidFill>
                  <a:latin typeface="Calibri"/>
                  <a:ea typeface="Calibri"/>
                  <a:cs typeface="Calibri"/>
                  <a:sym typeface="Calibri"/>
                </a:rPr>
                <a:t> presencia </a:t>
              </a:r>
              <a:r>
                <a:rPr lang="en-US" sz="1600">
                  <a:solidFill>
                    <a:srgbClr val="1A1A1A"/>
                  </a:solidFill>
                  <a:latin typeface="Calibri"/>
                  <a:ea typeface="Calibri"/>
                  <a:cs typeface="Calibri"/>
                  <a:sym typeface="Calibri"/>
                </a:rPr>
                <a:t>física</a:t>
              </a:r>
              <a:r>
                <a:rPr b="0" lang="en-US" sz="1600">
                  <a:solidFill>
                    <a:srgbClr val="1A1A1A"/>
                  </a:solidFill>
                  <a:latin typeface="Calibri"/>
                  <a:ea typeface="Calibri"/>
                  <a:cs typeface="Calibri"/>
                  <a:sym typeface="Calibri"/>
                </a:rPr>
                <a:t> es poco impresionante, y la manera d</a:t>
              </a:r>
              <a:r>
                <a:rPr lang="en-US" sz="1600">
                  <a:solidFill>
                    <a:srgbClr val="1A1A1A"/>
                  </a:solidFill>
                  <a:latin typeface="Calibri"/>
                  <a:ea typeface="Calibri"/>
                  <a:cs typeface="Calibri"/>
                  <a:sym typeface="Calibri"/>
                </a:rPr>
                <a:t>e hablar despreciable</a:t>
              </a:r>
              <a:r>
                <a:rPr b="0" lang="en-US" sz="1600">
                  <a:solidFill>
                    <a:srgbClr val="1A1A1A"/>
                  </a:solidFill>
                  <a:latin typeface="Calibri"/>
                  <a:ea typeface="Calibri"/>
                  <a:cs typeface="Calibri"/>
                  <a:sym typeface="Calibri"/>
                </a:rPr>
                <a:t>."</a:t>
              </a:r>
              <a:endParaRPr b="1" sz="1600">
                <a:solidFill>
                  <a:srgbClr val="ED1C24"/>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 name="Shape 64"/>
        <p:cNvGrpSpPr/>
        <p:nvPr/>
      </p:nvGrpSpPr>
      <p:grpSpPr>
        <a:xfrm>
          <a:off x="0" y="0"/>
          <a:ext cx="0" cy="0"/>
          <a:chOff x="0" y="0"/>
          <a:chExt cx="0" cy="0"/>
        </a:xfrm>
      </p:grpSpPr>
      <p:sp>
        <p:nvSpPr>
          <p:cNvPr id="65" name="Google Shape;65;p7"/>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7"/>
          <p:cNvSpPr txBox="1"/>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2. Herejías antiguas que negaron la autoridad de Pablo</a:t>
            </a:r>
            <a:endParaRPr b="1" sz="3200">
              <a:solidFill>
                <a:srgbClr val="FFFFFF"/>
              </a:solidFill>
              <a:latin typeface="Oswald"/>
              <a:ea typeface="Oswald"/>
              <a:cs typeface="Oswald"/>
              <a:sym typeface="Oswald"/>
            </a:endParaRPr>
          </a:p>
        </p:txBody>
      </p:sp>
      <p:pic>
        <p:nvPicPr>
          <p:cNvPr id="67" name="Google Shape;67;p7"/>
          <p:cNvPicPr preferRelativeResize="0"/>
          <p:nvPr/>
        </p:nvPicPr>
        <p:blipFill rotWithShape="1">
          <a:blip r:embed="rId4">
            <a:alphaModFix/>
          </a:blip>
          <a:srcRect b="30960" l="-226320" r="226320" t="-24295"/>
          <a:stretch/>
        </p:blipFill>
        <p:spPr>
          <a:xfrm>
            <a:off x="0" y="0"/>
            <a:ext cx="3619500" cy="4825800"/>
          </a:xfrm>
          <a:prstGeom prst="rect">
            <a:avLst/>
          </a:prstGeom>
          <a:noFill/>
          <a:ln>
            <a:noFill/>
          </a:ln>
        </p:spPr>
      </p:pic>
      <p:grpSp>
        <p:nvGrpSpPr>
          <p:cNvPr id="68" name="Google Shape;68;p7"/>
          <p:cNvGrpSpPr/>
          <p:nvPr/>
        </p:nvGrpSpPr>
        <p:grpSpPr>
          <a:xfrm>
            <a:off x="4381500" y="1333500"/>
            <a:ext cx="3429000" cy="4572150"/>
            <a:chOff x="4381500" y="1333500"/>
            <a:chExt cx="3429000" cy="4572150"/>
          </a:xfrm>
        </p:grpSpPr>
        <p:sp>
          <p:nvSpPr>
            <p:cNvPr id="69" name="Google Shape;69;p7"/>
            <p:cNvSpPr/>
            <p:nvPr/>
          </p:nvSpPr>
          <p:spPr>
            <a:xfrm>
              <a:off x="4381500" y="1333500"/>
              <a:ext cx="3429000" cy="1238400"/>
            </a:xfrm>
            <a:prstGeom prst="roundRect">
              <a:avLst>
                <a:gd fmla="val 11538" name="adj"/>
              </a:avLst>
            </a:prstGeom>
            <a:solidFill>
              <a:srgbClr val="FFFFFF"/>
            </a:solidFill>
            <a:ln cap="flat" cmpd="sng" w="19050">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7"/>
            <p:cNvSpPr txBox="1"/>
            <p:nvPr/>
          </p:nvSpPr>
          <p:spPr>
            <a:xfrm>
              <a:off x="4381500" y="1333500"/>
              <a:ext cx="3429000" cy="12384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600">
                  <a:solidFill>
                    <a:srgbClr val="ED1C24"/>
                  </a:solidFill>
                  <a:latin typeface="Calibri"/>
                  <a:ea typeface="Calibri"/>
                  <a:cs typeface="Calibri"/>
                  <a:sym typeface="Calibri"/>
                </a:rPr>
                <a:t>Postura Ebionita (Siglo II-IV)</a:t>
              </a:r>
              <a:endParaRPr b="1" sz="1600">
                <a:solidFill>
                  <a:srgbClr val="ED1C24"/>
                </a:solidFill>
                <a:latin typeface="Calibri"/>
                <a:ea typeface="Calibri"/>
                <a:cs typeface="Calibri"/>
                <a:sym typeface="Calibri"/>
              </a:endParaRPr>
            </a:p>
            <a:p>
              <a:pPr indent="0" lvl="0" marL="0" rtl="0" algn="ctr">
                <a:spcBef>
                  <a:spcPts val="375"/>
                </a:spcBef>
                <a:spcAft>
                  <a:spcPts val="0"/>
                </a:spcAft>
                <a:buNone/>
              </a:pPr>
              <a:r>
                <a:rPr b="0" lang="en-US" sz="1300">
                  <a:solidFill>
                    <a:srgbClr val="1A1A1A"/>
                  </a:solidFill>
                  <a:latin typeface="Calibri"/>
                  <a:ea typeface="Calibri"/>
                  <a:cs typeface="Calibri"/>
                  <a:sym typeface="Calibri"/>
                </a:rPr>
                <a:t>Los ebionitas repudiaban a Pablo como un apóstata de la Ley y negaban su llamado apostólico.</a:t>
              </a:r>
              <a:endParaRPr b="0" sz="1300">
                <a:solidFill>
                  <a:srgbClr val="1A1A1A"/>
                </a:solidFill>
                <a:latin typeface="Calibri"/>
                <a:ea typeface="Calibri"/>
                <a:cs typeface="Calibri"/>
                <a:sym typeface="Calibri"/>
              </a:endParaRPr>
            </a:p>
          </p:txBody>
        </p:sp>
        <p:sp>
          <p:nvSpPr>
            <p:cNvPr id="71" name="Google Shape;71;p7"/>
            <p:cNvSpPr/>
            <p:nvPr/>
          </p:nvSpPr>
          <p:spPr>
            <a:xfrm>
              <a:off x="4381500" y="2809875"/>
              <a:ext cx="3429000" cy="1428900"/>
            </a:xfrm>
            <a:prstGeom prst="roundRect">
              <a:avLst>
                <a:gd fmla="val 10000" name="adj"/>
              </a:avLst>
            </a:prstGeom>
            <a:solidFill>
              <a:srgbClr val="FFFFFF"/>
            </a:solidFill>
            <a:ln cap="flat" cmpd="sng" w="19050">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7"/>
            <p:cNvSpPr txBox="1"/>
            <p:nvPr/>
          </p:nvSpPr>
          <p:spPr>
            <a:xfrm>
              <a:off x="4381500" y="2809875"/>
              <a:ext cx="3429000" cy="14289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600">
                  <a:solidFill>
                    <a:srgbClr val="0050EF"/>
                  </a:solidFill>
                  <a:latin typeface="Calibri"/>
                  <a:ea typeface="Calibri"/>
                  <a:cs typeface="Calibri"/>
                  <a:sym typeface="Calibri"/>
                </a:rPr>
                <a:t>Ireneo de Lyon (c. 180 d.C.)</a:t>
              </a:r>
              <a:endParaRPr b="1" sz="1600">
                <a:solidFill>
                  <a:srgbClr val="0050EF"/>
                </a:solidFill>
                <a:latin typeface="Calibri"/>
                <a:ea typeface="Calibri"/>
                <a:cs typeface="Calibri"/>
                <a:sym typeface="Calibri"/>
              </a:endParaRPr>
            </a:p>
            <a:p>
              <a:pPr indent="0" lvl="0" marL="0" rtl="0" algn="ctr">
                <a:spcBef>
                  <a:spcPts val="375"/>
                </a:spcBef>
                <a:spcAft>
                  <a:spcPts val="0"/>
                </a:spcAft>
                <a:buNone/>
              </a:pPr>
              <a:r>
                <a:rPr b="0" lang="en-US" sz="1300">
                  <a:solidFill>
                    <a:srgbClr val="1A1A1A"/>
                  </a:solidFill>
                  <a:latin typeface="Calibri"/>
                  <a:ea typeface="Calibri"/>
                  <a:cs typeface="Calibri"/>
                  <a:sym typeface="Calibri"/>
                </a:rPr>
                <a:t>Argumenta que rechazar a Pablo es contradecir el testimonio de Lucas sobre su llamado divino.</a:t>
              </a:r>
              <a:endParaRPr b="0" sz="1300">
                <a:solidFill>
                  <a:srgbClr val="1A1A1A"/>
                </a:solidFill>
                <a:latin typeface="Calibri"/>
                <a:ea typeface="Calibri"/>
                <a:cs typeface="Calibri"/>
                <a:sym typeface="Calibri"/>
              </a:endParaRPr>
            </a:p>
            <a:p>
              <a:pPr indent="0" lvl="0" marL="0" rtl="0" algn="ctr">
                <a:spcBef>
                  <a:spcPts val="375"/>
                </a:spcBef>
                <a:spcAft>
                  <a:spcPts val="0"/>
                </a:spcAft>
                <a:buNone/>
              </a:pPr>
              <a:r>
                <a:rPr b="0" i="1" lang="en-US" sz="1000">
                  <a:solidFill>
                    <a:srgbClr val="4A4A4A"/>
                  </a:solidFill>
                  <a:latin typeface="Calibri"/>
                  <a:ea typeface="Calibri"/>
                  <a:cs typeface="Calibri"/>
                  <a:sym typeface="Calibri"/>
                </a:rPr>
                <a:t>(Contra las Herejías 3.15.1)</a:t>
              </a:r>
              <a:endParaRPr b="0" i="1" sz="1000">
                <a:solidFill>
                  <a:srgbClr val="4A4A4A"/>
                </a:solidFill>
                <a:latin typeface="Calibri"/>
                <a:ea typeface="Calibri"/>
                <a:cs typeface="Calibri"/>
                <a:sym typeface="Calibri"/>
              </a:endParaRPr>
            </a:p>
          </p:txBody>
        </p:sp>
        <p:sp>
          <p:nvSpPr>
            <p:cNvPr id="73" name="Google Shape;73;p7"/>
            <p:cNvSpPr/>
            <p:nvPr/>
          </p:nvSpPr>
          <p:spPr>
            <a:xfrm>
              <a:off x="4381500" y="4476750"/>
              <a:ext cx="3429000" cy="1428900"/>
            </a:xfrm>
            <a:prstGeom prst="roundRect">
              <a:avLst>
                <a:gd fmla="val 10000" name="adj"/>
              </a:avLst>
            </a:prstGeom>
            <a:solidFill>
              <a:srgbClr val="FFFFFF"/>
            </a:solidFill>
            <a:ln cap="flat" cmpd="sng" w="19050">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7"/>
            <p:cNvSpPr txBox="1"/>
            <p:nvPr/>
          </p:nvSpPr>
          <p:spPr>
            <a:xfrm>
              <a:off x="4381500" y="4476750"/>
              <a:ext cx="3429000" cy="14289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b="1" lang="en-US" sz="1600">
                  <a:solidFill>
                    <a:srgbClr val="0050EF"/>
                  </a:solidFill>
                  <a:latin typeface="Calibri"/>
                  <a:ea typeface="Calibri"/>
                  <a:cs typeface="Calibri"/>
                  <a:sym typeface="Calibri"/>
                </a:rPr>
                <a:t>Epifanio de Salamina (c. 374 d.C.)</a:t>
              </a:r>
              <a:endParaRPr b="1" sz="1600">
                <a:solidFill>
                  <a:srgbClr val="0050EF"/>
                </a:solidFill>
                <a:latin typeface="Calibri"/>
                <a:ea typeface="Calibri"/>
                <a:cs typeface="Calibri"/>
                <a:sym typeface="Calibri"/>
              </a:endParaRPr>
            </a:p>
            <a:p>
              <a:pPr indent="0" lvl="0" marL="0" rtl="0" algn="ctr">
                <a:spcBef>
                  <a:spcPts val="375"/>
                </a:spcBef>
                <a:spcAft>
                  <a:spcPts val="0"/>
                </a:spcAft>
                <a:buNone/>
              </a:pPr>
              <a:r>
                <a:rPr b="0" lang="en-US" sz="1300">
                  <a:solidFill>
                    <a:srgbClr val="1A1A1A"/>
                  </a:solidFill>
                  <a:latin typeface="Calibri"/>
                  <a:ea typeface="Calibri"/>
                  <a:cs typeface="Calibri"/>
                  <a:sym typeface="Calibri"/>
                </a:rPr>
                <a:t>Preserva y refuta sistemáticamente las calumnias ebionitas contra la integridad de Pablo.</a:t>
              </a:r>
              <a:endParaRPr b="0" sz="1300">
                <a:solidFill>
                  <a:srgbClr val="1A1A1A"/>
                </a:solidFill>
                <a:latin typeface="Calibri"/>
                <a:ea typeface="Calibri"/>
                <a:cs typeface="Calibri"/>
                <a:sym typeface="Calibri"/>
              </a:endParaRPr>
            </a:p>
            <a:p>
              <a:pPr indent="0" lvl="0" marL="0" rtl="0" algn="ctr">
                <a:spcBef>
                  <a:spcPts val="375"/>
                </a:spcBef>
                <a:spcAft>
                  <a:spcPts val="0"/>
                </a:spcAft>
                <a:buNone/>
              </a:pPr>
              <a:r>
                <a:rPr b="0" i="1" lang="en-US" sz="1000">
                  <a:solidFill>
                    <a:srgbClr val="4A4A4A"/>
                  </a:solidFill>
                  <a:latin typeface="Calibri"/>
                  <a:ea typeface="Calibri"/>
                  <a:cs typeface="Calibri"/>
                  <a:sym typeface="Calibri"/>
                </a:rPr>
                <a:t>(Panarion 30.16.8-9)</a:t>
              </a:r>
              <a:endParaRPr b="0" i="1" sz="1000">
                <a:solidFill>
                  <a:srgbClr val="4A4A4A"/>
                </a:solidFill>
                <a:latin typeface="Calibri"/>
                <a:ea typeface="Calibri"/>
                <a:cs typeface="Calibri"/>
                <a:sym typeface="Calibri"/>
              </a:endParaRPr>
            </a:p>
          </p:txBody>
        </p:sp>
      </p:grpSp>
      <p:pic>
        <p:nvPicPr>
          <p:cNvPr descr="Anime-style historical portrait of two venerable church fathers, Irenaeus of Lyons and Epiphanius of Salamis. One holds a scroll, the other a book. High-quality cel-shaded anime aesthetic, wise expressions, early Christian vestments, library setting." id="75" name="Google Shape;75;p7"/>
          <p:cNvPicPr preferRelativeResize="0"/>
          <p:nvPr/>
        </p:nvPicPr>
        <p:blipFill rotWithShape="1">
          <a:blip r:embed="rId5">
            <a:alphaModFix/>
          </a:blip>
          <a:srcRect b="5267" l="0" r="0" t="0"/>
          <a:stretch/>
        </p:blipFill>
        <p:spPr>
          <a:xfrm>
            <a:off x="8094525" y="1333714"/>
            <a:ext cx="3619500" cy="4571700"/>
          </a:xfrm>
          <a:prstGeom prst="roundRect">
            <a:avLst>
              <a:gd fmla="val 5263" name="adj"/>
            </a:avLst>
          </a:prstGeom>
          <a:noFill/>
          <a:ln>
            <a:noFill/>
          </a:ln>
        </p:spPr>
      </p:pic>
      <p:pic>
        <p:nvPicPr>
          <p:cNvPr descr="Anime-style historical illustration of a group of Ebionites in ancient 2nd-century attire, appearing dismissive and argumentative. High-quality cel-shaded anime aesthetic, moody lighting, detailed background of an ancient marketplace." id="76" name="Google Shape;76;p7"/>
          <p:cNvPicPr preferRelativeResize="0"/>
          <p:nvPr/>
        </p:nvPicPr>
        <p:blipFill rotWithShape="1">
          <a:blip r:embed="rId6">
            <a:alphaModFix/>
          </a:blip>
          <a:srcRect b="5267" l="0" r="0" t="0"/>
          <a:stretch/>
        </p:blipFill>
        <p:spPr>
          <a:xfrm>
            <a:off x="444075" y="1290525"/>
            <a:ext cx="3653400" cy="4614900"/>
          </a:xfrm>
          <a:prstGeom prst="roundRect">
            <a:avLst>
              <a:gd fmla="val 5263"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pic>
        <p:nvPicPr>
          <p:cNvPr id="82" name="Google Shape;82;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3" name="Google Shape;83;p8"/>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8"/>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2. Herejías antiguas que negaron la autoridad de Pablo</a:t>
            </a:r>
            <a:endParaRPr b="1" sz="3200">
              <a:solidFill>
                <a:srgbClr val="FFFFFF"/>
              </a:solidFill>
              <a:latin typeface="Oswald"/>
              <a:ea typeface="Oswald"/>
              <a:cs typeface="Oswald"/>
              <a:sym typeface="Oswald"/>
            </a:endParaRPr>
          </a:p>
        </p:txBody>
      </p:sp>
      <p:grpSp>
        <p:nvGrpSpPr>
          <p:cNvPr id="85" name="Google Shape;85;p8"/>
          <p:cNvGrpSpPr/>
          <p:nvPr/>
        </p:nvGrpSpPr>
        <p:grpSpPr>
          <a:xfrm>
            <a:off x="610800" y="1083219"/>
            <a:ext cx="10970400" cy="5555894"/>
            <a:chOff x="4287284" y="1371056"/>
            <a:chExt cx="3429000" cy="4000500"/>
          </a:xfrm>
        </p:grpSpPr>
        <p:sp>
          <p:nvSpPr>
            <p:cNvPr id="86" name="Google Shape;86;p8"/>
            <p:cNvSpPr/>
            <p:nvPr/>
          </p:nvSpPr>
          <p:spPr>
            <a:xfrm>
              <a:off x="4287284" y="1371056"/>
              <a:ext cx="3429000" cy="4000500"/>
            </a:xfrm>
            <a:prstGeom prst="roundRect">
              <a:avLst>
                <a:gd fmla="val 4166"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8"/>
            <p:cNvSpPr txBox="1"/>
            <p:nvPr/>
          </p:nvSpPr>
          <p:spPr>
            <a:xfrm>
              <a:off x="4430085" y="1490854"/>
              <a:ext cx="3143400" cy="371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93">
                  <a:solidFill>
                    <a:srgbClr val="ED1C24"/>
                  </a:solidFill>
                  <a:latin typeface="Calibri"/>
                  <a:ea typeface="Calibri"/>
                  <a:cs typeface="Calibri"/>
                  <a:sym typeface="Calibri"/>
                </a:rPr>
                <a:t>Ireneo (c. 180 d.C.) resume la postura ebionita sobre Pablo:</a:t>
              </a:r>
              <a:endParaRPr b="1" sz="1893">
                <a:solidFill>
                  <a:srgbClr val="ED1C24"/>
                </a:solidFill>
                <a:latin typeface="Calibri"/>
                <a:ea typeface="Calibri"/>
                <a:cs typeface="Calibri"/>
                <a:sym typeface="Calibri"/>
              </a:endParaRPr>
            </a:p>
            <a:p>
              <a:pPr indent="0" lvl="0" marL="0" rtl="0" algn="ctr">
                <a:spcBef>
                  <a:spcPts val="1200"/>
                </a:spcBef>
                <a:spcAft>
                  <a:spcPts val="0"/>
                </a:spcAft>
                <a:buNone/>
              </a:pPr>
              <a:r>
                <a:rPr lang="en-US" sz="2593">
                  <a:solidFill>
                    <a:srgbClr val="1A1A1A"/>
                  </a:solidFill>
                  <a:latin typeface="Calibri"/>
                  <a:ea typeface="Calibri"/>
                  <a:cs typeface="Calibri"/>
                  <a:sym typeface="Calibri"/>
                </a:rPr>
                <a:t>Los que son llamados ebionitas están de acuerdo en que el mundo fue hecho por Dios; pero sus opiniones con respecto al Señor son semejantes a las de Cerinto y Carpócrates. Usan solamente el Evangelio según Mateo y repudian al apóstol Pablo, sosteniendo que fue un apóstata de la Ley. En cuanto a los escritos proféticos, procuran interpretarlos de una manera algo singular: practican la circuncisión, perseveran en la observancia de aquellas costumbres que son mandadas por la Ley y son tan judaicos en su modo de vida, que incluso adoran a Jerusalén como si fuera la casa de Dios.</a:t>
              </a:r>
              <a:endParaRPr sz="2593">
                <a:solidFill>
                  <a:srgbClr val="1A1A1A"/>
                </a:solidFill>
                <a:latin typeface="Calibri"/>
                <a:ea typeface="Calibri"/>
                <a:cs typeface="Calibri"/>
                <a:sym typeface="Calibri"/>
              </a:endParaRPr>
            </a:p>
            <a:p>
              <a:pPr indent="0" lvl="0" marL="0" rtl="0" algn="ctr">
                <a:spcBef>
                  <a:spcPts val="1599"/>
                </a:spcBef>
                <a:spcAft>
                  <a:spcPts val="0"/>
                </a:spcAft>
                <a:buNone/>
              </a:pPr>
              <a:r>
                <a:rPr i="1" lang="en-US" sz="1173">
                  <a:solidFill>
                    <a:srgbClr val="4A4A4A"/>
                  </a:solidFill>
                  <a:latin typeface="Calibri"/>
                  <a:ea typeface="Calibri"/>
                  <a:cs typeface="Calibri"/>
                  <a:sym typeface="Calibri"/>
                </a:rPr>
                <a:t>(</a:t>
              </a:r>
              <a:r>
                <a:rPr i="1" lang="en-US" sz="1100">
                  <a:solidFill>
                    <a:srgbClr val="4A4A4A"/>
                  </a:solidFill>
                  <a:latin typeface="Calibri"/>
                  <a:ea typeface="Calibri"/>
                  <a:cs typeface="Calibri"/>
                  <a:sym typeface="Calibri"/>
                </a:rPr>
                <a:t>Ireneo de Lyon, Contra las Herejías 1.26.2</a:t>
              </a:r>
              <a:r>
                <a:rPr i="1" lang="en-US" sz="1173">
                  <a:solidFill>
                    <a:srgbClr val="4A4A4A"/>
                  </a:solidFill>
                  <a:latin typeface="Calibri"/>
                  <a:ea typeface="Calibri"/>
                  <a:cs typeface="Calibri"/>
                  <a:sym typeface="Calibri"/>
                </a:rPr>
                <a:t>)</a:t>
              </a:r>
              <a:endParaRPr i="1" sz="1173">
                <a:solidFill>
                  <a:srgbClr val="4A4A4A"/>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pic>
        <p:nvPicPr>
          <p:cNvPr id="93" name="Google Shape;93;p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9"/>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9"/>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2. Herejías antiguas que negaron la autoridad de Pablo</a:t>
            </a:r>
            <a:endParaRPr b="1" sz="3200">
              <a:solidFill>
                <a:srgbClr val="FFFFFF"/>
              </a:solidFill>
              <a:latin typeface="Oswald"/>
              <a:ea typeface="Oswald"/>
              <a:cs typeface="Oswald"/>
              <a:sym typeface="Oswald"/>
            </a:endParaRPr>
          </a:p>
        </p:txBody>
      </p:sp>
      <p:grpSp>
        <p:nvGrpSpPr>
          <p:cNvPr id="96" name="Google Shape;96;p9"/>
          <p:cNvGrpSpPr/>
          <p:nvPr/>
        </p:nvGrpSpPr>
        <p:grpSpPr>
          <a:xfrm>
            <a:off x="610800" y="1083219"/>
            <a:ext cx="10970400" cy="5555894"/>
            <a:chOff x="4287284" y="1371056"/>
            <a:chExt cx="3429000" cy="4000500"/>
          </a:xfrm>
        </p:grpSpPr>
        <p:sp>
          <p:nvSpPr>
            <p:cNvPr id="97" name="Google Shape;97;p9"/>
            <p:cNvSpPr/>
            <p:nvPr/>
          </p:nvSpPr>
          <p:spPr>
            <a:xfrm>
              <a:off x="4287284" y="1371056"/>
              <a:ext cx="3429000" cy="4000500"/>
            </a:xfrm>
            <a:prstGeom prst="roundRect">
              <a:avLst>
                <a:gd fmla="val 4166"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9"/>
            <p:cNvSpPr txBox="1"/>
            <p:nvPr/>
          </p:nvSpPr>
          <p:spPr>
            <a:xfrm>
              <a:off x="4430085" y="1490854"/>
              <a:ext cx="3143400" cy="371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93">
                  <a:solidFill>
                    <a:srgbClr val="ED1C24"/>
                  </a:solidFill>
                  <a:latin typeface="Calibri"/>
                  <a:ea typeface="Calibri"/>
                  <a:cs typeface="Calibri"/>
                  <a:sym typeface="Calibri"/>
                </a:rPr>
                <a:t>Ireneo (c. 180 d.C.) defiende el apostolado de Pablo:</a:t>
              </a:r>
              <a:endParaRPr b="1" sz="1893">
                <a:solidFill>
                  <a:srgbClr val="ED1C24"/>
                </a:solidFill>
                <a:latin typeface="Calibri"/>
                <a:ea typeface="Calibri"/>
                <a:cs typeface="Calibri"/>
                <a:sym typeface="Calibri"/>
              </a:endParaRPr>
            </a:p>
            <a:p>
              <a:pPr indent="0" lvl="0" marL="0" rtl="0" algn="ctr">
                <a:spcBef>
                  <a:spcPts val="1200"/>
                </a:spcBef>
                <a:spcAft>
                  <a:spcPts val="0"/>
                </a:spcAft>
                <a:buNone/>
              </a:pPr>
              <a:r>
                <a:rPr lang="en-US" sz="2393">
                  <a:solidFill>
                    <a:srgbClr val="1A1A1A"/>
                  </a:solidFill>
                  <a:latin typeface="Calibri"/>
                  <a:ea typeface="Calibri"/>
                  <a:cs typeface="Calibri"/>
                  <a:sym typeface="Calibri"/>
                </a:rPr>
                <a:t>Pero nuevamente alegamos lo mismo contra quienes no reconocen a Pablo como apóstol: que deberían rechazar también las demás palabras del Evangelio que hemos llegado a conocer solo por Lucas, y no hacer uso de ellas; o bien, si las reciben todas, necesariamente deben admitir también ese testimonio acerca de Pablo, cuando él (Lucas) nos dice que el Señor le habló primero desde el cielo: «Saulo, Saulo, ¿por qué me persigues? Yo soy Jesucristo, a quien tú persigues» (Hechos 22:8; 26:15), y luego a Ananías, diciendo respecto de él: «Ve, porque instrumento escogido me es este, para llevar mi nombre en presencia de gentiles, de reyes y de los hijos de Israel; porque yo le mostraré cuánto le es necesario padecer por mi nombre» (Hechos 9:15-16)...</a:t>
              </a:r>
              <a:endParaRPr sz="2393">
                <a:solidFill>
                  <a:srgbClr val="1A1A1A"/>
                </a:solidFill>
                <a:latin typeface="Calibri"/>
                <a:ea typeface="Calibri"/>
                <a:cs typeface="Calibri"/>
                <a:sym typeface="Calibri"/>
              </a:endParaRPr>
            </a:p>
            <a:p>
              <a:pPr indent="0" lvl="0" marL="0" rtl="0" algn="ctr">
                <a:spcBef>
                  <a:spcPts val="1599"/>
                </a:spcBef>
                <a:spcAft>
                  <a:spcPts val="0"/>
                </a:spcAft>
                <a:buNone/>
              </a:pPr>
              <a:r>
                <a:rPr i="1" lang="en-US" sz="1173">
                  <a:solidFill>
                    <a:srgbClr val="4A4A4A"/>
                  </a:solidFill>
                  <a:latin typeface="Calibri"/>
                  <a:ea typeface="Calibri"/>
                  <a:cs typeface="Calibri"/>
                  <a:sym typeface="Calibri"/>
                </a:rPr>
                <a:t>(</a:t>
              </a:r>
              <a:r>
                <a:rPr i="1" lang="en-US" sz="1100">
                  <a:solidFill>
                    <a:srgbClr val="4A4A4A"/>
                  </a:solidFill>
                  <a:latin typeface="Calibri"/>
                  <a:ea typeface="Calibri"/>
                  <a:cs typeface="Calibri"/>
                  <a:sym typeface="Calibri"/>
                </a:rPr>
                <a:t>Ireneo de Lyon, Contra las Herejías 3.15.1</a:t>
              </a:r>
              <a:r>
                <a:rPr i="1" lang="en-US" sz="1173">
                  <a:solidFill>
                    <a:srgbClr val="4A4A4A"/>
                  </a:solidFill>
                  <a:latin typeface="Calibri"/>
                  <a:ea typeface="Calibri"/>
                  <a:cs typeface="Calibri"/>
                  <a:sym typeface="Calibri"/>
                </a:rPr>
                <a:t>)</a:t>
              </a:r>
              <a:endParaRPr i="1" sz="1173">
                <a:solidFill>
                  <a:srgbClr val="4A4A4A"/>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pic>
        <p:nvPicPr>
          <p:cNvPr id="104" name="Google Shape;104;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 name="Google Shape;105;p10"/>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0"/>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2. Herejías antiguas que negaron la autoridad de Pablo</a:t>
            </a:r>
            <a:endParaRPr b="1" sz="3200">
              <a:solidFill>
                <a:srgbClr val="FFFFFF"/>
              </a:solidFill>
              <a:latin typeface="Oswald"/>
              <a:ea typeface="Oswald"/>
              <a:cs typeface="Oswald"/>
              <a:sym typeface="Oswald"/>
            </a:endParaRPr>
          </a:p>
        </p:txBody>
      </p:sp>
      <p:grpSp>
        <p:nvGrpSpPr>
          <p:cNvPr id="107" name="Google Shape;107;p10"/>
          <p:cNvGrpSpPr/>
          <p:nvPr/>
        </p:nvGrpSpPr>
        <p:grpSpPr>
          <a:xfrm>
            <a:off x="610800" y="1083219"/>
            <a:ext cx="10970400" cy="5555894"/>
            <a:chOff x="4287284" y="1371056"/>
            <a:chExt cx="3429000" cy="4000500"/>
          </a:xfrm>
        </p:grpSpPr>
        <p:sp>
          <p:nvSpPr>
            <p:cNvPr id="108" name="Google Shape;108;p10"/>
            <p:cNvSpPr/>
            <p:nvPr/>
          </p:nvSpPr>
          <p:spPr>
            <a:xfrm>
              <a:off x="4287284" y="1371056"/>
              <a:ext cx="3429000" cy="4000500"/>
            </a:xfrm>
            <a:prstGeom prst="roundRect">
              <a:avLst>
                <a:gd fmla="val 4166"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0"/>
            <p:cNvSpPr txBox="1"/>
            <p:nvPr/>
          </p:nvSpPr>
          <p:spPr>
            <a:xfrm>
              <a:off x="4430085" y="1490854"/>
              <a:ext cx="3143400" cy="371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93">
                  <a:solidFill>
                    <a:srgbClr val="ED1C24"/>
                  </a:solidFill>
                  <a:latin typeface="Calibri"/>
                  <a:ea typeface="Calibri"/>
                  <a:cs typeface="Calibri"/>
                  <a:sym typeface="Calibri"/>
                </a:rPr>
                <a:t>Ireneo (c. 180 d.C.) defiende el apostolado de Pablo:</a:t>
              </a:r>
              <a:endParaRPr b="1" sz="1893">
                <a:solidFill>
                  <a:srgbClr val="ED1C24"/>
                </a:solidFill>
                <a:latin typeface="Calibri"/>
                <a:ea typeface="Calibri"/>
                <a:cs typeface="Calibri"/>
                <a:sym typeface="Calibri"/>
              </a:endParaRPr>
            </a:p>
            <a:p>
              <a:pPr indent="0" lvl="0" marL="0" rtl="0" algn="ctr">
                <a:spcBef>
                  <a:spcPts val="1200"/>
                </a:spcBef>
                <a:spcAft>
                  <a:spcPts val="0"/>
                </a:spcAft>
                <a:buNone/>
              </a:pPr>
              <a:r>
                <a:rPr lang="en-US" sz="2393">
                  <a:solidFill>
                    <a:srgbClr val="1A1A1A"/>
                  </a:solidFill>
                  <a:latin typeface="Calibri"/>
                  <a:ea typeface="Calibri"/>
                  <a:cs typeface="Calibri"/>
                  <a:sym typeface="Calibri"/>
                </a:rPr>
                <a:t>Los que, por tanto, no lo aceptan [como maestro], a quien Dios escogió para este propósito, para que llevase con valentía su nombre, como enviado a las naciones ya mencionadas, desprecian la elección de Dios y se separan de la compañía de los apóstoles. Pues ni pueden sostener que Pablo no fue apóstol, cuando fue escogido para este propósito; ni pueden probar que Lucas miente, cuando nos anuncia diligentemente la verdad.</a:t>
              </a:r>
              <a:endParaRPr sz="2393">
                <a:solidFill>
                  <a:srgbClr val="1A1A1A"/>
                </a:solidFill>
                <a:latin typeface="Calibri"/>
                <a:ea typeface="Calibri"/>
                <a:cs typeface="Calibri"/>
                <a:sym typeface="Calibri"/>
              </a:endParaRPr>
            </a:p>
            <a:p>
              <a:pPr indent="0" lvl="0" marL="0" rtl="0" algn="ctr">
                <a:spcBef>
                  <a:spcPts val="1599"/>
                </a:spcBef>
                <a:spcAft>
                  <a:spcPts val="0"/>
                </a:spcAft>
                <a:buNone/>
              </a:pPr>
              <a:r>
                <a:rPr i="1" lang="en-US" sz="1173">
                  <a:solidFill>
                    <a:srgbClr val="4A4A4A"/>
                  </a:solidFill>
                  <a:latin typeface="Calibri"/>
                  <a:ea typeface="Calibri"/>
                  <a:cs typeface="Calibri"/>
                  <a:sym typeface="Calibri"/>
                </a:rPr>
                <a:t>(</a:t>
              </a:r>
              <a:r>
                <a:rPr i="1" lang="en-US" sz="1100">
                  <a:solidFill>
                    <a:srgbClr val="4A4A4A"/>
                  </a:solidFill>
                  <a:latin typeface="Calibri"/>
                  <a:ea typeface="Calibri"/>
                  <a:cs typeface="Calibri"/>
                  <a:sym typeface="Calibri"/>
                </a:rPr>
                <a:t>Ireneo de Lyon, Contra las Herejías 3.15.1</a:t>
              </a:r>
              <a:r>
                <a:rPr i="1" lang="en-US" sz="1173">
                  <a:solidFill>
                    <a:srgbClr val="4A4A4A"/>
                  </a:solidFill>
                  <a:latin typeface="Calibri"/>
                  <a:ea typeface="Calibri"/>
                  <a:cs typeface="Calibri"/>
                  <a:sym typeface="Calibri"/>
                </a:rPr>
                <a:t>)</a:t>
              </a:r>
              <a:endParaRPr i="1" sz="1173">
                <a:solidFill>
                  <a:srgbClr val="4A4A4A"/>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pic>
        <p:nvPicPr>
          <p:cNvPr id="115" name="Google Shape;115;p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6" name="Google Shape;116;p11"/>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1"/>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2. Herejías antiguas que negaron la autoridad de Pablo</a:t>
            </a:r>
            <a:endParaRPr b="1" sz="3200">
              <a:solidFill>
                <a:srgbClr val="FFFFFF"/>
              </a:solidFill>
              <a:latin typeface="Oswald"/>
              <a:ea typeface="Oswald"/>
              <a:cs typeface="Oswald"/>
              <a:sym typeface="Oswald"/>
            </a:endParaRPr>
          </a:p>
        </p:txBody>
      </p:sp>
      <p:grpSp>
        <p:nvGrpSpPr>
          <p:cNvPr id="118" name="Google Shape;118;p11"/>
          <p:cNvGrpSpPr/>
          <p:nvPr/>
        </p:nvGrpSpPr>
        <p:grpSpPr>
          <a:xfrm>
            <a:off x="610800" y="1083219"/>
            <a:ext cx="10970400" cy="5555894"/>
            <a:chOff x="4287284" y="1371056"/>
            <a:chExt cx="3429000" cy="4000500"/>
          </a:xfrm>
        </p:grpSpPr>
        <p:sp>
          <p:nvSpPr>
            <p:cNvPr id="119" name="Google Shape;119;p11"/>
            <p:cNvSpPr/>
            <p:nvPr/>
          </p:nvSpPr>
          <p:spPr>
            <a:xfrm>
              <a:off x="4287284" y="1371056"/>
              <a:ext cx="3429000" cy="4000500"/>
            </a:xfrm>
            <a:prstGeom prst="roundRect">
              <a:avLst>
                <a:gd fmla="val 4166"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1"/>
            <p:cNvSpPr txBox="1"/>
            <p:nvPr/>
          </p:nvSpPr>
          <p:spPr>
            <a:xfrm>
              <a:off x="4430085" y="1490854"/>
              <a:ext cx="3143400" cy="371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93">
                  <a:solidFill>
                    <a:srgbClr val="ED1C24"/>
                  </a:solidFill>
                  <a:latin typeface="Calibri"/>
                  <a:ea typeface="Calibri"/>
                  <a:cs typeface="Calibri"/>
                  <a:sym typeface="Calibri"/>
                </a:rPr>
                <a:t>Epifanio (c. 374-377 d.C.) documenta las acusaciones de los ebionitas contra Pablo:</a:t>
              </a:r>
              <a:endParaRPr b="1" sz="1893">
                <a:solidFill>
                  <a:srgbClr val="ED1C24"/>
                </a:solidFill>
                <a:latin typeface="Calibri"/>
                <a:ea typeface="Calibri"/>
                <a:cs typeface="Calibri"/>
                <a:sym typeface="Calibri"/>
              </a:endParaRPr>
            </a:p>
            <a:p>
              <a:pPr indent="0" lvl="0" marL="0" rtl="0" algn="ctr">
                <a:spcBef>
                  <a:spcPts val="1200"/>
                </a:spcBef>
                <a:spcAft>
                  <a:spcPts val="0"/>
                </a:spcAft>
                <a:buNone/>
              </a:pPr>
              <a:r>
                <a:rPr lang="en-US" sz="2393">
                  <a:solidFill>
                    <a:srgbClr val="1A1A1A"/>
                  </a:solidFill>
                  <a:latin typeface="Calibri"/>
                  <a:ea typeface="Calibri"/>
                  <a:cs typeface="Calibri"/>
                  <a:sym typeface="Calibri"/>
                </a:rPr>
                <a:t>Y no se avergüenzan de acusar aquí a Pablo, con ciertas invenciones de la villanía e impostura de sus falsos apóstoles. Dicen que era de Tarso, cosa que él mismo admite y no niega. Y suponen que era de linaje griego, tomando ocasión para ello del (mismo) pasaje, por su franca afirmación: “Yo soy un hombre de Tarso, ciudadano de una ciudad no insignificante.” Luego afirman que era griego y hijo de madre griega y padre griego, pero que había subido a Jerusalén, se quedó allí por un tiempo, deseó casarse con una hija del sumo sacerdote y por eso se hizo prosélito y fue circuncidado…</a:t>
              </a:r>
              <a:endParaRPr sz="2393">
                <a:solidFill>
                  <a:srgbClr val="1A1A1A"/>
                </a:solidFill>
                <a:latin typeface="Calibri"/>
                <a:ea typeface="Calibri"/>
                <a:cs typeface="Calibri"/>
                <a:sym typeface="Calibri"/>
              </a:endParaRPr>
            </a:p>
            <a:p>
              <a:pPr indent="0" lvl="0" marL="0" rtl="0" algn="ctr">
                <a:spcBef>
                  <a:spcPts val="1599"/>
                </a:spcBef>
                <a:spcAft>
                  <a:spcPts val="0"/>
                </a:spcAft>
                <a:buNone/>
              </a:pPr>
              <a:r>
                <a:rPr i="1" lang="en-US" sz="1173">
                  <a:solidFill>
                    <a:srgbClr val="4A4A4A"/>
                  </a:solidFill>
                  <a:latin typeface="Calibri"/>
                  <a:ea typeface="Calibri"/>
                  <a:cs typeface="Calibri"/>
                  <a:sym typeface="Calibri"/>
                </a:rPr>
                <a:t>(</a:t>
              </a:r>
              <a:r>
                <a:rPr i="1" lang="en-US" sz="1100">
                  <a:solidFill>
                    <a:srgbClr val="4A4A4A"/>
                  </a:solidFill>
                  <a:latin typeface="Calibri"/>
                  <a:ea typeface="Calibri"/>
                  <a:cs typeface="Calibri"/>
                  <a:sym typeface="Calibri"/>
                </a:rPr>
                <a:t>Epifanio de Salamina, Panarion 30.16.8-9; 30.17.1</a:t>
              </a:r>
              <a:r>
                <a:rPr i="1" lang="en-US" sz="1173">
                  <a:solidFill>
                    <a:srgbClr val="4A4A4A"/>
                  </a:solidFill>
                  <a:latin typeface="Calibri"/>
                  <a:ea typeface="Calibri"/>
                  <a:cs typeface="Calibri"/>
                  <a:sym typeface="Calibri"/>
                </a:rPr>
                <a:t>)</a:t>
              </a:r>
              <a:endParaRPr i="1" sz="1173">
                <a:solidFill>
                  <a:srgbClr val="4A4A4A"/>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pic>
        <p:nvPicPr>
          <p:cNvPr id="126" name="Google Shape;126;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7" name="Google Shape;127;p12"/>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2"/>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2. Herejías antiguas que negaron la autoridad de Pablo</a:t>
            </a:r>
            <a:endParaRPr b="1" sz="3200">
              <a:solidFill>
                <a:srgbClr val="FFFFFF"/>
              </a:solidFill>
              <a:latin typeface="Oswald"/>
              <a:ea typeface="Oswald"/>
              <a:cs typeface="Oswald"/>
              <a:sym typeface="Oswald"/>
            </a:endParaRPr>
          </a:p>
        </p:txBody>
      </p:sp>
      <p:grpSp>
        <p:nvGrpSpPr>
          <p:cNvPr id="129" name="Google Shape;129;p12"/>
          <p:cNvGrpSpPr/>
          <p:nvPr/>
        </p:nvGrpSpPr>
        <p:grpSpPr>
          <a:xfrm>
            <a:off x="610800" y="1083219"/>
            <a:ext cx="10970400" cy="5555894"/>
            <a:chOff x="4287284" y="1371056"/>
            <a:chExt cx="3429000" cy="4000500"/>
          </a:xfrm>
        </p:grpSpPr>
        <p:sp>
          <p:nvSpPr>
            <p:cNvPr id="130" name="Google Shape;130;p12"/>
            <p:cNvSpPr/>
            <p:nvPr/>
          </p:nvSpPr>
          <p:spPr>
            <a:xfrm>
              <a:off x="4287284" y="1371056"/>
              <a:ext cx="3429000" cy="4000500"/>
            </a:xfrm>
            <a:prstGeom prst="roundRect">
              <a:avLst>
                <a:gd fmla="val 4166"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2"/>
            <p:cNvSpPr txBox="1"/>
            <p:nvPr/>
          </p:nvSpPr>
          <p:spPr>
            <a:xfrm>
              <a:off x="4430085" y="1490854"/>
              <a:ext cx="3143400" cy="371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93">
                  <a:solidFill>
                    <a:srgbClr val="ED1C24"/>
                  </a:solidFill>
                  <a:latin typeface="Calibri"/>
                  <a:ea typeface="Calibri"/>
                  <a:cs typeface="Calibri"/>
                  <a:sym typeface="Calibri"/>
                </a:rPr>
                <a:t>Epifanio (c. 374-377 d.C.) documenta las acusaciones de los ebionitas contra Pablo:</a:t>
              </a:r>
              <a:endParaRPr b="1" sz="1893">
                <a:solidFill>
                  <a:srgbClr val="ED1C24"/>
                </a:solidFill>
                <a:latin typeface="Calibri"/>
                <a:ea typeface="Calibri"/>
                <a:cs typeface="Calibri"/>
                <a:sym typeface="Calibri"/>
              </a:endParaRPr>
            </a:p>
            <a:p>
              <a:pPr indent="0" lvl="0" marL="0" rtl="0" algn="ctr">
                <a:spcBef>
                  <a:spcPts val="1200"/>
                </a:spcBef>
                <a:spcAft>
                  <a:spcPts val="0"/>
                </a:spcAft>
                <a:buNone/>
              </a:pPr>
              <a:r>
                <a:rPr lang="en-US" sz="2393">
                  <a:solidFill>
                    <a:srgbClr val="1A1A1A"/>
                  </a:solidFill>
                  <a:latin typeface="Calibri"/>
                  <a:ea typeface="Calibri"/>
                  <a:cs typeface="Calibri"/>
                  <a:sym typeface="Calibri"/>
                </a:rPr>
                <a:t>Pero como aun así no pudo casarse con una joven de ese tipo, se enojó y escribió contra la circuncisión, contra el sábado y contra la legislación. Pero él está lanzando una acusación completamente falsa, esta horrible serpiente con su pobreza de entendimiento. Porque “Ebion”, traducido del hebreo al griego, significa “pobre”. Pues verdaderamente es pobre en entendimiento, esperanza y realidad, puesto que considera a Cristo como un mero hombre…</a:t>
              </a:r>
              <a:endParaRPr sz="2393">
                <a:solidFill>
                  <a:srgbClr val="1A1A1A"/>
                </a:solidFill>
                <a:latin typeface="Calibri"/>
                <a:ea typeface="Calibri"/>
                <a:cs typeface="Calibri"/>
                <a:sym typeface="Calibri"/>
              </a:endParaRPr>
            </a:p>
            <a:p>
              <a:pPr indent="0" lvl="0" marL="0" rtl="0" algn="ctr">
                <a:spcBef>
                  <a:spcPts val="1599"/>
                </a:spcBef>
                <a:spcAft>
                  <a:spcPts val="0"/>
                </a:spcAft>
                <a:buNone/>
              </a:pPr>
              <a:r>
                <a:rPr i="1" lang="en-US" sz="1173">
                  <a:solidFill>
                    <a:srgbClr val="4A4A4A"/>
                  </a:solidFill>
                  <a:latin typeface="Calibri"/>
                  <a:ea typeface="Calibri"/>
                  <a:cs typeface="Calibri"/>
                  <a:sym typeface="Calibri"/>
                </a:rPr>
                <a:t>(</a:t>
              </a:r>
              <a:r>
                <a:rPr i="1" lang="en-US" sz="1100">
                  <a:solidFill>
                    <a:srgbClr val="4A4A4A"/>
                  </a:solidFill>
                  <a:latin typeface="Calibri"/>
                  <a:ea typeface="Calibri"/>
                  <a:cs typeface="Calibri"/>
                  <a:sym typeface="Calibri"/>
                </a:rPr>
                <a:t>Epifanio de Salamina, Panarion 30.16.8-9; 30.17.1</a:t>
              </a:r>
              <a:r>
                <a:rPr i="1" lang="en-US" sz="1173">
                  <a:solidFill>
                    <a:srgbClr val="4A4A4A"/>
                  </a:solidFill>
                  <a:latin typeface="Calibri"/>
                  <a:ea typeface="Calibri"/>
                  <a:cs typeface="Calibri"/>
                  <a:sym typeface="Calibri"/>
                </a:rPr>
                <a:t>)</a:t>
              </a:r>
              <a:endParaRPr i="1" sz="1173">
                <a:solidFill>
                  <a:srgbClr val="4A4A4A"/>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13"/>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3"/>
          <p:cNvSpPr txBox="1"/>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3. RECHAZO MODERNO DE PABLO</a:t>
            </a:r>
            <a:endParaRPr b="1" sz="3200">
              <a:solidFill>
                <a:srgbClr val="FFFFFF"/>
              </a:solidFill>
              <a:latin typeface="Oswald"/>
              <a:ea typeface="Oswald"/>
              <a:cs typeface="Oswald"/>
              <a:sym typeface="Oswald"/>
            </a:endParaRPr>
          </a:p>
        </p:txBody>
      </p:sp>
      <p:grpSp>
        <p:nvGrpSpPr>
          <p:cNvPr id="137" name="Google Shape;137;p13"/>
          <p:cNvGrpSpPr/>
          <p:nvPr/>
        </p:nvGrpSpPr>
        <p:grpSpPr>
          <a:xfrm>
            <a:off x="476250" y="1238250"/>
            <a:ext cx="5476800" cy="2238300"/>
            <a:chOff x="476250" y="1238250"/>
            <a:chExt cx="5476800" cy="2238300"/>
          </a:xfrm>
        </p:grpSpPr>
        <p:sp>
          <p:nvSpPr>
            <p:cNvPr id="138" name="Google Shape;138;p13"/>
            <p:cNvSpPr/>
            <p:nvPr/>
          </p:nvSpPr>
          <p:spPr>
            <a:xfrm>
              <a:off x="476250" y="1238250"/>
              <a:ext cx="5476800" cy="2238300"/>
            </a:xfrm>
            <a:prstGeom prst="roundRect">
              <a:avLst>
                <a:gd fmla="val 5106" name="adj"/>
              </a:avLst>
            </a:prstGeom>
            <a:solidFill>
              <a:srgbClr val="F5F7FB"/>
            </a:solidFill>
            <a:ln cap="flat" cmpd="sng" w="19050">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3"/>
            <p:cNvSpPr txBox="1"/>
            <p:nvPr/>
          </p:nvSpPr>
          <p:spPr>
            <a:xfrm>
              <a:off x="714375" y="1476375"/>
              <a:ext cx="50007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D1C24"/>
                  </a:solidFill>
                  <a:latin typeface="Oswald"/>
                  <a:ea typeface="Oswald"/>
                  <a:cs typeface="Oswald"/>
                  <a:sym typeface="Oswald"/>
                </a:rPr>
                <a:t>CRÍTICA FILOSÓFICA</a:t>
              </a:r>
              <a:endParaRPr b="1" sz="1800">
                <a:solidFill>
                  <a:srgbClr val="ED1C24"/>
                </a:solidFill>
                <a:latin typeface="Oswald"/>
                <a:ea typeface="Oswald"/>
                <a:cs typeface="Oswald"/>
                <a:sym typeface="Oswald"/>
              </a:endParaRPr>
            </a:p>
          </p:txBody>
        </p:sp>
        <p:sp>
          <p:nvSpPr>
            <p:cNvPr id="140" name="Google Shape;140;p13"/>
            <p:cNvSpPr txBox="1"/>
            <p:nvPr/>
          </p:nvSpPr>
          <p:spPr>
            <a:xfrm>
              <a:off x="714375" y="1905000"/>
              <a:ext cx="50007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050EF"/>
                  </a:solidFill>
                  <a:latin typeface="Calibri"/>
                  <a:ea typeface="Calibri"/>
                  <a:cs typeface="Calibri"/>
                  <a:sym typeface="Calibri"/>
                </a:rPr>
                <a:t>Friedrich Nietzsche (1888)</a:t>
              </a:r>
              <a:endParaRPr b="1" sz="1400">
                <a:solidFill>
                  <a:srgbClr val="0050EF"/>
                </a:solidFill>
                <a:latin typeface="Calibri"/>
                <a:ea typeface="Calibri"/>
                <a:cs typeface="Calibri"/>
                <a:sym typeface="Calibri"/>
              </a:endParaRPr>
            </a:p>
            <a:p>
              <a:pPr indent="0" lvl="0" marL="0" rtl="0" algn="l">
                <a:spcBef>
                  <a:spcPts val="600"/>
                </a:spcBef>
                <a:spcAft>
                  <a:spcPts val="0"/>
                </a:spcAft>
                <a:buNone/>
              </a:pPr>
              <a:r>
                <a:rPr b="0" lang="en-US" sz="1400">
                  <a:solidFill>
                    <a:srgbClr val="1A1A1A"/>
                  </a:solidFill>
                  <a:latin typeface="Calibri"/>
                  <a:ea typeface="Calibri"/>
                  <a:cs typeface="Calibri"/>
                  <a:sym typeface="Calibri"/>
                </a:rPr>
                <a:t>Ataca a Pablo en su obra </a:t>
              </a:r>
              <a:r>
                <a:rPr b="0" i="1" lang="en-US" sz="1400">
                  <a:solidFill>
                    <a:srgbClr val="1A1A1A"/>
                  </a:solidFill>
                  <a:latin typeface="Calibri"/>
                  <a:ea typeface="Calibri"/>
                  <a:cs typeface="Calibri"/>
                  <a:sym typeface="Calibri"/>
                </a:rPr>
                <a:t>El Anticristo</a:t>
              </a:r>
              <a:r>
                <a:rPr b="0" lang="en-US" sz="1400">
                  <a:solidFill>
                    <a:srgbClr val="1A1A1A"/>
                  </a:solidFill>
                  <a:latin typeface="Calibri"/>
                  <a:ea typeface="Calibri"/>
                  <a:cs typeface="Calibri"/>
                  <a:sym typeface="Calibri"/>
                </a:rPr>
                <a:t> con lenguaje extremo, cuestionando su interpretación de 1 Corintios y calificándolo de "impostor".</a:t>
              </a:r>
              <a:endParaRPr b="0" sz="1400">
                <a:solidFill>
                  <a:srgbClr val="1A1A1A"/>
                </a:solidFill>
                <a:latin typeface="Calibri"/>
                <a:ea typeface="Calibri"/>
                <a:cs typeface="Calibri"/>
                <a:sym typeface="Calibri"/>
              </a:endParaRPr>
            </a:p>
          </p:txBody>
        </p:sp>
      </p:grpSp>
      <p:grpSp>
        <p:nvGrpSpPr>
          <p:cNvPr id="141" name="Google Shape;141;p13"/>
          <p:cNvGrpSpPr/>
          <p:nvPr/>
        </p:nvGrpSpPr>
        <p:grpSpPr>
          <a:xfrm>
            <a:off x="6238875" y="1238250"/>
            <a:ext cx="5476800" cy="2238300"/>
            <a:chOff x="6238875" y="1238250"/>
            <a:chExt cx="5476800" cy="2238300"/>
          </a:xfrm>
        </p:grpSpPr>
        <p:sp>
          <p:nvSpPr>
            <p:cNvPr id="142" name="Google Shape;142;p13"/>
            <p:cNvSpPr/>
            <p:nvPr/>
          </p:nvSpPr>
          <p:spPr>
            <a:xfrm>
              <a:off x="6238875" y="1238250"/>
              <a:ext cx="5476800" cy="2238300"/>
            </a:xfrm>
            <a:prstGeom prst="roundRect">
              <a:avLst>
                <a:gd fmla="val 5106" name="adj"/>
              </a:avLst>
            </a:prstGeom>
            <a:solidFill>
              <a:srgbClr val="F5F7FB"/>
            </a:solidFill>
            <a:ln cap="flat" cmpd="sng" w="19050">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3"/>
            <p:cNvSpPr txBox="1"/>
            <p:nvPr/>
          </p:nvSpPr>
          <p:spPr>
            <a:xfrm>
              <a:off x="6477000" y="1476375"/>
              <a:ext cx="50007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D1C24"/>
                  </a:solidFill>
                  <a:latin typeface="Oswald"/>
                  <a:ea typeface="Oswald"/>
                  <a:cs typeface="Oswald"/>
                  <a:sym typeface="Oswald"/>
                </a:rPr>
                <a:t>CRÍTICA ACADÉMICA / DIGITAL</a:t>
              </a:r>
              <a:endParaRPr b="1" sz="1800">
                <a:solidFill>
                  <a:srgbClr val="ED1C24"/>
                </a:solidFill>
                <a:latin typeface="Oswald"/>
                <a:ea typeface="Oswald"/>
                <a:cs typeface="Oswald"/>
                <a:sym typeface="Oswald"/>
              </a:endParaRPr>
            </a:p>
          </p:txBody>
        </p:sp>
        <p:sp>
          <p:nvSpPr>
            <p:cNvPr id="144" name="Google Shape;144;p13"/>
            <p:cNvSpPr txBox="1"/>
            <p:nvPr/>
          </p:nvSpPr>
          <p:spPr>
            <a:xfrm>
              <a:off x="6477000" y="1905000"/>
              <a:ext cx="50007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050EF"/>
                  </a:solidFill>
                  <a:latin typeface="Calibri"/>
                  <a:ea typeface="Calibri"/>
                  <a:cs typeface="Calibri"/>
                  <a:sym typeface="Calibri"/>
                </a:rPr>
                <a:t>BartEhrman.com (2023)</a:t>
              </a:r>
              <a:endParaRPr b="1" sz="1400">
                <a:solidFill>
                  <a:srgbClr val="0050EF"/>
                </a:solidFill>
                <a:latin typeface="Calibri"/>
                <a:ea typeface="Calibri"/>
                <a:cs typeface="Calibri"/>
                <a:sym typeface="Calibri"/>
              </a:endParaRPr>
            </a:p>
            <a:p>
              <a:pPr indent="0" lvl="0" marL="0" rtl="0" algn="l">
                <a:spcBef>
                  <a:spcPts val="600"/>
                </a:spcBef>
                <a:spcAft>
                  <a:spcPts val="0"/>
                </a:spcAft>
                <a:buNone/>
              </a:pPr>
              <a:r>
                <a:rPr b="0" lang="en-US" sz="1400">
                  <a:solidFill>
                    <a:srgbClr val="1A1A1A"/>
                  </a:solidFill>
                  <a:latin typeface="Calibri"/>
                  <a:ea typeface="Calibri"/>
                  <a:cs typeface="Calibri"/>
                  <a:sym typeface="Calibri"/>
                </a:rPr>
                <a:t>Joshua Schachterle argumenta que Pablo y Jesús predicaron evangelios diferentes, resultando en un "cristianismo paulino" dominante.</a:t>
              </a:r>
              <a:endParaRPr b="0" sz="1400">
                <a:solidFill>
                  <a:srgbClr val="1A1A1A"/>
                </a:solidFill>
                <a:latin typeface="Calibri"/>
                <a:ea typeface="Calibri"/>
                <a:cs typeface="Calibri"/>
                <a:sym typeface="Calibri"/>
              </a:endParaRPr>
            </a:p>
          </p:txBody>
        </p:sp>
      </p:grpSp>
      <p:grpSp>
        <p:nvGrpSpPr>
          <p:cNvPr id="145" name="Google Shape;145;p13"/>
          <p:cNvGrpSpPr/>
          <p:nvPr/>
        </p:nvGrpSpPr>
        <p:grpSpPr>
          <a:xfrm>
            <a:off x="476250" y="3667125"/>
            <a:ext cx="5476800" cy="2238300"/>
            <a:chOff x="476250" y="3667125"/>
            <a:chExt cx="5476800" cy="2238300"/>
          </a:xfrm>
        </p:grpSpPr>
        <p:sp>
          <p:nvSpPr>
            <p:cNvPr id="146" name="Google Shape;146;p13"/>
            <p:cNvSpPr/>
            <p:nvPr/>
          </p:nvSpPr>
          <p:spPr>
            <a:xfrm>
              <a:off x="476250" y="3667125"/>
              <a:ext cx="5476800" cy="2238300"/>
            </a:xfrm>
            <a:prstGeom prst="roundRect">
              <a:avLst>
                <a:gd fmla="val 5106" name="adj"/>
              </a:avLst>
            </a:prstGeom>
            <a:solidFill>
              <a:srgbClr val="F5F7FB"/>
            </a:solidFill>
            <a:ln cap="flat" cmpd="sng" w="19050">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3"/>
            <p:cNvSpPr txBox="1"/>
            <p:nvPr/>
          </p:nvSpPr>
          <p:spPr>
            <a:xfrm>
              <a:off x="714375" y="3905250"/>
              <a:ext cx="50007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D1C24"/>
                  </a:solidFill>
                  <a:latin typeface="Oswald"/>
                  <a:ea typeface="Oswald"/>
                  <a:cs typeface="Oswald"/>
                  <a:sym typeface="Oswald"/>
                </a:rPr>
                <a:t>RECHAZO EN MEDIOS</a:t>
              </a:r>
              <a:endParaRPr b="1" sz="1800">
                <a:solidFill>
                  <a:srgbClr val="ED1C24"/>
                </a:solidFill>
                <a:latin typeface="Oswald"/>
                <a:ea typeface="Oswald"/>
                <a:cs typeface="Oswald"/>
                <a:sym typeface="Oswald"/>
              </a:endParaRPr>
            </a:p>
          </p:txBody>
        </p:sp>
        <p:sp>
          <p:nvSpPr>
            <p:cNvPr id="148" name="Google Shape;148;p13"/>
            <p:cNvSpPr txBox="1"/>
            <p:nvPr/>
          </p:nvSpPr>
          <p:spPr>
            <a:xfrm>
              <a:off x="714375" y="4333875"/>
              <a:ext cx="50007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050EF"/>
                  </a:solidFill>
                  <a:latin typeface="Calibri"/>
                  <a:ea typeface="Calibri"/>
                  <a:cs typeface="Calibri"/>
                  <a:sym typeface="Calibri"/>
                </a:rPr>
                <a:t>Justin Best (Christian Truthers)</a:t>
              </a:r>
              <a:endParaRPr b="1" sz="1400">
                <a:solidFill>
                  <a:srgbClr val="0050EF"/>
                </a:solidFill>
                <a:latin typeface="Calibri"/>
                <a:ea typeface="Calibri"/>
                <a:cs typeface="Calibri"/>
                <a:sym typeface="Calibri"/>
              </a:endParaRPr>
            </a:p>
            <a:p>
              <a:pPr indent="0" lvl="0" marL="0" rtl="0" algn="l">
                <a:spcBef>
                  <a:spcPts val="600"/>
                </a:spcBef>
                <a:spcAft>
                  <a:spcPts val="0"/>
                </a:spcAft>
                <a:buNone/>
              </a:pPr>
              <a:r>
                <a:rPr b="0" lang="en-US" sz="1400">
                  <a:solidFill>
                    <a:srgbClr val="1A1A1A"/>
                  </a:solidFill>
                  <a:latin typeface="Calibri"/>
                  <a:ea typeface="Calibri"/>
                  <a:cs typeface="Calibri"/>
                  <a:sym typeface="Calibri"/>
                </a:rPr>
                <a:t>Publicó "50 razones para nunca volver a citar a Pablo". Sus posturas extremas llevaron a cuestionar la mesianidad de Jesús.</a:t>
              </a:r>
              <a:endParaRPr b="0" sz="1400">
                <a:solidFill>
                  <a:srgbClr val="1A1A1A"/>
                </a:solidFill>
                <a:latin typeface="Calibri"/>
                <a:ea typeface="Calibri"/>
                <a:cs typeface="Calibri"/>
                <a:sym typeface="Calibri"/>
              </a:endParaRPr>
            </a:p>
          </p:txBody>
        </p:sp>
      </p:grpSp>
      <p:grpSp>
        <p:nvGrpSpPr>
          <p:cNvPr id="149" name="Google Shape;149;p13"/>
          <p:cNvGrpSpPr/>
          <p:nvPr/>
        </p:nvGrpSpPr>
        <p:grpSpPr>
          <a:xfrm>
            <a:off x="6238875" y="3667125"/>
            <a:ext cx="5476800" cy="2238300"/>
            <a:chOff x="6238875" y="3667125"/>
            <a:chExt cx="5476800" cy="2238300"/>
          </a:xfrm>
        </p:grpSpPr>
        <p:sp>
          <p:nvSpPr>
            <p:cNvPr id="150" name="Google Shape;150;p13"/>
            <p:cNvSpPr/>
            <p:nvPr/>
          </p:nvSpPr>
          <p:spPr>
            <a:xfrm>
              <a:off x="6238875" y="3667125"/>
              <a:ext cx="5476800" cy="2238300"/>
            </a:xfrm>
            <a:prstGeom prst="roundRect">
              <a:avLst>
                <a:gd fmla="val 5106" name="adj"/>
              </a:avLst>
            </a:prstGeom>
            <a:solidFill>
              <a:srgbClr val="F5F7FB"/>
            </a:solidFill>
            <a:ln cap="flat" cmpd="sng" w="19050">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3"/>
            <p:cNvSpPr txBox="1"/>
            <p:nvPr/>
          </p:nvSpPr>
          <p:spPr>
            <a:xfrm>
              <a:off x="6477000" y="3905250"/>
              <a:ext cx="50007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D1C24"/>
                  </a:solidFill>
                  <a:latin typeface="Oswald"/>
                  <a:ea typeface="Oswald"/>
                  <a:cs typeface="Oswald"/>
                  <a:sym typeface="Oswald"/>
                </a:rPr>
                <a:t>CORRIENTES MARGINALES</a:t>
              </a:r>
              <a:endParaRPr b="1" sz="1800">
                <a:solidFill>
                  <a:srgbClr val="ED1C24"/>
                </a:solidFill>
                <a:latin typeface="Oswald"/>
                <a:ea typeface="Oswald"/>
                <a:cs typeface="Oswald"/>
                <a:sym typeface="Oswald"/>
              </a:endParaRPr>
            </a:p>
          </p:txBody>
        </p:sp>
        <p:sp>
          <p:nvSpPr>
            <p:cNvPr id="152" name="Google Shape;152;p13"/>
            <p:cNvSpPr txBox="1"/>
            <p:nvPr/>
          </p:nvSpPr>
          <p:spPr>
            <a:xfrm>
              <a:off x="6477000" y="4333875"/>
              <a:ext cx="50007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050EF"/>
                  </a:solidFill>
                  <a:latin typeface="Calibri"/>
                  <a:ea typeface="Calibri"/>
                  <a:cs typeface="Calibri"/>
                  <a:sym typeface="Calibri"/>
                </a:rPr>
                <a:t>Grupos Cristianos Marginales</a:t>
              </a:r>
              <a:endParaRPr b="1" sz="1400">
                <a:solidFill>
                  <a:srgbClr val="0050EF"/>
                </a:solidFill>
                <a:latin typeface="Calibri"/>
                <a:ea typeface="Calibri"/>
                <a:cs typeface="Calibri"/>
                <a:sym typeface="Calibri"/>
              </a:endParaRPr>
            </a:p>
            <a:p>
              <a:pPr indent="-311150" lvl="0" marL="457200" rtl="0" algn="l">
                <a:spcBef>
                  <a:spcPts val="600"/>
                </a:spcBef>
                <a:spcAft>
                  <a:spcPts val="0"/>
                </a:spcAft>
                <a:buClr>
                  <a:srgbClr val="1A1A1A"/>
                </a:buClr>
                <a:buSzPts val="1300"/>
                <a:buFont typeface="Calibri"/>
                <a:buChar char="●"/>
              </a:pPr>
              <a:r>
                <a:rPr b="0" lang="en-US" sz="1300">
                  <a:solidFill>
                    <a:srgbClr val="1A1A1A"/>
                  </a:solidFill>
                  <a:latin typeface="Calibri"/>
                  <a:ea typeface="Calibri"/>
                  <a:cs typeface="Calibri"/>
                  <a:sym typeface="Calibri"/>
                </a:rPr>
                <a:t>Círculos "Jesus Words Only"</a:t>
              </a:r>
              <a:endParaRPr b="0" sz="1300">
                <a:solidFill>
                  <a:srgbClr val="1A1A1A"/>
                </a:solidFill>
                <a:latin typeface="Calibri"/>
                <a:ea typeface="Calibri"/>
                <a:cs typeface="Calibri"/>
                <a:sym typeface="Calibri"/>
              </a:endParaRPr>
            </a:p>
            <a:p>
              <a:pPr indent="-311150" lvl="0" marL="457200" rtl="0" algn="l">
                <a:spcBef>
                  <a:spcPts val="400"/>
                </a:spcBef>
                <a:spcAft>
                  <a:spcPts val="0"/>
                </a:spcAft>
                <a:buClr>
                  <a:srgbClr val="1A1A1A"/>
                </a:buClr>
                <a:buSzPts val="1300"/>
                <a:buFont typeface="Calibri"/>
                <a:buChar char="●"/>
              </a:pPr>
              <a:r>
                <a:rPr b="0" lang="en-US" sz="1300">
                  <a:solidFill>
                    <a:srgbClr val="1A1A1A"/>
                  </a:solidFill>
                  <a:latin typeface="Calibri"/>
                  <a:ea typeface="Calibri"/>
                  <a:cs typeface="Calibri"/>
                  <a:sym typeface="Calibri"/>
                </a:rPr>
                <a:t>Ebionitas modernos</a:t>
              </a:r>
              <a:endParaRPr b="0" sz="1300">
                <a:solidFill>
                  <a:srgbClr val="1A1A1A"/>
                </a:solidFill>
                <a:latin typeface="Calibri"/>
                <a:ea typeface="Calibri"/>
                <a:cs typeface="Calibri"/>
                <a:sym typeface="Calibri"/>
              </a:endParaRPr>
            </a:p>
            <a:p>
              <a:pPr indent="-311150" lvl="0" marL="457200" rtl="0" algn="l">
                <a:spcBef>
                  <a:spcPts val="400"/>
                </a:spcBef>
                <a:spcAft>
                  <a:spcPts val="0"/>
                </a:spcAft>
                <a:buClr>
                  <a:srgbClr val="1A1A1A"/>
                </a:buClr>
                <a:buSzPts val="1300"/>
                <a:buFont typeface="Calibri"/>
                <a:buChar char="●"/>
              </a:pPr>
              <a:r>
                <a:rPr b="0" lang="en-US" sz="1300">
                  <a:solidFill>
                    <a:srgbClr val="1A1A1A"/>
                  </a:solidFill>
                  <a:latin typeface="Calibri"/>
                  <a:ea typeface="Calibri"/>
                  <a:cs typeface="Calibri"/>
                  <a:sym typeface="Calibri"/>
                </a:rPr>
                <a:t>Grupos Hebreos Israelitas</a:t>
              </a:r>
              <a:endParaRPr b="0" sz="1300">
                <a:solidFill>
                  <a:srgbClr val="1A1A1A"/>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14"/>
          <p:cNvSpPr/>
          <p:nvPr/>
        </p:nvSpPr>
        <p:spPr>
          <a:xfrm>
            <a:off x="0" y="0"/>
            <a:ext cx="12191700" cy="6858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4"/>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Fuente: Friedrich Nietzsche (1888)</a:t>
            </a:r>
            <a:endParaRPr b="1" sz="3200">
              <a:solidFill>
                <a:srgbClr val="FFFFFF"/>
              </a:solidFill>
              <a:latin typeface="Oswald"/>
              <a:ea typeface="Oswald"/>
              <a:cs typeface="Oswald"/>
              <a:sym typeface="Oswald"/>
            </a:endParaRPr>
          </a:p>
        </p:txBody>
      </p:sp>
      <p:sp>
        <p:nvSpPr>
          <p:cNvPr id="161" name="Google Shape;161;p14"/>
          <p:cNvSpPr/>
          <p:nvPr/>
        </p:nvSpPr>
        <p:spPr>
          <a:xfrm>
            <a:off x="610791" y="1190625"/>
            <a:ext cx="10970400" cy="5334000"/>
          </a:xfrm>
          <a:prstGeom prst="roundRect">
            <a:avLst>
              <a:gd fmla="val 4339"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4"/>
          <p:cNvSpPr/>
          <p:nvPr/>
        </p:nvSpPr>
        <p:spPr>
          <a:xfrm>
            <a:off x="1067657" y="1428750"/>
            <a:ext cx="100566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ED1C24"/>
                </a:solidFill>
                <a:latin typeface="Oswald"/>
                <a:ea typeface="Oswald"/>
                <a:cs typeface="Oswald"/>
                <a:sym typeface="Oswald"/>
              </a:rPr>
              <a:t>En El Anticristo, Nietzsche ataca directamente a Pablo:</a:t>
            </a:r>
            <a:endParaRPr b="1" sz="2000">
              <a:solidFill>
                <a:srgbClr val="ED1C24"/>
              </a:solidFill>
              <a:latin typeface="Oswald"/>
              <a:ea typeface="Oswald"/>
              <a:cs typeface="Oswald"/>
              <a:sym typeface="Oswald"/>
            </a:endParaRPr>
          </a:p>
        </p:txBody>
      </p:sp>
      <p:sp>
        <p:nvSpPr>
          <p:cNvPr id="163" name="Google Shape;163;p14"/>
          <p:cNvSpPr/>
          <p:nvPr/>
        </p:nvSpPr>
        <p:spPr>
          <a:xfrm>
            <a:off x="1067657" y="2000250"/>
            <a:ext cx="10056600" cy="3619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1A1A1A"/>
                </a:solidFill>
                <a:latin typeface="Calibri"/>
                <a:ea typeface="Calibri"/>
                <a:cs typeface="Calibri"/>
                <a:sym typeface="Calibri"/>
              </a:rPr>
              <a:t>«San Pablo, con esa insolencia rabínica que se muestra en todo lo que hace, dio una forma lógica a esa concepción, a esa concepción indecente, de este modo: “¡Si Cristo no resucitó de entre los muertos, toda nuestra fe es vana!” Y de inmediato surgió de los Evangelios la más despreciable de todas las promesas irrealizables: la desvergonzada doctrina de la inmortalidad personal… Pablo incluso la predicó como recompensa…» Además, escribe: «El pasaje 1 Corintios 6:2 es una pieza de primera importancia para la caracterización de un psicólogo de fanáticos. Se trata del discurso de un loco. Y, por otra parte, el sacerdote debe ser este tipo de persona: este espantoso impostor…»</a:t>
            </a:r>
            <a:endParaRPr b="0" sz="2000">
              <a:solidFill>
                <a:srgbClr val="1A1A1A"/>
              </a:solidFill>
              <a:latin typeface="Calibri"/>
              <a:ea typeface="Calibri"/>
              <a:cs typeface="Calibri"/>
              <a:sym typeface="Calibri"/>
            </a:endParaRPr>
          </a:p>
        </p:txBody>
      </p:sp>
      <p:sp>
        <p:nvSpPr>
          <p:cNvPr id="164" name="Google Shape;164;p14"/>
          <p:cNvSpPr/>
          <p:nvPr/>
        </p:nvSpPr>
        <p:spPr>
          <a:xfrm>
            <a:off x="1067657" y="5715000"/>
            <a:ext cx="10056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150">
                <a:solidFill>
                  <a:srgbClr val="4A4A4A"/>
                </a:solidFill>
                <a:latin typeface="Calibri"/>
                <a:ea typeface="Calibri"/>
                <a:cs typeface="Calibri"/>
                <a:sym typeface="Calibri"/>
              </a:rPr>
              <a:t>Friedrich Nietzsche, El Anticristo, §§41 y 45</a:t>
            </a:r>
            <a:endParaRPr b="0" i="1" sz="1150">
              <a:solidFill>
                <a:srgbClr val="4A4A4A"/>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15"/>
          <p:cNvSpPr/>
          <p:nvPr/>
        </p:nvSpPr>
        <p:spPr>
          <a:xfrm>
            <a:off x="0" y="0"/>
            <a:ext cx="12192000" cy="952500"/>
          </a:xfrm>
          <a:prstGeom prst="rect">
            <a:avLst/>
          </a:prstGeom>
          <a:solidFill>
            <a:srgbClr val="0050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5"/>
          <p:cNvSpPr/>
          <p:nvPr/>
        </p:nvSpPr>
        <p:spPr>
          <a:xfrm>
            <a:off x="381000" y="0"/>
            <a:ext cx="11430000" cy="9525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3200">
                <a:solidFill>
                  <a:srgbClr val="FFFFFF"/>
                </a:solidFill>
                <a:latin typeface="Oswald"/>
                <a:ea typeface="Oswald"/>
                <a:cs typeface="Oswald"/>
                <a:sym typeface="Oswald"/>
              </a:rPr>
              <a:t>Fuente: BartEhrman.com (17 nov. 2023)</a:t>
            </a:r>
            <a:endParaRPr b="1" sz="3200">
              <a:solidFill>
                <a:srgbClr val="FFFFFF"/>
              </a:solidFill>
              <a:latin typeface="Oswald"/>
              <a:ea typeface="Oswald"/>
              <a:cs typeface="Oswald"/>
              <a:sym typeface="Oswald"/>
            </a:endParaRPr>
          </a:p>
        </p:txBody>
      </p:sp>
      <p:sp>
        <p:nvSpPr>
          <p:cNvPr id="172" name="Google Shape;172;p15"/>
          <p:cNvSpPr/>
          <p:nvPr/>
        </p:nvSpPr>
        <p:spPr>
          <a:xfrm>
            <a:off x="610791" y="1190625"/>
            <a:ext cx="10970400" cy="5334000"/>
          </a:xfrm>
          <a:prstGeom prst="roundRect">
            <a:avLst>
              <a:gd fmla="val 4339" name="adj"/>
            </a:avLst>
          </a:prstGeom>
          <a:solidFill>
            <a:srgbClr val="FFFFFF"/>
          </a:solidFill>
          <a:ln cap="flat" cmpd="sng" w="30475">
            <a:solidFill>
              <a:srgbClr val="ED1C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5"/>
          <p:cNvSpPr/>
          <p:nvPr/>
        </p:nvSpPr>
        <p:spPr>
          <a:xfrm>
            <a:off x="1067753" y="1428750"/>
            <a:ext cx="100566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ED1C24"/>
                </a:solidFill>
                <a:latin typeface="Oswald"/>
                <a:ea typeface="Oswald"/>
                <a:cs typeface="Oswald"/>
                <a:sym typeface="Oswald"/>
              </a:rPr>
              <a:t>Conclusión del artículo sobre Pablo y Jesús:</a:t>
            </a:r>
            <a:endParaRPr b="1" sz="2000">
              <a:solidFill>
                <a:srgbClr val="ED1C24"/>
              </a:solidFill>
              <a:latin typeface="Oswald"/>
              <a:ea typeface="Oswald"/>
              <a:cs typeface="Oswald"/>
              <a:sym typeface="Oswald"/>
            </a:endParaRPr>
          </a:p>
        </p:txBody>
      </p:sp>
      <p:sp>
        <p:nvSpPr>
          <p:cNvPr id="174" name="Google Shape;174;p15"/>
          <p:cNvSpPr/>
          <p:nvPr/>
        </p:nvSpPr>
        <p:spPr>
          <a:xfrm>
            <a:off x="1067753" y="2000250"/>
            <a:ext cx="10056600" cy="3619500"/>
          </a:xfrm>
          <a:prstGeom prst="rect">
            <a:avLst/>
          </a:prstGeom>
          <a:solidFill>
            <a:srgbClr val="000000">
              <a:alpha val="0"/>
            </a:srgbClr>
          </a:solid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b="0" lang="en-US" sz="2200">
                <a:solidFill>
                  <a:srgbClr val="1A1A1A"/>
                </a:solidFill>
                <a:latin typeface="Calibri"/>
                <a:ea typeface="Calibri"/>
                <a:cs typeface="Calibri"/>
                <a:sym typeface="Calibri"/>
              </a:rPr>
              <a:t>«¿Predicaron Pablo y Jesús el mismo evangelio? A estas alturas, debería ser evidente que Pablo y Jesús predicaron evangelios muy diferentes. Sin embargo, el cristianismo de Pablo, que él difundió personalmente y luego por medio de sus cartas después de su muerte, eventualmente llegó a dominar».</a:t>
            </a:r>
            <a:endParaRPr b="0" sz="2200">
              <a:solidFill>
                <a:srgbClr val="1A1A1A"/>
              </a:solidFill>
              <a:latin typeface="Calibri"/>
              <a:ea typeface="Calibri"/>
              <a:cs typeface="Calibri"/>
              <a:sym typeface="Calibri"/>
            </a:endParaRPr>
          </a:p>
        </p:txBody>
      </p:sp>
      <p:sp>
        <p:nvSpPr>
          <p:cNvPr id="175" name="Google Shape;175;p15"/>
          <p:cNvSpPr/>
          <p:nvPr/>
        </p:nvSpPr>
        <p:spPr>
          <a:xfrm>
            <a:off x="1067753" y="5715000"/>
            <a:ext cx="10056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150">
                <a:solidFill>
                  <a:srgbClr val="4A4A4A"/>
                </a:solidFill>
                <a:latin typeface="Calibri"/>
                <a:ea typeface="Calibri"/>
                <a:cs typeface="Calibri"/>
                <a:sym typeface="Calibri"/>
              </a:rPr>
              <a:t>Joshua Schachterle, “Paul’s Christianity: How the Apostle Molded the Christian Faith”, BartEhrman.com</a:t>
            </a:r>
            <a:endParaRPr b="0" i="1" sz="1150">
              <a:solidFill>
                <a:srgbClr val="4A4A4A"/>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16"/>
          <p:cNvSpPr/>
          <p:nvPr/>
        </p:nvSpPr>
        <p:spPr>
          <a:xfrm>
            <a:off x="0" y="0"/>
            <a:ext cx="12192000" cy="11430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6"/>
          <p:cNvSpPr txBox="1"/>
          <p:nvPr/>
        </p:nvSpPr>
        <p:spPr>
          <a:xfrm>
            <a:off x="381000" y="95250"/>
            <a:ext cx="1143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Oswald"/>
                <a:ea typeface="Oswald"/>
                <a:cs typeface="Oswald"/>
                <a:sym typeface="Oswald"/>
              </a:rPr>
              <a:t>Debemos escuchar a Pablo, pero no porque fuera perfecto</a:t>
            </a:r>
            <a:endParaRPr b="1" sz="3200">
              <a:solidFill>
                <a:srgbClr val="FFFFFF"/>
              </a:solidFill>
              <a:latin typeface="Oswald"/>
              <a:ea typeface="Oswald"/>
              <a:cs typeface="Oswald"/>
              <a:sym typeface="Oswald"/>
            </a:endParaRPr>
          </a:p>
        </p:txBody>
      </p:sp>
      <p:sp>
        <p:nvSpPr>
          <p:cNvPr id="183" name="Google Shape;183;p16"/>
          <p:cNvSpPr txBox="1"/>
          <p:nvPr/>
        </p:nvSpPr>
        <p:spPr>
          <a:xfrm>
            <a:off x="571500" y="1238250"/>
            <a:ext cx="11049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50EF"/>
                </a:solidFill>
                <a:latin typeface="Oswald"/>
                <a:ea typeface="Oswald"/>
                <a:cs typeface="Oswald"/>
                <a:sym typeface="Oswald"/>
              </a:rPr>
              <a:t>No es por sus credenciales personales</a:t>
            </a:r>
            <a:endParaRPr b="1" sz="1800">
              <a:solidFill>
                <a:srgbClr val="0050EF"/>
              </a:solidFill>
              <a:latin typeface="Oswald"/>
              <a:ea typeface="Oswald"/>
              <a:cs typeface="Oswald"/>
              <a:sym typeface="Oswald"/>
            </a:endParaRPr>
          </a:p>
        </p:txBody>
      </p:sp>
      <p:sp>
        <p:nvSpPr>
          <p:cNvPr id="184" name="Google Shape;184;p16"/>
          <p:cNvSpPr/>
          <p:nvPr/>
        </p:nvSpPr>
        <p:spPr>
          <a:xfrm>
            <a:off x="381000" y="1905000"/>
            <a:ext cx="3619500" cy="4572000"/>
          </a:xfrm>
          <a:prstGeom prst="roundRect">
            <a:avLst>
              <a:gd fmla="val 3947"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6"/>
          <p:cNvSpPr txBox="1"/>
          <p:nvPr/>
        </p:nvSpPr>
        <p:spPr>
          <a:xfrm>
            <a:off x="571500" y="2095500"/>
            <a:ext cx="3238500" cy="419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000">
                <a:solidFill>
                  <a:srgbClr val="ED1721"/>
                </a:solidFill>
                <a:latin typeface="Material Icons"/>
                <a:ea typeface="Material Icons"/>
                <a:cs typeface="Material Icons"/>
                <a:sym typeface="Material Icons"/>
              </a:rPr>
              <a:t>history</a:t>
            </a:r>
            <a:endParaRPr b="0" sz="40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400">
                <a:solidFill>
                  <a:srgbClr val="0050EF"/>
                </a:solidFill>
                <a:latin typeface="Oswald"/>
                <a:ea typeface="Oswald"/>
                <a:cs typeface="Oswald"/>
                <a:sym typeface="Oswald"/>
              </a:rPr>
              <a:t>Pasado Imperfecto</a:t>
            </a:r>
            <a:endParaRPr b="1" sz="2400">
              <a:solidFill>
                <a:srgbClr val="0050EF"/>
              </a:solidFill>
              <a:latin typeface="Oswald"/>
              <a:ea typeface="Oswald"/>
              <a:cs typeface="Oswald"/>
              <a:sym typeface="Oswald"/>
            </a:endParaRPr>
          </a:p>
          <a:p>
            <a:pPr indent="0" lvl="0" marL="0" rtl="0" algn="l">
              <a:spcBef>
                <a:spcPts val="750"/>
              </a:spcBef>
              <a:spcAft>
                <a:spcPts val="0"/>
              </a:spcAft>
              <a:buNone/>
            </a:pPr>
            <a:r>
              <a:rPr b="0" lang="en-US" sz="1500">
                <a:solidFill>
                  <a:srgbClr val="333333"/>
                </a:solidFill>
                <a:latin typeface="Calibri"/>
                <a:ea typeface="Calibri"/>
                <a:cs typeface="Calibri"/>
                <a:sym typeface="Calibri"/>
              </a:rPr>
              <a:t>No fue escuchado porque su pasado fuera intachable o admirable.</a:t>
            </a:r>
            <a:endParaRPr b="0" sz="1500">
              <a:solidFill>
                <a:srgbClr val="333333"/>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Gálatas 1:10, 13, 23</a:t>
            </a:r>
            <a:endParaRPr b="1" i="1" sz="1200">
              <a:solidFill>
                <a:srgbClr val="ED1721"/>
              </a:solidFill>
              <a:latin typeface="Calibri"/>
              <a:ea typeface="Calibri"/>
              <a:cs typeface="Calibri"/>
              <a:sym typeface="Calibri"/>
            </a:endParaRPr>
          </a:p>
          <a:p>
            <a:pPr indent="0" lvl="0" marL="0" rtl="0" algn="l">
              <a:spcBef>
                <a:spcPts val="375"/>
              </a:spcBef>
              <a:spcAft>
                <a:spcPts val="0"/>
              </a:spcAft>
              <a:buNone/>
            </a:pPr>
            <a:r>
              <a:rPr b="1" i="1" lang="en-US" sz="1200">
                <a:solidFill>
                  <a:srgbClr val="ED1721"/>
                </a:solidFill>
                <a:latin typeface="Calibri"/>
                <a:ea typeface="Calibri"/>
                <a:cs typeface="Calibri"/>
                <a:sym typeface="Calibri"/>
              </a:rPr>
              <a:t>1 Timoteo 1:13-16</a:t>
            </a:r>
            <a:endParaRPr b="1" i="1" sz="1200">
              <a:solidFill>
                <a:srgbClr val="ED1721"/>
              </a:solidFill>
              <a:latin typeface="Calibri"/>
              <a:ea typeface="Calibri"/>
              <a:cs typeface="Calibri"/>
              <a:sym typeface="Calibri"/>
            </a:endParaRPr>
          </a:p>
          <a:p>
            <a:pPr indent="0" lvl="0" marL="0" rtl="0" algn="l">
              <a:spcBef>
                <a:spcPts val="375"/>
              </a:spcBef>
              <a:spcAft>
                <a:spcPts val="0"/>
              </a:spcAft>
              <a:buNone/>
            </a:pPr>
            <a:r>
              <a:rPr b="1" i="1" lang="en-US" sz="1200">
                <a:solidFill>
                  <a:srgbClr val="ED1721"/>
                </a:solidFill>
                <a:latin typeface="Calibri"/>
                <a:ea typeface="Calibri"/>
                <a:cs typeface="Calibri"/>
                <a:sym typeface="Calibri"/>
              </a:rPr>
              <a:t>Filipenses 3:4-8</a:t>
            </a:r>
            <a:endParaRPr b="1" i="1" sz="1200">
              <a:solidFill>
                <a:srgbClr val="ED1721"/>
              </a:solidFill>
              <a:latin typeface="Calibri"/>
              <a:ea typeface="Calibri"/>
              <a:cs typeface="Calibri"/>
              <a:sym typeface="Calibri"/>
            </a:endParaRPr>
          </a:p>
        </p:txBody>
      </p:sp>
      <p:sp>
        <p:nvSpPr>
          <p:cNvPr id="186" name="Google Shape;186;p16"/>
          <p:cNvSpPr/>
          <p:nvPr/>
        </p:nvSpPr>
        <p:spPr>
          <a:xfrm>
            <a:off x="4286250" y="1905000"/>
            <a:ext cx="3619500" cy="4572000"/>
          </a:xfrm>
          <a:prstGeom prst="roundRect">
            <a:avLst>
              <a:gd fmla="val 3947"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6"/>
          <p:cNvSpPr txBox="1"/>
          <p:nvPr/>
        </p:nvSpPr>
        <p:spPr>
          <a:xfrm>
            <a:off x="4476750" y="2095500"/>
            <a:ext cx="3238500" cy="419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000">
                <a:solidFill>
                  <a:srgbClr val="ED1721"/>
                </a:solidFill>
                <a:latin typeface="Material Icons"/>
                <a:ea typeface="Material Icons"/>
                <a:cs typeface="Material Icons"/>
                <a:sym typeface="Material Icons"/>
              </a:rPr>
              <a:t>autorenew</a:t>
            </a:r>
            <a:endParaRPr b="0" sz="40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400">
                <a:solidFill>
                  <a:srgbClr val="0050EF"/>
                </a:solidFill>
                <a:latin typeface="Oswald"/>
                <a:ea typeface="Oswald"/>
                <a:cs typeface="Oswald"/>
                <a:sym typeface="Oswald"/>
              </a:rPr>
              <a:t>Santificación</a:t>
            </a:r>
            <a:r>
              <a:rPr b="1" lang="en-US" sz="2400">
                <a:solidFill>
                  <a:srgbClr val="0050EF"/>
                </a:solidFill>
                <a:latin typeface="Oswald"/>
                <a:ea typeface="Oswald"/>
                <a:cs typeface="Oswald"/>
                <a:sym typeface="Oswald"/>
              </a:rPr>
              <a:t> </a:t>
            </a:r>
            <a:r>
              <a:rPr b="1" lang="en-US" sz="2400">
                <a:solidFill>
                  <a:srgbClr val="0050EF"/>
                </a:solidFill>
                <a:latin typeface="Oswald"/>
                <a:ea typeface="Oswald"/>
                <a:cs typeface="Oswald"/>
                <a:sym typeface="Oswald"/>
              </a:rPr>
              <a:t>en Proceso</a:t>
            </a:r>
            <a:endParaRPr b="1" sz="2400">
              <a:solidFill>
                <a:srgbClr val="0050EF"/>
              </a:solidFill>
              <a:latin typeface="Oswald"/>
              <a:ea typeface="Oswald"/>
              <a:cs typeface="Oswald"/>
              <a:sym typeface="Oswald"/>
            </a:endParaRPr>
          </a:p>
          <a:p>
            <a:pPr indent="0" lvl="0" marL="0" rtl="0" algn="l">
              <a:spcBef>
                <a:spcPts val="750"/>
              </a:spcBef>
              <a:spcAft>
                <a:spcPts val="0"/>
              </a:spcAft>
              <a:buNone/>
            </a:pPr>
            <a:r>
              <a:rPr b="0" lang="en-US" sz="1500">
                <a:solidFill>
                  <a:srgbClr val="333333"/>
                </a:solidFill>
                <a:latin typeface="Calibri"/>
                <a:ea typeface="Calibri"/>
                <a:cs typeface="Calibri"/>
                <a:sym typeface="Calibri"/>
              </a:rPr>
              <a:t>No porque fuera perfecto inmediatamente después de su conversión.</a:t>
            </a:r>
            <a:endParaRPr b="0" sz="1500">
              <a:solidFill>
                <a:srgbClr val="333333"/>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Filipenses 3:12-14</a:t>
            </a:r>
            <a:endParaRPr b="1" i="1" sz="1200">
              <a:solidFill>
                <a:srgbClr val="ED1721"/>
              </a:solidFill>
              <a:latin typeface="Calibri"/>
              <a:ea typeface="Calibri"/>
              <a:cs typeface="Calibri"/>
              <a:sym typeface="Calibri"/>
            </a:endParaRPr>
          </a:p>
        </p:txBody>
      </p:sp>
      <p:sp>
        <p:nvSpPr>
          <p:cNvPr id="188" name="Google Shape;188;p16"/>
          <p:cNvSpPr/>
          <p:nvPr/>
        </p:nvSpPr>
        <p:spPr>
          <a:xfrm>
            <a:off x="8191500" y="1905000"/>
            <a:ext cx="3619500" cy="4572000"/>
          </a:xfrm>
          <a:prstGeom prst="roundRect">
            <a:avLst>
              <a:gd fmla="val 3947"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6"/>
          <p:cNvSpPr txBox="1"/>
          <p:nvPr/>
        </p:nvSpPr>
        <p:spPr>
          <a:xfrm>
            <a:off x="8382000" y="2095500"/>
            <a:ext cx="3238500" cy="419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000">
                <a:solidFill>
                  <a:srgbClr val="ED1721"/>
                </a:solidFill>
                <a:latin typeface="Material Icons"/>
                <a:ea typeface="Material Icons"/>
                <a:cs typeface="Material Icons"/>
                <a:sym typeface="Material Icons"/>
              </a:rPr>
              <a:t>warning</a:t>
            </a:r>
            <a:endParaRPr b="0" sz="40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400">
                <a:solidFill>
                  <a:srgbClr val="0050EF"/>
                </a:solidFill>
                <a:latin typeface="Oswald"/>
                <a:ea typeface="Oswald"/>
                <a:cs typeface="Oswald"/>
                <a:sym typeface="Oswald"/>
              </a:rPr>
              <a:t>Fragilidad Humana</a:t>
            </a:r>
            <a:endParaRPr b="1" sz="2400">
              <a:solidFill>
                <a:srgbClr val="0050EF"/>
              </a:solidFill>
              <a:latin typeface="Oswald"/>
              <a:ea typeface="Oswald"/>
              <a:cs typeface="Oswald"/>
              <a:sym typeface="Oswald"/>
            </a:endParaRPr>
          </a:p>
          <a:p>
            <a:pPr indent="0" lvl="0" marL="0" rtl="0" algn="l">
              <a:spcBef>
                <a:spcPts val="750"/>
              </a:spcBef>
              <a:spcAft>
                <a:spcPts val="0"/>
              </a:spcAft>
              <a:buNone/>
            </a:pPr>
            <a:r>
              <a:rPr b="0" lang="en-US" sz="1500">
                <a:solidFill>
                  <a:srgbClr val="333333"/>
                </a:solidFill>
                <a:latin typeface="Calibri"/>
                <a:ea typeface="Calibri"/>
                <a:cs typeface="Calibri"/>
                <a:sym typeface="Calibri"/>
              </a:rPr>
              <a:t>No porque fuera imposible que cometiera pecado en el futuro.</a:t>
            </a:r>
            <a:endParaRPr b="0" sz="1500">
              <a:solidFill>
                <a:srgbClr val="333333"/>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1 Corintios 9:27; 10:12</a:t>
            </a:r>
            <a:endParaRPr b="1" i="1" sz="1200">
              <a:solidFill>
                <a:srgbClr val="ED172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17"/>
          <p:cNvSpPr/>
          <p:nvPr/>
        </p:nvSpPr>
        <p:spPr>
          <a:xfrm>
            <a:off x="0" y="0"/>
            <a:ext cx="12192000" cy="11430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7"/>
          <p:cNvSpPr txBox="1"/>
          <p:nvPr/>
        </p:nvSpPr>
        <p:spPr>
          <a:xfrm>
            <a:off x="381000" y="95250"/>
            <a:ext cx="1143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Oswald"/>
                <a:ea typeface="Oswald"/>
                <a:cs typeface="Oswald"/>
                <a:sym typeface="Oswald"/>
              </a:rPr>
              <a:t>Debemos escuchar a Pablo, pero no por su imagen de “pastor”</a:t>
            </a:r>
            <a:endParaRPr b="1" sz="3200">
              <a:solidFill>
                <a:srgbClr val="FFFFFF"/>
              </a:solidFill>
              <a:latin typeface="Oswald"/>
              <a:ea typeface="Oswald"/>
              <a:cs typeface="Oswald"/>
              <a:sym typeface="Oswald"/>
            </a:endParaRPr>
          </a:p>
        </p:txBody>
      </p:sp>
      <p:sp>
        <p:nvSpPr>
          <p:cNvPr id="197" name="Google Shape;197;p17"/>
          <p:cNvSpPr txBox="1"/>
          <p:nvPr/>
        </p:nvSpPr>
        <p:spPr>
          <a:xfrm>
            <a:off x="571500" y="1238250"/>
            <a:ext cx="11049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50EF"/>
                </a:solidFill>
                <a:latin typeface="Oswald"/>
                <a:ea typeface="Oswald"/>
                <a:cs typeface="Oswald"/>
                <a:sym typeface="Oswald"/>
              </a:rPr>
              <a:t>No es por sus credenciales personales</a:t>
            </a:r>
            <a:endParaRPr b="1" sz="1800">
              <a:solidFill>
                <a:srgbClr val="0050EF"/>
              </a:solidFill>
              <a:latin typeface="Oswald"/>
              <a:ea typeface="Oswald"/>
              <a:cs typeface="Oswald"/>
              <a:sym typeface="Oswald"/>
            </a:endParaRPr>
          </a:p>
        </p:txBody>
      </p:sp>
      <p:grpSp>
        <p:nvGrpSpPr>
          <p:cNvPr id="198" name="Google Shape;198;p17"/>
          <p:cNvGrpSpPr/>
          <p:nvPr/>
        </p:nvGrpSpPr>
        <p:grpSpPr>
          <a:xfrm>
            <a:off x="1143000" y="2095500"/>
            <a:ext cx="4572000" cy="3810000"/>
            <a:chOff x="1143000" y="2095500"/>
            <a:chExt cx="4572000" cy="3810000"/>
          </a:xfrm>
        </p:grpSpPr>
        <p:sp>
          <p:nvSpPr>
            <p:cNvPr id="199" name="Google Shape;199;p17"/>
            <p:cNvSpPr/>
            <p:nvPr/>
          </p:nvSpPr>
          <p:spPr>
            <a:xfrm>
              <a:off x="1143000" y="2095500"/>
              <a:ext cx="4572000" cy="3810000"/>
            </a:xfrm>
            <a:prstGeom prst="roundRect">
              <a:avLst>
                <a:gd fmla="val 3750"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7"/>
            <p:cNvSpPr txBox="1"/>
            <p:nvPr/>
          </p:nvSpPr>
          <p:spPr>
            <a:xfrm>
              <a:off x="1333500" y="2286000"/>
              <a:ext cx="4191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ED1721"/>
                  </a:solidFill>
                  <a:latin typeface="Material Icons"/>
                  <a:ea typeface="Material Icons"/>
                  <a:cs typeface="Material Icons"/>
                  <a:sym typeface="Material Icons"/>
                </a:rPr>
                <a:t>record_voice_over</a:t>
              </a:r>
              <a:endParaRPr sz="4000">
                <a:solidFill>
                  <a:srgbClr val="ED1721"/>
                </a:solidFill>
                <a:latin typeface="Material Icons"/>
                <a:ea typeface="Material Icons"/>
                <a:cs typeface="Material Icons"/>
                <a:sym typeface="Material Icons"/>
              </a:endParaRPr>
            </a:p>
            <a:p>
              <a:pPr indent="0" lvl="0" marL="0" rtl="0" algn="l">
                <a:spcBef>
                  <a:spcPts val="1125"/>
                </a:spcBef>
                <a:spcAft>
                  <a:spcPts val="0"/>
                </a:spcAft>
                <a:buNone/>
              </a:pPr>
              <a:r>
                <a:rPr b="1" lang="en-US" sz="2400">
                  <a:solidFill>
                    <a:srgbClr val="0050EF"/>
                  </a:solidFill>
                  <a:latin typeface="Oswald"/>
                  <a:ea typeface="Oswald"/>
                  <a:cs typeface="Oswald"/>
                  <a:sym typeface="Oswald"/>
                </a:rPr>
                <a:t>Elocuencia</a:t>
              </a:r>
              <a:endParaRPr b="1" sz="2400">
                <a:solidFill>
                  <a:srgbClr val="0050EF"/>
                </a:solidFill>
                <a:latin typeface="Oswald"/>
                <a:ea typeface="Oswald"/>
                <a:cs typeface="Oswald"/>
                <a:sym typeface="Oswald"/>
              </a:endParaRPr>
            </a:p>
            <a:p>
              <a:pPr indent="0" lvl="0" marL="0" rtl="0" algn="l">
                <a:spcBef>
                  <a:spcPts val="1125"/>
                </a:spcBef>
                <a:spcAft>
                  <a:spcPts val="0"/>
                </a:spcAft>
                <a:buNone/>
              </a:pPr>
              <a:r>
                <a:rPr lang="en-US" sz="1600">
                  <a:solidFill>
                    <a:srgbClr val="333333"/>
                  </a:solidFill>
                  <a:latin typeface="Calibri"/>
                  <a:ea typeface="Calibri"/>
                  <a:cs typeface="Calibri"/>
                  <a:sym typeface="Calibri"/>
                </a:rPr>
                <a:t>No fue escuchado por su capacidad oratoria o elocuencia personal.</a:t>
              </a:r>
              <a:endParaRPr sz="1600">
                <a:solidFill>
                  <a:srgbClr val="333333"/>
                </a:solidFill>
                <a:latin typeface="Calibri"/>
                <a:ea typeface="Calibri"/>
                <a:cs typeface="Calibri"/>
                <a:sym typeface="Calibri"/>
              </a:endParaRPr>
            </a:p>
            <a:p>
              <a:pPr indent="0" lvl="0" marL="0" rtl="0" algn="l">
                <a:spcBef>
                  <a:spcPts val="1500"/>
                </a:spcBef>
                <a:spcAft>
                  <a:spcPts val="0"/>
                </a:spcAft>
                <a:buNone/>
              </a:pPr>
              <a:r>
                <a:rPr b="1" i="1" lang="en-US" sz="1400">
                  <a:solidFill>
                    <a:srgbClr val="ED1721"/>
                  </a:solidFill>
                  <a:latin typeface="Calibri"/>
                  <a:ea typeface="Calibri"/>
                  <a:cs typeface="Calibri"/>
                  <a:sym typeface="Calibri"/>
                </a:rPr>
                <a:t>1 Corintios 2:1-5</a:t>
              </a:r>
              <a:endParaRPr b="1" i="1" sz="1400">
                <a:solidFill>
                  <a:srgbClr val="ED1721"/>
                </a:solidFill>
                <a:latin typeface="Calibri"/>
                <a:ea typeface="Calibri"/>
                <a:cs typeface="Calibri"/>
                <a:sym typeface="Calibri"/>
              </a:endParaRPr>
            </a:p>
            <a:p>
              <a:pPr indent="0" lvl="0" marL="0" rtl="0" algn="l">
                <a:spcBef>
                  <a:spcPts val="0"/>
                </a:spcBef>
                <a:spcAft>
                  <a:spcPts val="0"/>
                </a:spcAft>
                <a:buNone/>
              </a:pPr>
              <a:r>
                <a:rPr b="1" i="1" lang="en-US" sz="1400">
                  <a:solidFill>
                    <a:srgbClr val="ED1721"/>
                  </a:solidFill>
                  <a:latin typeface="Calibri"/>
                  <a:ea typeface="Calibri"/>
                  <a:cs typeface="Calibri"/>
                  <a:sym typeface="Calibri"/>
                </a:rPr>
                <a:t>2 Corintios 10:10</a:t>
              </a:r>
              <a:endParaRPr b="1" i="1" sz="1400">
                <a:solidFill>
                  <a:srgbClr val="ED1721"/>
                </a:solidFill>
                <a:latin typeface="Calibri"/>
                <a:ea typeface="Calibri"/>
                <a:cs typeface="Calibri"/>
                <a:sym typeface="Calibri"/>
              </a:endParaRPr>
            </a:p>
          </p:txBody>
        </p:sp>
      </p:grpSp>
      <p:grpSp>
        <p:nvGrpSpPr>
          <p:cNvPr id="201" name="Google Shape;201;p17"/>
          <p:cNvGrpSpPr/>
          <p:nvPr/>
        </p:nvGrpSpPr>
        <p:grpSpPr>
          <a:xfrm>
            <a:off x="6477000" y="2095500"/>
            <a:ext cx="4572000" cy="3810000"/>
            <a:chOff x="6477000" y="2095500"/>
            <a:chExt cx="4572000" cy="3810000"/>
          </a:xfrm>
        </p:grpSpPr>
        <p:sp>
          <p:nvSpPr>
            <p:cNvPr id="202" name="Google Shape;202;p17"/>
            <p:cNvSpPr/>
            <p:nvPr/>
          </p:nvSpPr>
          <p:spPr>
            <a:xfrm>
              <a:off x="6477000" y="2095500"/>
              <a:ext cx="4572000" cy="3810000"/>
            </a:xfrm>
            <a:prstGeom prst="roundRect">
              <a:avLst>
                <a:gd fmla="val 3750"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7"/>
            <p:cNvSpPr txBox="1"/>
            <p:nvPr/>
          </p:nvSpPr>
          <p:spPr>
            <a:xfrm>
              <a:off x="6667500" y="2286000"/>
              <a:ext cx="4191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ED1721"/>
                  </a:solidFill>
                  <a:latin typeface="Material Icons"/>
                  <a:ea typeface="Material Icons"/>
                  <a:cs typeface="Material Icons"/>
                  <a:sym typeface="Material Icons"/>
                </a:rPr>
                <a:t>fitness_center</a:t>
              </a:r>
              <a:endParaRPr sz="4000">
                <a:solidFill>
                  <a:srgbClr val="ED1721"/>
                </a:solidFill>
                <a:latin typeface="Material Icons"/>
                <a:ea typeface="Material Icons"/>
                <a:cs typeface="Material Icons"/>
                <a:sym typeface="Material Icons"/>
              </a:endParaRPr>
            </a:p>
            <a:p>
              <a:pPr indent="0" lvl="0" marL="0" rtl="0" algn="l">
                <a:spcBef>
                  <a:spcPts val="1125"/>
                </a:spcBef>
                <a:spcAft>
                  <a:spcPts val="0"/>
                </a:spcAft>
                <a:buNone/>
              </a:pPr>
              <a:r>
                <a:rPr b="1" lang="en-US" sz="2400">
                  <a:solidFill>
                    <a:srgbClr val="0050EF"/>
                  </a:solidFill>
                  <a:latin typeface="Oswald"/>
                  <a:ea typeface="Oswald"/>
                  <a:cs typeface="Oswald"/>
                  <a:sym typeface="Oswald"/>
                </a:rPr>
                <a:t>Salud Física</a:t>
              </a:r>
              <a:endParaRPr b="1" sz="2400">
                <a:solidFill>
                  <a:srgbClr val="0050EF"/>
                </a:solidFill>
                <a:latin typeface="Oswald"/>
                <a:ea typeface="Oswald"/>
                <a:cs typeface="Oswald"/>
                <a:sym typeface="Oswald"/>
              </a:endParaRPr>
            </a:p>
            <a:p>
              <a:pPr indent="0" lvl="0" marL="0" rtl="0" algn="l">
                <a:spcBef>
                  <a:spcPts val="1125"/>
                </a:spcBef>
                <a:spcAft>
                  <a:spcPts val="0"/>
                </a:spcAft>
                <a:buNone/>
              </a:pPr>
              <a:r>
                <a:rPr lang="en-US" sz="1600">
                  <a:solidFill>
                    <a:srgbClr val="333333"/>
                  </a:solidFill>
                  <a:latin typeface="Calibri"/>
                  <a:ea typeface="Calibri"/>
                  <a:cs typeface="Calibri"/>
                  <a:sym typeface="Calibri"/>
                </a:rPr>
                <a:t>No por poseer una salud física extraordinaria o una imagen de fortaleza humana.</a:t>
              </a:r>
              <a:endParaRPr sz="1600">
                <a:solidFill>
                  <a:srgbClr val="333333"/>
                </a:solidFill>
                <a:latin typeface="Calibri"/>
                <a:ea typeface="Calibri"/>
                <a:cs typeface="Calibri"/>
                <a:sym typeface="Calibri"/>
              </a:endParaRPr>
            </a:p>
            <a:p>
              <a:pPr indent="0" lvl="0" marL="0" rtl="0" algn="l">
                <a:spcBef>
                  <a:spcPts val="1500"/>
                </a:spcBef>
                <a:spcAft>
                  <a:spcPts val="0"/>
                </a:spcAft>
                <a:buNone/>
              </a:pPr>
              <a:r>
                <a:rPr b="1" i="1" lang="en-US" sz="1400">
                  <a:solidFill>
                    <a:srgbClr val="ED1721"/>
                  </a:solidFill>
                  <a:latin typeface="Calibri"/>
                  <a:ea typeface="Calibri"/>
                  <a:cs typeface="Calibri"/>
                  <a:sym typeface="Calibri"/>
                </a:rPr>
                <a:t>Gálatas 4:13-14</a:t>
              </a:r>
              <a:endParaRPr b="1" i="1" sz="1400">
                <a:solidFill>
                  <a:srgbClr val="ED1721"/>
                </a:solidFill>
                <a:latin typeface="Calibri"/>
                <a:ea typeface="Calibri"/>
                <a:cs typeface="Calibri"/>
                <a:sym typeface="Calibri"/>
              </a:endParaRPr>
            </a:p>
            <a:p>
              <a:pPr indent="0" lvl="0" marL="0" rtl="0" algn="l">
                <a:spcBef>
                  <a:spcPts val="0"/>
                </a:spcBef>
                <a:spcAft>
                  <a:spcPts val="0"/>
                </a:spcAft>
                <a:buNone/>
              </a:pPr>
              <a:r>
                <a:rPr b="1" i="1" lang="en-US" sz="1400">
                  <a:solidFill>
                    <a:srgbClr val="ED1721"/>
                  </a:solidFill>
                  <a:latin typeface="Calibri"/>
                  <a:ea typeface="Calibri"/>
                  <a:cs typeface="Calibri"/>
                  <a:sym typeface="Calibri"/>
                </a:rPr>
                <a:t>2 Corintios 12:7-10</a:t>
              </a:r>
              <a:endParaRPr b="1" i="1" sz="1400">
                <a:solidFill>
                  <a:srgbClr val="ED172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18"/>
          <p:cNvSpPr/>
          <p:nvPr/>
        </p:nvSpPr>
        <p:spPr>
          <a:xfrm>
            <a:off x="0" y="0"/>
            <a:ext cx="12192000" cy="11430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8"/>
          <p:cNvSpPr/>
          <p:nvPr/>
        </p:nvSpPr>
        <p:spPr>
          <a:xfrm>
            <a:off x="381000" y="95250"/>
            <a:ext cx="1143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960">
                <a:solidFill>
                  <a:srgbClr val="FFFFFF"/>
                </a:solidFill>
                <a:latin typeface="Oswald"/>
                <a:ea typeface="Oswald"/>
                <a:cs typeface="Oswald"/>
                <a:sym typeface="Oswald"/>
              </a:rPr>
              <a:t>Debemos escuchar a Pablo, pero no por validación humana</a:t>
            </a:r>
            <a:endParaRPr b="1" sz="2960">
              <a:solidFill>
                <a:srgbClr val="FFFFFF"/>
              </a:solidFill>
              <a:latin typeface="Oswald"/>
              <a:ea typeface="Oswald"/>
              <a:cs typeface="Oswald"/>
              <a:sym typeface="Oswald"/>
            </a:endParaRPr>
          </a:p>
        </p:txBody>
      </p:sp>
      <p:grpSp>
        <p:nvGrpSpPr>
          <p:cNvPr id="211" name="Google Shape;211;p18"/>
          <p:cNvGrpSpPr/>
          <p:nvPr/>
        </p:nvGrpSpPr>
        <p:grpSpPr>
          <a:xfrm>
            <a:off x="571500" y="1238250"/>
            <a:ext cx="11049000" cy="381000"/>
            <a:chOff x="571500" y="1238250"/>
            <a:chExt cx="11049000" cy="381000"/>
          </a:xfrm>
        </p:grpSpPr>
        <p:sp>
          <p:nvSpPr>
            <p:cNvPr id="212" name="Google Shape;212;p18"/>
            <p:cNvSpPr/>
            <p:nvPr/>
          </p:nvSpPr>
          <p:spPr>
            <a:xfrm>
              <a:off x="571500" y="1238250"/>
              <a:ext cx="11049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txBox="1"/>
            <p:nvPr/>
          </p:nvSpPr>
          <p:spPr>
            <a:xfrm>
              <a:off x="571500" y="1238250"/>
              <a:ext cx="11049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50EF"/>
                  </a:solidFill>
                  <a:latin typeface="Oswald"/>
                  <a:ea typeface="Oswald"/>
                  <a:cs typeface="Oswald"/>
                  <a:sym typeface="Oswald"/>
                </a:rPr>
                <a:t>No es por su validación humana</a:t>
              </a:r>
              <a:endParaRPr b="1" sz="1800">
                <a:solidFill>
                  <a:srgbClr val="0050EF"/>
                </a:solidFill>
                <a:latin typeface="Oswald"/>
                <a:ea typeface="Oswald"/>
                <a:cs typeface="Oswald"/>
                <a:sym typeface="Oswald"/>
              </a:endParaRPr>
            </a:p>
          </p:txBody>
        </p:sp>
      </p:grpSp>
      <p:grpSp>
        <p:nvGrpSpPr>
          <p:cNvPr id="214" name="Google Shape;214;p18"/>
          <p:cNvGrpSpPr/>
          <p:nvPr/>
        </p:nvGrpSpPr>
        <p:grpSpPr>
          <a:xfrm>
            <a:off x="381000" y="1905000"/>
            <a:ext cx="3619500" cy="4572000"/>
            <a:chOff x="381000" y="1905000"/>
            <a:chExt cx="3619500" cy="4572000"/>
          </a:xfrm>
        </p:grpSpPr>
        <p:sp>
          <p:nvSpPr>
            <p:cNvPr id="215" name="Google Shape;215;p18"/>
            <p:cNvSpPr/>
            <p:nvPr/>
          </p:nvSpPr>
          <p:spPr>
            <a:xfrm>
              <a:off x="381000" y="1905000"/>
              <a:ext cx="3619500" cy="4572000"/>
            </a:xfrm>
            <a:prstGeom prst="roundRect">
              <a:avLst>
                <a:gd fmla="val 3947"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txBox="1"/>
            <p:nvPr/>
          </p:nvSpPr>
          <p:spPr>
            <a:xfrm>
              <a:off x="571500" y="2095500"/>
              <a:ext cx="32385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ED1721"/>
                  </a:solidFill>
                  <a:latin typeface="Material Icons"/>
                  <a:ea typeface="Material Icons"/>
                  <a:cs typeface="Material Icons"/>
                  <a:sym typeface="Material Icons"/>
                </a:rPr>
                <a:t>groups</a:t>
              </a:r>
              <a:endParaRPr sz="40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200">
                  <a:solidFill>
                    <a:srgbClr val="0050EF"/>
                  </a:solidFill>
                  <a:latin typeface="Oswald"/>
                  <a:ea typeface="Oswald"/>
                  <a:cs typeface="Oswald"/>
                  <a:sym typeface="Oswald"/>
                </a:rPr>
                <a:t>Comisionado</a:t>
              </a:r>
              <a:endParaRPr b="1" sz="2200">
                <a:solidFill>
                  <a:srgbClr val="0050EF"/>
                </a:solidFill>
                <a:latin typeface="Oswald"/>
                <a:ea typeface="Oswald"/>
                <a:cs typeface="Oswald"/>
                <a:sym typeface="Oswald"/>
              </a:endParaRPr>
            </a:p>
            <a:p>
              <a:pPr indent="0" lvl="0" marL="0" rtl="0" algn="l">
                <a:spcBef>
                  <a:spcPts val="750"/>
                </a:spcBef>
                <a:spcAft>
                  <a:spcPts val="0"/>
                </a:spcAft>
                <a:buNone/>
              </a:pPr>
              <a:r>
                <a:rPr lang="en-US" sz="1500">
                  <a:solidFill>
                    <a:srgbClr val="333333"/>
                  </a:solidFill>
                  <a:latin typeface="Calibri"/>
                  <a:ea typeface="Calibri"/>
                  <a:cs typeface="Calibri"/>
                  <a:sym typeface="Calibri"/>
                </a:rPr>
                <a:t>No porque lo comisionara un grupo de hombres.</a:t>
              </a:r>
              <a:endParaRPr sz="1500">
                <a:solidFill>
                  <a:srgbClr val="333333"/>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Gálatas 1:1; 1:11-12; 2 Corintios 3:1</a:t>
              </a:r>
              <a:endParaRPr b="1" i="1" sz="1200">
                <a:solidFill>
                  <a:srgbClr val="ED1721"/>
                </a:solidFill>
                <a:latin typeface="Calibri"/>
                <a:ea typeface="Calibri"/>
                <a:cs typeface="Calibri"/>
                <a:sym typeface="Calibri"/>
              </a:endParaRPr>
            </a:p>
          </p:txBody>
        </p:sp>
      </p:grpSp>
      <p:grpSp>
        <p:nvGrpSpPr>
          <p:cNvPr id="217" name="Google Shape;217;p18"/>
          <p:cNvGrpSpPr/>
          <p:nvPr/>
        </p:nvGrpSpPr>
        <p:grpSpPr>
          <a:xfrm>
            <a:off x="4286250" y="1905000"/>
            <a:ext cx="3619500" cy="4572000"/>
            <a:chOff x="4286250" y="1905000"/>
            <a:chExt cx="3619500" cy="4572000"/>
          </a:xfrm>
        </p:grpSpPr>
        <p:sp>
          <p:nvSpPr>
            <p:cNvPr id="218" name="Google Shape;218;p18"/>
            <p:cNvSpPr/>
            <p:nvPr/>
          </p:nvSpPr>
          <p:spPr>
            <a:xfrm>
              <a:off x="4286250" y="1905000"/>
              <a:ext cx="3619500" cy="4572000"/>
            </a:xfrm>
            <a:prstGeom prst="roundRect">
              <a:avLst>
                <a:gd fmla="val 3947"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8"/>
            <p:cNvSpPr txBox="1"/>
            <p:nvPr/>
          </p:nvSpPr>
          <p:spPr>
            <a:xfrm>
              <a:off x="4476750" y="2095500"/>
              <a:ext cx="32385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ED1721"/>
                  </a:solidFill>
                  <a:latin typeface="Material Icons"/>
                  <a:ea typeface="Material Icons"/>
                  <a:cs typeface="Material Icons"/>
                  <a:sym typeface="Material Icons"/>
                </a:rPr>
                <a:t>family_restroom</a:t>
              </a:r>
              <a:endParaRPr sz="40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200">
                  <a:solidFill>
                    <a:srgbClr val="0050EF"/>
                  </a:solidFill>
                  <a:latin typeface="Oswald"/>
                  <a:ea typeface="Oswald"/>
                  <a:cs typeface="Oswald"/>
                  <a:sym typeface="Oswald"/>
                </a:rPr>
                <a:t>Imagen Social</a:t>
              </a:r>
              <a:endParaRPr b="1" sz="2200">
                <a:solidFill>
                  <a:srgbClr val="0050EF"/>
                </a:solidFill>
                <a:latin typeface="Oswald"/>
                <a:ea typeface="Oswald"/>
                <a:cs typeface="Oswald"/>
                <a:sym typeface="Oswald"/>
              </a:endParaRPr>
            </a:p>
            <a:p>
              <a:pPr indent="0" lvl="0" marL="0" rtl="0" algn="l">
                <a:spcBef>
                  <a:spcPts val="750"/>
                </a:spcBef>
                <a:spcAft>
                  <a:spcPts val="0"/>
                </a:spcAft>
                <a:buNone/>
              </a:pPr>
              <a:r>
                <a:rPr lang="en-US" sz="1500">
                  <a:solidFill>
                    <a:srgbClr val="333333"/>
                  </a:solidFill>
                  <a:latin typeface="Calibri"/>
                  <a:ea typeface="Calibri"/>
                  <a:cs typeface="Calibri"/>
                  <a:sym typeface="Calibri"/>
                </a:rPr>
                <a:t>No por tener una familia “perfecta” o una imagen social ideal.</a:t>
              </a:r>
              <a:endParaRPr sz="1500">
                <a:solidFill>
                  <a:srgbClr val="333333"/>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1 Corintios 7:7-8; 9:5; Filipenses 3:8</a:t>
              </a:r>
              <a:endParaRPr b="1" i="1" sz="1200">
                <a:solidFill>
                  <a:srgbClr val="ED1721"/>
                </a:solidFill>
                <a:latin typeface="Calibri"/>
                <a:ea typeface="Calibri"/>
                <a:cs typeface="Calibri"/>
                <a:sym typeface="Calibri"/>
              </a:endParaRPr>
            </a:p>
          </p:txBody>
        </p:sp>
      </p:grpSp>
      <p:grpSp>
        <p:nvGrpSpPr>
          <p:cNvPr id="220" name="Google Shape;220;p18"/>
          <p:cNvGrpSpPr/>
          <p:nvPr/>
        </p:nvGrpSpPr>
        <p:grpSpPr>
          <a:xfrm>
            <a:off x="8191500" y="1905000"/>
            <a:ext cx="3619500" cy="4572000"/>
            <a:chOff x="8191500" y="1905000"/>
            <a:chExt cx="3619500" cy="4572000"/>
          </a:xfrm>
        </p:grpSpPr>
        <p:sp>
          <p:nvSpPr>
            <p:cNvPr id="221" name="Google Shape;221;p18"/>
            <p:cNvSpPr/>
            <p:nvPr/>
          </p:nvSpPr>
          <p:spPr>
            <a:xfrm>
              <a:off x="8191500" y="1905000"/>
              <a:ext cx="3619500" cy="4572000"/>
            </a:xfrm>
            <a:prstGeom prst="roundRect">
              <a:avLst>
                <a:gd fmla="val 3947" name="adj"/>
              </a:avLst>
            </a:prstGeom>
            <a:solidFill>
              <a:srgbClr val="FFFFFF"/>
            </a:solidFill>
            <a:ln cap="flat" cmpd="sng" w="28575">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8"/>
            <p:cNvSpPr txBox="1"/>
            <p:nvPr/>
          </p:nvSpPr>
          <p:spPr>
            <a:xfrm>
              <a:off x="8382000" y="2095500"/>
              <a:ext cx="32385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ED1721"/>
                  </a:solidFill>
                  <a:latin typeface="Material Icons"/>
                  <a:ea typeface="Material Icons"/>
                  <a:cs typeface="Material Icons"/>
                  <a:sym typeface="Material Icons"/>
                </a:rPr>
                <a:t>sentiment_very_satisfied</a:t>
              </a:r>
              <a:endParaRPr sz="40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200">
                  <a:solidFill>
                    <a:srgbClr val="0050EF"/>
                  </a:solidFill>
                  <a:latin typeface="Oswald"/>
                  <a:ea typeface="Oswald"/>
                  <a:cs typeface="Oswald"/>
                  <a:sym typeface="Oswald"/>
                </a:rPr>
                <a:t>Verdad Incomoda</a:t>
              </a:r>
              <a:endParaRPr b="1" sz="2200">
                <a:solidFill>
                  <a:srgbClr val="0050EF"/>
                </a:solidFill>
                <a:latin typeface="Oswald"/>
                <a:ea typeface="Oswald"/>
                <a:cs typeface="Oswald"/>
                <a:sym typeface="Oswald"/>
              </a:endParaRPr>
            </a:p>
            <a:p>
              <a:pPr indent="0" lvl="0" marL="0" rtl="0" algn="l">
                <a:spcBef>
                  <a:spcPts val="750"/>
                </a:spcBef>
                <a:spcAft>
                  <a:spcPts val="0"/>
                </a:spcAft>
                <a:buNone/>
              </a:pPr>
              <a:r>
                <a:rPr lang="en-US" sz="1500">
                  <a:solidFill>
                    <a:srgbClr val="333333"/>
                  </a:solidFill>
                  <a:latin typeface="Calibri"/>
                  <a:ea typeface="Calibri"/>
                  <a:cs typeface="Calibri"/>
                  <a:sym typeface="Calibri"/>
                </a:rPr>
                <a:t>No porque su enseñanza fuera conveniente o agradable para todos.</a:t>
              </a:r>
              <a:endParaRPr sz="1500">
                <a:solidFill>
                  <a:srgbClr val="333333"/>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Gálatas 1:10; 5:11</a:t>
              </a:r>
              <a:endParaRPr b="1" i="1" sz="1200">
                <a:solidFill>
                  <a:srgbClr val="ED172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19"/>
          <p:cNvSpPr/>
          <p:nvPr/>
        </p:nvSpPr>
        <p:spPr>
          <a:xfrm>
            <a:off x="0" y="0"/>
            <a:ext cx="12192000" cy="11430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9"/>
          <p:cNvSpPr txBox="1"/>
          <p:nvPr/>
        </p:nvSpPr>
        <p:spPr>
          <a:xfrm>
            <a:off x="381000" y="95250"/>
            <a:ext cx="1143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Oswald"/>
                <a:ea typeface="Oswald"/>
                <a:cs typeface="Oswald"/>
                <a:sym typeface="Oswald"/>
              </a:rPr>
              <a:t>Razones por las que sí debemos escuchar a Pablo</a:t>
            </a:r>
            <a:endParaRPr b="1" sz="3200">
              <a:solidFill>
                <a:srgbClr val="FFFFFF"/>
              </a:solidFill>
              <a:latin typeface="Oswald"/>
              <a:ea typeface="Oswald"/>
              <a:cs typeface="Oswald"/>
              <a:sym typeface="Oswald"/>
            </a:endParaRPr>
          </a:p>
        </p:txBody>
      </p:sp>
      <p:sp>
        <p:nvSpPr>
          <p:cNvPr id="230" name="Google Shape;230;p19"/>
          <p:cNvSpPr txBox="1"/>
          <p:nvPr/>
        </p:nvSpPr>
        <p:spPr>
          <a:xfrm>
            <a:off x="571500" y="1238250"/>
            <a:ext cx="11049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50EF"/>
                </a:solidFill>
                <a:latin typeface="Oswald"/>
                <a:ea typeface="Oswald"/>
                <a:cs typeface="Oswald"/>
                <a:sym typeface="Oswald"/>
              </a:rPr>
              <a:t>Evidencias de su Apostolado y Mensaje</a:t>
            </a:r>
            <a:endParaRPr b="1" sz="1800">
              <a:solidFill>
                <a:srgbClr val="0050EF"/>
              </a:solidFill>
              <a:latin typeface="Oswald"/>
              <a:ea typeface="Oswald"/>
              <a:cs typeface="Oswald"/>
              <a:sym typeface="Oswald"/>
            </a:endParaRPr>
          </a:p>
        </p:txBody>
      </p:sp>
      <p:grpSp>
        <p:nvGrpSpPr>
          <p:cNvPr id="231" name="Google Shape;231;p19"/>
          <p:cNvGrpSpPr/>
          <p:nvPr/>
        </p:nvGrpSpPr>
        <p:grpSpPr>
          <a:xfrm>
            <a:off x="333375" y="1809750"/>
            <a:ext cx="2667000" cy="4572000"/>
            <a:chOff x="333375" y="1809750"/>
            <a:chExt cx="2667000" cy="4572000"/>
          </a:xfrm>
        </p:grpSpPr>
        <p:sp>
          <p:nvSpPr>
            <p:cNvPr id="232" name="Google Shape;232;p19"/>
            <p:cNvSpPr/>
            <p:nvPr/>
          </p:nvSpPr>
          <p:spPr>
            <a:xfrm>
              <a:off x="333375" y="1809750"/>
              <a:ext cx="2667000" cy="4572000"/>
            </a:xfrm>
            <a:prstGeom prst="roundRect">
              <a:avLst>
                <a:gd fmla="val 5357" name="adj"/>
              </a:avLst>
            </a:prstGeom>
            <a:solidFill>
              <a:srgbClr val="FFFFFF"/>
            </a:solidFill>
            <a:ln cap="flat" cmpd="sng" w="19050">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ime style illustration of a dramatic 1st-century transformation. A rugged man with a beard and 1st-century robes looking up toward a blinding light from heaven, showing deep emotional change and spiritual awe. High quality, cinematic lighting." id="233" name="Google Shape;233;p19"/>
            <p:cNvPicPr preferRelativeResize="0"/>
            <p:nvPr/>
          </p:nvPicPr>
          <p:blipFill rotWithShape="1">
            <a:blip r:embed="rId4">
              <a:alphaModFix/>
            </a:blip>
            <a:srcRect b="0" l="778" r="787" t="0"/>
            <a:stretch/>
          </p:blipFill>
          <p:spPr>
            <a:xfrm>
              <a:off x="333375" y="1809750"/>
              <a:ext cx="2667000" cy="1524000"/>
            </a:xfrm>
            <a:prstGeom prst="roundRect">
              <a:avLst>
                <a:gd fmla="val 9375" name="adj"/>
              </a:avLst>
            </a:prstGeom>
            <a:noFill/>
            <a:ln>
              <a:noFill/>
            </a:ln>
          </p:spPr>
        </p:pic>
        <p:sp>
          <p:nvSpPr>
            <p:cNvPr id="234" name="Google Shape;234;p19"/>
            <p:cNvSpPr txBox="1"/>
            <p:nvPr/>
          </p:nvSpPr>
          <p:spPr>
            <a:xfrm>
              <a:off x="476250" y="3429000"/>
              <a:ext cx="2381400" cy="28575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2400">
                  <a:solidFill>
                    <a:srgbClr val="ED1721"/>
                  </a:solidFill>
                  <a:latin typeface="Material Icons"/>
                  <a:ea typeface="Material Icons"/>
                  <a:cs typeface="Material Icons"/>
                  <a:sym typeface="Material Icons"/>
                </a:rPr>
                <a:t>auto_awesome</a:t>
              </a:r>
              <a:endParaRPr b="1" sz="2400">
                <a:solidFill>
                  <a:srgbClr val="ED1721"/>
                </a:solidFill>
                <a:latin typeface="Material Icons"/>
                <a:ea typeface="Material Icons"/>
                <a:cs typeface="Material Icons"/>
                <a:sym typeface="Material Icons"/>
              </a:endParaRPr>
            </a:p>
            <a:p>
              <a:pPr indent="0" lvl="0" marL="0" rtl="0" algn="l">
                <a:spcBef>
                  <a:spcPts val="375"/>
                </a:spcBef>
                <a:spcAft>
                  <a:spcPts val="0"/>
                </a:spcAft>
                <a:buNone/>
              </a:pPr>
              <a:r>
                <a:rPr b="1" lang="en-US" sz="1800">
                  <a:solidFill>
                    <a:srgbClr val="0050EF"/>
                  </a:solidFill>
                  <a:latin typeface="Oswald"/>
                  <a:ea typeface="Oswald"/>
                  <a:cs typeface="Oswald"/>
                  <a:sym typeface="Oswald"/>
                </a:rPr>
                <a:t>Transformación</a:t>
              </a:r>
              <a:endParaRPr b="1" sz="1800">
                <a:solidFill>
                  <a:srgbClr val="0050EF"/>
                </a:solidFill>
                <a:latin typeface="Oswald"/>
                <a:ea typeface="Oswald"/>
                <a:cs typeface="Oswald"/>
                <a:sym typeface="Oswald"/>
              </a:endParaRPr>
            </a:p>
            <a:p>
              <a:pPr indent="0" lvl="0" marL="0" rtl="0" algn="l">
                <a:spcBef>
                  <a:spcPts val="375"/>
                </a:spcBef>
                <a:spcAft>
                  <a:spcPts val="0"/>
                </a:spcAft>
                <a:buNone/>
              </a:pPr>
              <a:r>
                <a:rPr b="0" lang="en-US" sz="1300">
                  <a:solidFill>
                    <a:srgbClr val="333333"/>
                  </a:solidFill>
                  <a:latin typeface="Calibri"/>
                  <a:ea typeface="Calibri"/>
                  <a:cs typeface="Calibri"/>
                  <a:sym typeface="Calibri"/>
                </a:rPr>
                <a:t>Su cambio personal evidenció la obra de Jesús en su vida.</a:t>
              </a:r>
              <a:endParaRPr b="0" sz="1300">
                <a:solidFill>
                  <a:srgbClr val="333333"/>
                </a:solidFill>
                <a:latin typeface="Calibri"/>
                <a:ea typeface="Calibri"/>
                <a:cs typeface="Calibri"/>
                <a:sym typeface="Calibri"/>
              </a:endParaRPr>
            </a:p>
            <a:p>
              <a:pPr indent="0" lvl="0" marL="0" rtl="0" algn="l">
                <a:spcBef>
                  <a:spcPts val="750"/>
                </a:spcBef>
                <a:spcAft>
                  <a:spcPts val="0"/>
                </a:spcAft>
                <a:buNone/>
              </a:pPr>
              <a:r>
                <a:rPr b="1" i="1" lang="en-US" sz="1200">
                  <a:solidFill>
                    <a:srgbClr val="ED1721"/>
                  </a:solidFill>
                  <a:latin typeface="Calibri"/>
                  <a:ea typeface="Calibri"/>
                  <a:cs typeface="Calibri"/>
                  <a:sym typeface="Calibri"/>
                </a:rPr>
                <a:t>Gálatas 1:13-16</a:t>
              </a:r>
              <a:endParaRPr b="1" i="1" sz="1200">
                <a:solidFill>
                  <a:srgbClr val="ED1721"/>
                </a:solidFill>
                <a:latin typeface="Calibri"/>
                <a:ea typeface="Calibri"/>
                <a:cs typeface="Calibri"/>
                <a:sym typeface="Calibri"/>
              </a:endParaRPr>
            </a:p>
          </p:txBody>
        </p:sp>
      </p:grpSp>
      <p:grpSp>
        <p:nvGrpSpPr>
          <p:cNvPr id="235" name="Google Shape;235;p19"/>
          <p:cNvGrpSpPr/>
          <p:nvPr/>
        </p:nvGrpSpPr>
        <p:grpSpPr>
          <a:xfrm>
            <a:off x="3286125" y="1809750"/>
            <a:ext cx="2667000" cy="4572000"/>
            <a:chOff x="3286125" y="1809750"/>
            <a:chExt cx="2667000" cy="4572000"/>
          </a:xfrm>
        </p:grpSpPr>
        <p:sp>
          <p:nvSpPr>
            <p:cNvPr id="236" name="Google Shape;236;p19"/>
            <p:cNvSpPr/>
            <p:nvPr/>
          </p:nvSpPr>
          <p:spPr>
            <a:xfrm>
              <a:off x="3286125" y="1809750"/>
              <a:ext cx="2667000" cy="4572000"/>
            </a:xfrm>
            <a:prstGeom prst="roundRect">
              <a:avLst>
                <a:gd fmla="val 5357" name="adj"/>
              </a:avLst>
            </a:prstGeom>
            <a:solidFill>
              <a:srgbClr val="FFFFFF"/>
            </a:solidFill>
            <a:ln cap="flat" cmpd="sng" w="19050">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ime style illustration of a 1st-century apostle preaching. A man in simple ancient robes standing on a small stone platform in a dusty marketplace, speaking with conviction to a small attentive crowd. 1st century Mediterranean setting." id="237" name="Google Shape;237;p19"/>
            <p:cNvPicPr preferRelativeResize="0"/>
            <p:nvPr/>
          </p:nvPicPr>
          <p:blipFill rotWithShape="1">
            <a:blip r:embed="rId5">
              <a:alphaModFix/>
            </a:blip>
            <a:srcRect b="0" l="778" r="787" t="0"/>
            <a:stretch/>
          </p:blipFill>
          <p:spPr>
            <a:xfrm>
              <a:off x="3286125" y="1809750"/>
              <a:ext cx="2667000" cy="1524000"/>
            </a:xfrm>
            <a:prstGeom prst="roundRect">
              <a:avLst>
                <a:gd fmla="val 9375" name="adj"/>
              </a:avLst>
            </a:prstGeom>
            <a:noFill/>
            <a:ln>
              <a:noFill/>
            </a:ln>
          </p:spPr>
        </p:pic>
        <p:sp>
          <p:nvSpPr>
            <p:cNvPr id="238" name="Google Shape;238;p19"/>
            <p:cNvSpPr txBox="1"/>
            <p:nvPr/>
          </p:nvSpPr>
          <p:spPr>
            <a:xfrm>
              <a:off x="3429000" y="3429000"/>
              <a:ext cx="2381400" cy="28575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2400">
                  <a:solidFill>
                    <a:srgbClr val="ED1721"/>
                  </a:solidFill>
                  <a:latin typeface="Material Icons"/>
                  <a:ea typeface="Material Icons"/>
                  <a:cs typeface="Material Icons"/>
                  <a:sym typeface="Material Icons"/>
                </a:rPr>
                <a:t>campaign</a:t>
              </a:r>
              <a:endParaRPr b="1" sz="2400">
                <a:solidFill>
                  <a:srgbClr val="ED1721"/>
                </a:solidFill>
                <a:latin typeface="Material Icons"/>
                <a:ea typeface="Material Icons"/>
                <a:cs typeface="Material Icons"/>
                <a:sym typeface="Material Icons"/>
              </a:endParaRPr>
            </a:p>
            <a:p>
              <a:pPr indent="0" lvl="0" marL="0" rtl="0" algn="l">
                <a:spcBef>
                  <a:spcPts val="375"/>
                </a:spcBef>
                <a:spcAft>
                  <a:spcPts val="0"/>
                </a:spcAft>
                <a:buNone/>
              </a:pPr>
              <a:r>
                <a:rPr b="1" lang="en-US" sz="1800">
                  <a:solidFill>
                    <a:srgbClr val="0050EF"/>
                  </a:solidFill>
                  <a:latin typeface="Oswald"/>
                  <a:ea typeface="Oswald"/>
                  <a:cs typeface="Oswald"/>
                  <a:sym typeface="Oswald"/>
                </a:rPr>
                <a:t>Predicación</a:t>
              </a:r>
              <a:endParaRPr b="1" sz="1800">
                <a:solidFill>
                  <a:srgbClr val="0050EF"/>
                </a:solidFill>
                <a:latin typeface="Oswald"/>
                <a:ea typeface="Oswald"/>
                <a:cs typeface="Oswald"/>
                <a:sym typeface="Oswald"/>
              </a:endParaRPr>
            </a:p>
            <a:p>
              <a:pPr indent="0" lvl="0" marL="0" rtl="0" algn="l">
                <a:spcBef>
                  <a:spcPts val="375"/>
                </a:spcBef>
                <a:spcAft>
                  <a:spcPts val="0"/>
                </a:spcAft>
                <a:buNone/>
              </a:pPr>
              <a:r>
                <a:rPr b="0" lang="en-US" sz="1300">
                  <a:solidFill>
                    <a:srgbClr val="333333"/>
                  </a:solidFill>
                  <a:latin typeface="Calibri"/>
                  <a:ea typeface="Calibri"/>
                  <a:cs typeface="Calibri"/>
                  <a:sym typeface="Calibri"/>
                </a:rPr>
                <a:t>Predicó correctamente antes de consultar con los otros apóstoles.</a:t>
              </a:r>
              <a:endParaRPr b="0" sz="1300">
                <a:solidFill>
                  <a:srgbClr val="333333"/>
                </a:solidFill>
                <a:latin typeface="Calibri"/>
                <a:ea typeface="Calibri"/>
                <a:cs typeface="Calibri"/>
                <a:sym typeface="Calibri"/>
              </a:endParaRPr>
            </a:p>
            <a:p>
              <a:pPr indent="0" lvl="0" marL="0" rtl="0" algn="l">
                <a:spcBef>
                  <a:spcPts val="750"/>
                </a:spcBef>
                <a:spcAft>
                  <a:spcPts val="0"/>
                </a:spcAft>
                <a:buNone/>
              </a:pPr>
              <a:r>
                <a:rPr b="1" i="1" lang="en-US" sz="1200">
                  <a:solidFill>
                    <a:srgbClr val="ED1721"/>
                  </a:solidFill>
                  <a:latin typeface="Calibri"/>
                  <a:ea typeface="Calibri"/>
                  <a:cs typeface="Calibri"/>
                  <a:sym typeface="Calibri"/>
                </a:rPr>
                <a:t>Gálatas 1:11-12, 17</a:t>
              </a:r>
              <a:endParaRPr b="1" i="1" sz="1200">
                <a:solidFill>
                  <a:srgbClr val="ED1721"/>
                </a:solidFill>
                <a:latin typeface="Calibri"/>
                <a:ea typeface="Calibri"/>
                <a:cs typeface="Calibri"/>
                <a:sym typeface="Calibri"/>
              </a:endParaRPr>
            </a:p>
          </p:txBody>
        </p:sp>
      </p:grpSp>
      <p:grpSp>
        <p:nvGrpSpPr>
          <p:cNvPr id="239" name="Google Shape;239;p19"/>
          <p:cNvGrpSpPr/>
          <p:nvPr/>
        </p:nvGrpSpPr>
        <p:grpSpPr>
          <a:xfrm>
            <a:off x="6238875" y="1809750"/>
            <a:ext cx="2667000" cy="4572000"/>
            <a:chOff x="6238875" y="1809750"/>
            <a:chExt cx="2667000" cy="4572000"/>
          </a:xfrm>
        </p:grpSpPr>
        <p:sp>
          <p:nvSpPr>
            <p:cNvPr id="240" name="Google Shape;240;p19"/>
            <p:cNvSpPr/>
            <p:nvPr/>
          </p:nvSpPr>
          <p:spPr>
            <a:xfrm>
              <a:off x="6238875" y="1809750"/>
              <a:ext cx="2667000" cy="4572000"/>
            </a:xfrm>
            <a:prstGeom prst="roundRect">
              <a:avLst>
                <a:gd fmla="val 5357" name="adj"/>
              </a:avLst>
            </a:prstGeom>
            <a:solidFill>
              <a:srgbClr val="FFFFFF"/>
            </a:solidFill>
            <a:ln cap="flat" cmpd="sng" w="19050">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ime style illustration of a 1st-century validation. Two men in ancient tunics clasping hands or forearms in a gesture of mutual respect and agreement. One man is rugged, the other looks like a Jewish leader. Setting is a stone room with warm sunlight." id="241" name="Google Shape;241;p19"/>
            <p:cNvPicPr preferRelativeResize="0"/>
            <p:nvPr/>
          </p:nvPicPr>
          <p:blipFill rotWithShape="1">
            <a:blip r:embed="rId6">
              <a:alphaModFix/>
            </a:blip>
            <a:srcRect b="0" l="778" r="787" t="0"/>
            <a:stretch/>
          </p:blipFill>
          <p:spPr>
            <a:xfrm>
              <a:off x="6238875" y="1809750"/>
              <a:ext cx="2667000" cy="1524000"/>
            </a:xfrm>
            <a:prstGeom prst="roundRect">
              <a:avLst>
                <a:gd fmla="val 9375" name="adj"/>
              </a:avLst>
            </a:prstGeom>
            <a:noFill/>
            <a:ln>
              <a:noFill/>
            </a:ln>
          </p:spPr>
        </p:pic>
        <p:sp>
          <p:nvSpPr>
            <p:cNvPr id="242" name="Google Shape;242;p19"/>
            <p:cNvSpPr txBox="1"/>
            <p:nvPr/>
          </p:nvSpPr>
          <p:spPr>
            <a:xfrm>
              <a:off x="6381750" y="3429000"/>
              <a:ext cx="2381400" cy="28575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2400">
                  <a:solidFill>
                    <a:srgbClr val="ED1721"/>
                  </a:solidFill>
                  <a:latin typeface="Material Icons"/>
                  <a:ea typeface="Material Icons"/>
                  <a:cs typeface="Material Icons"/>
                  <a:sym typeface="Material Icons"/>
                </a:rPr>
                <a:t>handshake</a:t>
              </a:r>
              <a:endParaRPr b="1" sz="2400">
                <a:solidFill>
                  <a:srgbClr val="ED1721"/>
                </a:solidFill>
                <a:latin typeface="Material Icons"/>
                <a:ea typeface="Material Icons"/>
                <a:cs typeface="Material Icons"/>
                <a:sym typeface="Material Icons"/>
              </a:endParaRPr>
            </a:p>
            <a:p>
              <a:pPr indent="0" lvl="0" marL="0" rtl="0" algn="l">
                <a:spcBef>
                  <a:spcPts val="375"/>
                </a:spcBef>
                <a:spcAft>
                  <a:spcPts val="0"/>
                </a:spcAft>
                <a:buNone/>
              </a:pPr>
              <a:r>
                <a:rPr b="1" lang="en-US" sz="1800">
                  <a:solidFill>
                    <a:srgbClr val="0050EF"/>
                  </a:solidFill>
                  <a:latin typeface="Oswald"/>
                  <a:ea typeface="Oswald"/>
                  <a:cs typeface="Oswald"/>
                  <a:sym typeface="Oswald"/>
                </a:rPr>
                <a:t>Validación</a:t>
              </a:r>
              <a:endParaRPr b="1" sz="1800">
                <a:solidFill>
                  <a:srgbClr val="0050EF"/>
                </a:solidFill>
                <a:latin typeface="Oswald"/>
                <a:ea typeface="Oswald"/>
                <a:cs typeface="Oswald"/>
                <a:sym typeface="Oswald"/>
              </a:endParaRPr>
            </a:p>
            <a:p>
              <a:pPr indent="0" lvl="0" marL="0" rtl="0" algn="l">
                <a:spcBef>
                  <a:spcPts val="375"/>
                </a:spcBef>
                <a:spcAft>
                  <a:spcPts val="0"/>
                </a:spcAft>
                <a:buNone/>
              </a:pPr>
              <a:r>
                <a:rPr b="0" lang="en-US" sz="1300">
                  <a:solidFill>
                    <a:srgbClr val="333333"/>
                  </a:solidFill>
                  <a:latin typeface="Calibri"/>
                  <a:ea typeface="Calibri"/>
                  <a:cs typeface="Calibri"/>
                  <a:sym typeface="Calibri"/>
                </a:rPr>
                <a:t>Los apóstoles no tuvieron nada que añadir a su mensaje.</a:t>
              </a:r>
              <a:endParaRPr b="0" sz="1300">
                <a:solidFill>
                  <a:srgbClr val="333333"/>
                </a:solidFill>
                <a:latin typeface="Calibri"/>
                <a:ea typeface="Calibri"/>
                <a:cs typeface="Calibri"/>
                <a:sym typeface="Calibri"/>
              </a:endParaRPr>
            </a:p>
            <a:p>
              <a:pPr indent="0" lvl="0" marL="0" rtl="0" algn="l">
                <a:spcBef>
                  <a:spcPts val="750"/>
                </a:spcBef>
                <a:spcAft>
                  <a:spcPts val="0"/>
                </a:spcAft>
                <a:buNone/>
              </a:pPr>
              <a:r>
                <a:rPr b="1" i="1" lang="en-US" sz="1200">
                  <a:solidFill>
                    <a:srgbClr val="ED1721"/>
                  </a:solidFill>
                  <a:latin typeface="Calibri"/>
                  <a:ea typeface="Calibri"/>
                  <a:cs typeface="Calibri"/>
                  <a:sym typeface="Calibri"/>
                </a:rPr>
                <a:t>Gálatas 1:18-19; 2:6</a:t>
              </a:r>
              <a:endParaRPr b="1" i="1" sz="1200">
                <a:solidFill>
                  <a:srgbClr val="ED1721"/>
                </a:solidFill>
                <a:latin typeface="Calibri"/>
                <a:ea typeface="Calibri"/>
                <a:cs typeface="Calibri"/>
                <a:sym typeface="Calibri"/>
              </a:endParaRPr>
            </a:p>
          </p:txBody>
        </p:sp>
      </p:grpSp>
      <p:grpSp>
        <p:nvGrpSpPr>
          <p:cNvPr id="243" name="Google Shape;243;p19"/>
          <p:cNvGrpSpPr/>
          <p:nvPr/>
        </p:nvGrpSpPr>
        <p:grpSpPr>
          <a:xfrm>
            <a:off x="9191625" y="1809750"/>
            <a:ext cx="2667000" cy="4572000"/>
            <a:chOff x="9191625" y="1809750"/>
            <a:chExt cx="2667000" cy="4572000"/>
          </a:xfrm>
        </p:grpSpPr>
        <p:sp>
          <p:nvSpPr>
            <p:cNvPr id="244" name="Google Shape;244;p19"/>
            <p:cNvSpPr/>
            <p:nvPr/>
          </p:nvSpPr>
          <p:spPr>
            <a:xfrm>
              <a:off x="9191625" y="1809750"/>
              <a:ext cx="2667000" cy="4572000"/>
            </a:xfrm>
            <a:prstGeom prst="roundRect">
              <a:avLst>
                <a:gd fmla="val 5357" name="adj"/>
              </a:avLst>
            </a:prstGeom>
            <a:solidFill>
              <a:srgbClr val="FFFFFF"/>
            </a:solidFill>
            <a:ln cap="flat" cmpd="sng" w="19050">
              <a:solidFill>
                <a:srgbClr val="0050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ime style illustration of spiritual fruit. A group of pious looking Greek Christians (men and women) in 1st century Asia Minor. They are gathered in a courtyard, praying and sharing bread, looking humble and devoted. Soft, warm morning light." id="245" name="Google Shape;245;p19"/>
            <p:cNvPicPr preferRelativeResize="0"/>
            <p:nvPr/>
          </p:nvPicPr>
          <p:blipFill rotWithShape="1">
            <a:blip r:embed="rId7">
              <a:alphaModFix/>
            </a:blip>
            <a:srcRect b="0" l="778" r="787" t="0"/>
            <a:stretch/>
          </p:blipFill>
          <p:spPr>
            <a:xfrm>
              <a:off x="9191625" y="1809750"/>
              <a:ext cx="2667000" cy="1524000"/>
            </a:xfrm>
            <a:prstGeom prst="roundRect">
              <a:avLst>
                <a:gd fmla="val 9375" name="adj"/>
              </a:avLst>
            </a:prstGeom>
            <a:noFill/>
            <a:ln>
              <a:noFill/>
            </a:ln>
          </p:spPr>
        </p:pic>
        <p:sp>
          <p:nvSpPr>
            <p:cNvPr id="246" name="Google Shape;246;p19"/>
            <p:cNvSpPr txBox="1"/>
            <p:nvPr/>
          </p:nvSpPr>
          <p:spPr>
            <a:xfrm>
              <a:off x="9334500" y="3429000"/>
              <a:ext cx="2381400" cy="28575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2400">
                  <a:solidFill>
                    <a:srgbClr val="ED1721"/>
                  </a:solidFill>
                  <a:latin typeface="Material Icons"/>
                  <a:ea typeface="Material Icons"/>
                  <a:cs typeface="Material Icons"/>
                  <a:sym typeface="Material Icons"/>
                </a:rPr>
                <a:t>eco</a:t>
              </a:r>
              <a:endParaRPr b="1" sz="2400">
                <a:solidFill>
                  <a:srgbClr val="ED1721"/>
                </a:solidFill>
                <a:latin typeface="Material Icons"/>
                <a:ea typeface="Material Icons"/>
                <a:cs typeface="Material Icons"/>
                <a:sym typeface="Material Icons"/>
              </a:endParaRPr>
            </a:p>
            <a:p>
              <a:pPr indent="0" lvl="0" marL="0" rtl="0" algn="l">
                <a:spcBef>
                  <a:spcPts val="375"/>
                </a:spcBef>
                <a:spcAft>
                  <a:spcPts val="0"/>
                </a:spcAft>
                <a:buNone/>
              </a:pPr>
              <a:r>
                <a:rPr b="1" lang="en-US" sz="1800">
                  <a:solidFill>
                    <a:srgbClr val="0050EF"/>
                  </a:solidFill>
                  <a:latin typeface="Oswald"/>
                  <a:ea typeface="Oswald"/>
                  <a:cs typeface="Oswald"/>
                  <a:sym typeface="Oswald"/>
                </a:rPr>
                <a:t>Fruto</a:t>
              </a:r>
              <a:endParaRPr b="1" sz="1800">
                <a:solidFill>
                  <a:srgbClr val="0050EF"/>
                </a:solidFill>
                <a:latin typeface="Oswald"/>
                <a:ea typeface="Oswald"/>
                <a:cs typeface="Oswald"/>
                <a:sym typeface="Oswald"/>
              </a:endParaRPr>
            </a:p>
            <a:p>
              <a:pPr indent="0" lvl="0" marL="0" rtl="0" algn="l">
                <a:spcBef>
                  <a:spcPts val="375"/>
                </a:spcBef>
                <a:spcAft>
                  <a:spcPts val="0"/>
                </a:spcAft>
                <a:buNone/>
              </a:pPr>
              <a:r>
                <a:rPr b="0" lang="en-US" sz="1300">
                  <a:solidFill>
                    <a:srgbClr val="333333"/>
                  </a:solidFill>
                  <a:latin typeface="Calibri"/>
                  <a:ea typeface="Calibri"/>
                  <a:cs typeface="Calibri"/>
                  <a:sym typeface="Calibri"/>
                </a:rPr>
                <a:t>Su ministerio produjo fruto espiritual verdadero en los creyentes.</a:t>
              </a:r>
              <a:endParaRPr b="0" sz="1300">
                <a:solidFill>
                  <a:srgbClr val="333333"/>
                </a:solidFill>
                <a:latin typeface="Calibri"/>
                <a:ea typeface="Calibri"/>
                <a:cs typeface="Calibri"/>
                <a:sym typeface="Calibri"/>
              </a:endParaRPr>
            </a:p>
            <a:p>
              <a:pPr indent="0" lvl="0" marL="0" rtl="0" algn="l">
                <a:spcBef>
                  <a:spcPts val="750"/>
                </a:spcBef>
                <a:spcAft>
                  <a:spcPts val="0"/>
                </a:spcAft>
                <a:buNone/>
              </a:pPr>
              <a:r>
                <a:rPr b="1" i="1" lang="en-US" sz="1200">
                  <a:solidFill>
                    <a:srgbClr val="ED1721"/>
                  </a:solidFill>
                  <a:latin typeface="Calibri"/>
                  <a:ea typeface="Calibri"/>
                  <a:cs typeface="Calibri"/>
                  <a:sym typeface="Calibri"/>
                </a:rPr>
                <a:t>Gálatas 4:19; Mateo 5:16-20</a:t>
              </a:r>
              <a:endParaRPr b="1" i="1" sz="1200">
                <a:solidFill>
                  <a:srgbClr val="ED172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grpSp>
        <p:nvGrpSpPr>
          <p:cNvPr id="252" name="Google Shape;252;p20"/>
          <p:cNvGrpSpPr/>
          <p:nvPr/>
        </p:nvGrpSpPr>
        <p:grpSpPr>
          <a:xfrm>
            <a:off x="0" y="0"/>
            <a:ext cx="12192000" cy="1143000"/>
            <a:chOff x="0" y="0"/>
            <a:chExt cx="12192000" cy="1143000"/>
          </a:xfrm>
        </p:grpSpPr>
        <p:sp>
          <p:nvSpPr>
            <p:cNvPr id="253" name="Google Shape;253;p20"/>
            <p:cNvSpPr/>
            <p:nvPr/>
          </p:nvSpPr>
          <p:spPr>
            <a:xfrm>
              <a:off x="0" y="0"/>
              <a:ext cx="12192000" cy="11430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0"/>
            <p:cNvSpPr txBox="1"/>
            <p:nvPr/>
          </p:nvSpPr>
          <p:spPr>
            <a:xfrm>
              <a:off x="381000" y="95250"/>
              <a:ext cx="1143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600">
                  <a:solidFill>
                    <a:srgbClr val="FFFFFF"/>
                  </a:solidFill>
                  <a:latin typeface="Oswald"/>
                  <a:ea typeface="Oswald"/>
                  <a:cs typeface="Oswald"/>
                  <a:sym typeface="Oswald"/>
                </a:rPr>
                <a:t>Razones por las que sí debemos escuchar a Pablo</a:t>
              </a:r>
              <a:endParaRPr b="1" sz="3600">
                <a:solidFill>
                  <a:srgbClr val="FFFFFF"/>
                </a:solidFill>
                <a:latin typeface="Oswald"/>
                <a:ea typeface="Oswald"/>
                <a:cs typeface="Oswald"/>
                <a:sym typeface="Oswald"/>
              </a:endParaRPr>
            </a:p>
          </p:txBody>
        </p:sp>
      </p:grpSp>
      <p:sp>
        <p:nvSpPr>
          <p:cNvPr id="255" name="Google Shape;255;p20"/>
          <p:cNvSpPr txBox="1"/>
          <p:nvPr/>
        </p:nvSpPr>
        <p:spPr>
          <a:xfrm>
            <a:off x="571500" y="1285875"/>
            <a:ext cx="11049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0050EF"/>
                </a:solidFill>
                <a:latin typeface="Oswald"/>
                <a:ea typeface="Oswald"/>
                <a:cs typeface="Oswald"/>
                <a:sym typeface="Oswald"/>
              </a:rPr>
              <a:t>Evidencias de su Apostolado y Sacrificio</a:t>
            </a:r>
            <a:endParaRPr b="1" sz="2000">
              <a:solidFill>
                <a:srgbClr val="0050EF"/>
              </a:solidFill>
              <a:latin typeface="Oswald"/>
              <a:ea typeface="Oswald"/>
              <a:cs typeface="Oswald"/>
              <a:sym typeface="Oswald"/>
            </a:endParaRPr>
          </a:p>
        </p:txBody>
      </p:sp>
      <p:grpSp>
        <p:nvGrpSpPr>
          <p:cNvPr id="256" name="Google Shape;256;p20"/>
          <p:cNvGrpSpPr/>
          <p:nvPr/>
        </p:nvGrpSpPr>
        <p:grpSpPr>
          <a:xfrm>
            <a:off x="762000" y="1905000"/>
            <a:ext cx="3429000" cy="4381500"/>
            <a:chOff x="762000" y="1905000"/>
            <a:chExt cx="3429000" cy="4381500"/>
          </a:xfrm>
        </p:grpSpPr>
        <p:sp>
          <p:nvSpPr>
            <p:cNvPr id="257" name="Google Shape;257;p20"/>
            <p:cNvSpPr/>
            <p:nvPr/>
          </p:nvSpPr>
          <p:spPr>
            <a:xfrm>
              <a:off x="762000" y="1905000"/>
              <a:ext cx="3429000" cy="4381500"/>
            </a:xfrm>
            <a:prstGeom prst="roundRect">
              <a:avLst>
                <a:gd fmla="val 41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ime style illustration of the Apostle Paul performing a miracle in the 1st century. Paul, a rugged man in simple ancient robes, is laying his hands on a sick person in a humble stone room. A soft, divine warmth emanates from the scene, not as magical lights, but as a peaceful atmosphere of healing and spiritual power." id="258" name="Google Shape;258;p20"/>
            <p:cNvPicPr preferRelativeResize="0"/>
            <p:nvPr/>
          </p:nvPicPr>
          <p:blipFill rotWithShape="1">
            <a:blip r:embed="rId4">
              <a:alphaModFix/>
            </a:blip>
            <a:srcRect b="622" l="0" r="0" t="612"/>
            <a:stretch/>
          </p:blipFill>
          <p:spPr>
            <a:xfrm>
              <a:off x="762000" y="1905000"/>
              <a:ext cx="3429000" cy="1905000"/>
            </a:xfrm>
            <a:prstGeom prst="roundRect">
              <a:avLst>
                <a:gd fmla="val 7500" name="adj"/>
              </a:avLst>
            </a:prstGeom>
            <a:noFill/>
            <a:ln>
              <a:noFill/>
            </a:ln>
          </p:spPr>
        </p:pic>
        <p:sp>
          <p:nvSpPr>
            <p:cNvPr id="259" name="Google Shape;259;p20"/>
            <p:cNvSpPr txBox="1"/>
            <p:nvPr/>
          </p:nvSpPr>
          <p:spPr>
            <a:xfrm>
              <a:off x="952500" y="3952875"/>
              <a:ext cx="3048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ED1721"/>
                  </a:solidFill>
                  <a:latin typeface="Material Icons"/>
                  <a:ea typeface="Material Icons"/>
                  <a:cs typeface="Material Icons"/>
                  <a:sym typeface="Material Icons"/>
                </a:rPr>
                <a:t>bolt</a:t>
              </a:r>
              <a:endParaRPr sz="28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000">
                  <a:solidFill>
                    <a:srgbClr val="0050EF"/>
                  </a:solidFill>
                  <a:latin typeface="Oswald"/>
                  <a:ea typeface="Oswald"/>
                  <a:cs typeface="Oswald"/>
                  <a:sym typeface="Oswald"/>
                </a:rPr>
                <a:t>Señales y Milagros</a:t>
              </a:r>
              <a:endParaRPr b="1" sz="2000">
                <a:solidFill>
                  <a:srgbClr val="0050EF"/>
                </a:solidFill>
                <a:latin typeface="Oswald"/>
                <a:ea typeface="Oswald"/>
                <a:cs typeface="Oswald"/>
                <a:sym typeface="Oswald"/>
              </a:endParaRPr>
            </a:p>
            <a:p>
              <a:pPr indent="0" lvl="0" marL="0" rtl="0" algn="l">
                <a:spcBef>
                  <a:spcPts val="750"/>
                </a:spcBef>
                <a:spcAft>
                  <a:spcPts val="0"/>
                </a:spcAft>
                <a:buNone/>
              </a:pPr>
              <a:r>
                <a:rPr b="0" lang="en-US" sz="1400">
                  <a:solidFill>
                    <a:srgbClr val="334155"/>
                  </a:solidFill>
                  <a:latin typeface="Calibri"/>
                  <a:ea typeface="Calibri"/>
                  <a:cs typeface="Calibri"/>
                  <a:sym typeface="Calibri"/>
                </a:rPr>
                <a:t>Dios confirmó su ministerio con señales y milagros poderosos.</a:t>
              </a:r>
              <a:endParaRPr b="0" sz="1400">
                <a:solidFill>
                  <a:srgbClr val="334155"/>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2 Corintios 12:12; Romanos 15:18-19; Gálatas 3:5</a:t>
              </a:r>
              <a:endParaRPr b="1" i="1" sz="1200">
                <a:solidFill>
                  <a:srgbClr val="ED1721"/>
                </a:solidFill>
                <a:latin typeface="Calibri"/>
                <a:ea typeface="Calibri"/>
                <a:cs typeface="Calibri"/>
                <a:sym typeface="Calibri"/>
              </a:endParaRPr>
            </a:p>
          </p:txBody>
        </p:sp>
      </p:grpSp>
      <p:grpSp>
        <p:nvGrpSpPr>
          <p:cNvPr id="260" name="Google Shape;260;p20"/>
          <p:cNvGrpSpPr/>
          <p:nvPr/>
        </p:nvGrpSpPr>
        <p:grpSpPr>
          <a:xfrm>
            <a:off x="4381500" y="1905000"/>
            <a:ext cx="3429000" cy="4381500"/>
            <a:chOff x="4381500" y="1905000"/>
            <a:chExt cx="3429000" cy="4381500"/>
          </a:xfrm>
        </p:grpSpPr>
        <p:sp>
          <p:nvSpPr>
            <p:cNvPr id="261" name="Google Shape;261;p20"/>
            <p:cNvSpPr/>
            <p:nvPr/>
          </p:nvSpPr>
          <p:spPr>
            <a:xfrm>
              <a:off x="4381500" y="1905000"/>
              <a:ext cx="3429000" cy="4381500"/>
            </a:xfrm>
            <a:prstGeom prst="roundRect">
              <a:avLst>
                <a:gd fmla="val 41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2" name="Google Shape;262;p20"/>
            <p:cNvPicPr preferRelativeResize="0"/>
            <p:nvPr/>
          </p:nvPicPr>
          <p:blipFill rotWithShape="1">
            <a:blip r:embed="rId5">
              <a:alphaModFix/>
            </a:blip>
            <a:srcRect b="0" l="913" r="903" t="0"/>
            <a:stretch/>
          </p:blipFill>
          <p:spPr>
            <a:xfrm>
              <a:off x="4381500" y="1905000"/>
              <a:ext cx="3429000" cy="1905000"/>
            </a:xfrm>
            <a:prstGeom prst="roundRect">
              <a:avLst>
                <a:gd fmla="val 7500" name="adj"/>
              </a:avLst>
            </a:prstGeom>
            <a:noFill/>
            <a:ln>
              <a:noFill/>
            </a:ln>
          </p:spPr>
        </p:pic>
        <p:sp>
          <p:nvSpPr>
            <p:cNvPr id="263" name="Google Shape;263;p20"/>
            <p:cNvSpPr txBox="1"/>
            <p:nvPr/>
          </p:nvSpPr>
          <p:spPr>
            <a:xfrm>
              <a:off x="4572000" y="3952875"/>
              <a:ext cx="3048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ED1721"/>
                  </a:solidFill>
                  <a:latin typeface="Material Icons"/>
                  <a:ea typeface="Material Icons"/>
                  <a:cs typeface="Material Icons"/>
                  <a:sym typeface="Material Icons"/>
                </a:rPr>
                <a:t>error_outline</a:t>
              </a:r>
              <a:endParaRPr sz="28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000">
                  <a:solidFill>
                    <a:srgbClr val="0050EF"/>
                  </a:solidFill>
                  <a:latin typeface="Oswald"/>
                  <a:ea typeface="Oswald"/>
                  <a:cs typeface="Oswald"/>
                  <a:sym typeface="Oswald"/>
                </a:rPr>
                <a:t>Persecución</a:t>
              </a:r>
              <a:endParaRPr b="1" sz="2000">
                <a:solidFill>
                  <a:srgbClr val="0050EF"/>
                </a:solidFill>
                <a:latin typeface="Oswald"/>
                <a:ea typeface="Oswald"/>
                <a:cs typeface="Oswald"/>
                <a:sym typeface="Oswald"/>
              </a:endParaRPr>
            </a:p>
            <a:p>
              <a:pPr indent="0" lvl="0" marL="0" rtl="0" algn="l">
                <a:spcBef>
                  <a:spcPts val="750"/>
                </a:spcBef>
                <a:spcAft>
                  <a:spcPts val="0"/>
                </a:spcAft>
                <a:buNone/>
              </a:pPr>
              <a:r>
                <a:rPr b="0" lang="en-US" sz="1400">
                  <a:solidFill>
                    <a:srgbClr val="334155"/>
                  </a:solidFill>
                  <a:latin typeface="Calibri"/>
                  <a:ea typeface="Calibri"/>
                  <a:cs typeface="Calibri"/>
                  <a:sym typeface="Calibri"/>
                </a:rPr>
                <a:t>Sufrió una persecución extraordinaria por causa de Cristo.</a:t>
              </a:r>
              <a:endParaRPr b="0" sz="1400">
                <a:solidFill>
                  <a:srgbClr val="334155"/>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2 Corintios 11:23-28; Gálatas 6:17</a:t>
              </a:r>
              <a:endParaRPr b="1" i="1" sz="1200">
                <a:solidFill>
                  <a:srgbClr val="ED1721"/>
                </a:solidFill>
                <a:latin typeface="Calibri"/>
                <a:ea typeface="Calibri"/>
                <a:cs typeface="Calibri"/>
                <a:sym typeface="Calibri"/>
              </a:endParaRPr>
            </a:p>
          </p:txBody>
        </p:sp>
      </p:grpSp>
      <p:grpSp>
        <p:nvGrpSpPr>
          <p:cNvPr id="264" name="Google Shape;264;p20"/>
          <p:cNvGrpSpPr/>
          <p:nvPr/>
        </p:nvGrpSpPr>
        <p:grpSpPr>
          <a:xfrm>
            <a:off x="8001000" y="1905000"/>
            <a:ext cx="3429000" cy="4381500"/>
            <a:chOff x="8001000" y="1905000"/>
            <a:chExt cx="3429000" cy="4381500"/>
          </a:xfrm>
        </p:grpSpPr>
        <p:sp>
          <p:nvSpPr>
            <p:cNvPr id="265" name="Google Shape;265;p20"/>
            <p:cNvSpPr/>
            <p:nvPr/>
          </p:nvSpPr>
          <p:spPr>
            <a:xfrm>
              <a:off x="8001000" y="1905000"/>
              <a:ext cx="3429000" cy="4381500"/>
            </a:xfrm>
            <a:prstGeom prst="roundRect">
              <a:avLst>
                <a:gd fmla="val 41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6" name="Google Shape;266;p20"/>
            <p:cNvPicPr preferRelativeResize="0"/>
            <p:nvPr/>
          </p:nvPicPr>
          <p:blipFill rotWithShape="1">
            <a:blip r:embed="rId6">
              <a:alphaModFix/>
            </a:blip>
            <a:srcRect b="0" l="913" r="903" t="0"/>
            <a:stretch/>
          </p:blipFill>
          <p:spPr>
            <a:xfrm>
              <a:off x="8001000" y="1905000"/>
              <a:ext cx="3429000" cy="1905000"/>
            </a:xfrm>
            <a:prstGeom prst="roundRect">
              <a:avLst>
                <a:gd fmla="val 7500" name="adj"/>
              </a:avLst>
            </a:prstGeom>
            <a:noFill/>
            <a:ln>
              <a:noFill/>
            </a:ln>
          </p:spPr>
        </p:pic>
        <p:sp>
          <p:nvSpPr>
            <p:cNvPr id="267" name="Google Shape;267;p20"/>
            <p:cNvSpPr txBox="1"/>
            <p:nvPr/>
          </p:nvSpPr>
          <p:spPr>
            <a:xfrm>
              <a:off x="8191500" y="3952875"/>
              <a:ext cx="3048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ED1721"/>
                  </a:solidFill>
                  <a:latin typeface="Material Icons"/>
                  <a:ea typeface="Material Icons"/>
                  <a:cs typeface="Material Icons"/>
                  <a:sym typeface="Material Icons"/>
                </a:rPr>
                <a:t>payments</a:t>
              </a:r>
              <a:endParaRPr sz="2800">
                <a:solidFill>
                  <a:srgbClr val="ED1721"/>
                </a:solidFill>
                <a:latin typeface="Material Icons"/>
                <a:ea typeface="Material Icons"/>
                <a:cs typeface="Material Icons"/>
                <a:sym typeface="Material Icons"/>
              </a:endParaRPr>
            </a:p>
            <a:p>
              <a:pPr indent="0" lvl="0" marL="0" rtl="0" algn="l">
                <a:spcBef>
                  <a:spcPts val="750"/>
                </a:spcBef>
                <a:spcAft>
                  <a:spcPts val="0"/>
                </a:spcAft>
                <a:buNone/>
              </a:pPr>
              <a:r>
                <a:rPr b="1" lang="en-US" sz="2000">
                  <a:solidFill>
                    <a:srgbClr val="0050EF"/>
                  </a:solidFill>
                  <a:latin typeface="Oswald"/>
                  <a:ea typeface="Oswald"/>
                  <a:cs typeface="Oswald"/>
                  <a:sym typeface="Oswald"/>
                </a:rPr>
                <a:t>Integridad Financiera</a:t>
              </a:r>
              <a:endParaRPr b="1" sz="2000">
                <a:solidFill>
                  <a:srgbClr val="0050EF"/>
                </a:solidFill>
                <a:latin typeface="Oswald"/>
                <a:ea typeface="Oswald"/>
                <a:cs typeface="Oswald"/>
                <a:sym typeface="Oswald"/>
              </a:endParaRPr>
            </a:p>
            <a:p>
              <a:pPr indent="0" lvl="0" marL="0" rtl="0" algn="l">
                <a:spcBef>
                  <a:spcPts val="750"/>
                </a:spcBef>
                <a:spcAft>
                  <a:spcPts val="0"/>
                </a:spcAft>
                <a:buNone/>
              </a:pPr>
              <a:r>
                <a:rPr b="0" lang="en-US" sz="1400">
                  <a:solidFill>
                    <a:srgbClr val="334155"/>
                  </a:solidFill>
                  <a:latin typeface="Calibri"/>
                  <a:ea typeface="Calibri"/>
                  <a:cs typeface="Calibri"/>
                  <a:sym typeface="Calibri"/>
                </a:rPr>
                <a:t>Rehusó recibir dinero para no afectar la fe de otros creyentes.</a:t>
              </a:r>
              <a:endParaRPr b="0" sz="1400">
                <a:solidFill>
                  <a:srgbClr val="334155"/>
                </a:solidFill>
                <a:latin typeface="Calibri"/>
                <a:ea typeface="Calibri"/>
                <a:cs typeface="Calibri"/>
                <a:sym typeface="Calibri"/>
              </a:endParaRPr>
            </a:p>
            <a:p>
              <a:pPr indent="0" lvl="0" marL="0" rtl="0" algn="l">
                <a:spcBef>
                  <a:spcPts val="1125"/>
                </a:spcBef>
                <a:spcAft>
                  <a:spcPts val="0"/>
                </a:spcAft>
                <a:buNone/>
              </a:pPr>
              <a:r>
                <a:rPr b="1" i="1" lang="en-US" sz="1200">
                  <a:solidFill>
                    <a:srgbClr val="ED1721"/>
                  </a:solidFill>
                  <a:latin typeface="Calibri"/>
                  <a:ea typeface="Calibri"/>
                  <a:cs typeface="Calibri"/>
                  <a:sym typeface="Calibri"/>
                </a:rPr>
                <a:t>1 Corintios 9:12, 15, 18; 2 Corintios 11:7-9</a:t>
              </a:r>
              <a:endParaRPr b="1" i="1" sz="1200">
                <a:solidFill>
                  <a:srgbClr val="ED172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0" name="Shape 270"/>
        <p:cNvGrpSpPr/>
        <p:nvPr/>
      </p:nvGrpSpPr>
      <p:grpSpPr>
        <a:xfrm>
          <a:off x="0" y="0"/>
          <a:ext cx="0" cy="0"/>
          <a:chOff x="0" y="0"/>
          <a:chExt cx="0" cy="0"/>
        </a:xfrm>
      </p:grpSpPr>
      <p:sp>
        <p:nvSpPr>
          <p:cNvPr id="271" name="Google Shape;271;p21"/>
          <p:cNvSpPr/>
          <p:nvPr/>
        </p:nvSpPr>
        <p:spPr>
          <a:xfrm>
            <a:off x="0" y="0"/>
            <a:ext cx="12192000" cy="13335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72" name="Google Shape;272;p21"/>
          <p:cNvGrpSpPr/>
          <p:nvPr/>
        </p:nvGrpSpPr>
        <p:grpSpPr>
          <a:xfrm>
            <a:off x="381000" y="190500"/>
            <a:ext cx="11430000" cy="952500"/>
            <a:chOff x="381000" y="190500"/>
            <a:chExt cx="11430000" cy="952500"/>
          </a:xfrm>
        </p:grpSpPr>
        <p:sp>
          <p:nvSpPr>
            <p:cNvPr id="273" name="Google Shape;273;p21"/>
            <p:cNvSpPr txBox="1"/>
            <p:nvPr/>
          </p:nvSpPr>
          <p:spPr>
            <a:xfrm>
              <a:off x="381000" y="190500"/>
              <a:ext cx="11430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600">
                  <a:solidFill>
                    <a:srgbClr val="FFFFFF"/>
                  </a:solidFill>
                  <a:latin typeface="Oswald"/>
                  <a:ea typeface="Oswald"/>
                  <a:cs typeface="Oswald"/>
                  <a:sym typeface="Oswald"/>
                </a:rPr>
                <a:t>Consecuencias de Rechazar a Pablo</a:t>
              </a:r>
              <a:endParaRPr b="1" sz="3600">
                <a:solidFill>
                  <a:srgbClr val="FFFFFF"/>
                </a:solidFill>
                <a:latin typeface="Oswald"/>
                <a:ea typeface="Oswald"/>
                <a:cs typeface="Oswald"/>
                <a:sym typeface="Oswald"/>
              </a:endParaRPr>
            </a:p>
          </p:txBody>
        </p:sp>
        <p:sp>
          <p:nvSpPr>
            <p:cNvPr id="274" name="Google Shape;274;p21"/>
            <p:cNvSpPr txBox="1"/>
            <p:nvPr/>
          </p:nvSpPr>
          <p:spPr>
            <a:xfrm>
              <a:off x="381000" y="762000"/>
              <a:ext cx="1143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FFFFFF"/>
                  </a:solidFill>
                  <a:latin typeface="Oswald"/>
                  <a:ea typeface="Oswald"/>
                  <a:cs typeface="Oswald"/>
                  <a:sym typeface="Oswald"/>
                </a:rPr>
                <a:t>El Efecto Dominó sobre la Fe y la Historia</a:t>
              </a:r>
              <a:endParaRPr b="0" sz="1800">
                <a:solidFill>
                  <a:srgbClr val="FFFFFF"/>
                </a:solidFill>
                <a:latin typeface="Oswald"/>
                <a:ea typeface="Oswald"/>
                <a:cs typeface="Oswald"/>
                <a:sym typeface="Oswald"/>
              </a:endParaRPr>
            </a:p>
          </p:txBody>
        </p:sp>
      </p:grpSp>
      <p:grpSp>
        <p:nvGrpSpPr>
          <p:cNvPr id="275" name="Google Shape;275;p21"/>
          <p:cNvGrpSpPr/>
          <p:nvPr/>
        </p:nvGrpSpPr>
        <p:grpSpPr>
          <a:xfrm>
            <a:off x="571500" y="1714500"/>
            <a:ext cx="3429000" cy="4191000"/>
            <a:chOff x="571500" y="1714500"/>
            <a:chExt cx="3429000" cy="4191000"/>
          </a:xfrm>
        </p:grpSpPr>
        <p:sp>
          <p:nvSpPr>
            <p:cNvPr id="276" name="Google Shape;276;p21"/>
            <p:cNvSpPr/>
            <p:nvPr/>
          </p:nvSpPr>
          <p:spPr>
            <a:xfrm>
              <a:off x="571500" y="1714500"/>
              <a:ext cx="3429000" cy="4191000"/>
            </a:xfrm>
            <a:prstGeom prst="roundRect">
              <a:avLst>
                <a:gd fmla="val 5555" name="adj"/>
              </a:avLst>
            </a:prstGeom>
            <a:solidFill>
              <a:srgbClr val="FFFFFF">
                <a:alpha val="5000"/>
              </a:srgbClr>
            </a:solidFill>
            <a:ln cap="flat" cmpd="sng" w="19050">
              <a:solidFill>
                <a:srgbClr val="ED172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1"/>
            <p:cNvSpPr txBox="1"/>
            <p:nvPr/>
          </p:nvSpPr>
          <p:spPr>
            <a:xfrm>
              <a:off x="762000" y="1905000"/>
              <a:ext cx="3048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D1721"/>
                  </a:solidFill>
                  <a:latin typeface="Material Icons"/>
                  <a:ea typeface="Material Icons"/>
                  <a:cs typeface="Material Icons"/>
                  <a:sym typeface="Material Icons"/>
                </a:rPr>
                <a:t>account_balance</a:t>
              </a:r>
              <a:endParaRPr sz="4800">
                <a:solidFill>
                  <a:srgbClr val="ED1721"/>
                </a:solidFill>
                <a:latin typeface="Material Icons"/>
                <a:ea typeface="Material Icons"/>
                <a:cs typeface="Material Icons"/>
                <a:sym typeface="Material Icons"/>
              </a:endParaRPr>
            </a:p>
            <a:p>
              <a:pPr indent="0" lvl="0" marL="0" rtl="0" algn="l">
                <a:spcBef>
                  <a:spcPts val="1125"/>
                </a:spcBef>
                <a:spcAft>
                  <a:spcPts val="0"/>
                </a:spcAft>
                <a:buNone/>
              </a:pPr>
              <a:r>
                <a:rPr b="1" lang="en-US" sz="2400">
                  <a:solidFill>
                    <a:srgbClr val="FFFFFF"/>
                  </a:solidFill>
                  <a:latin typeface="Oswald"/>
                  <a:ea typeface="Oswald"/>
                  <a:cs typeface="Oswald"/>
                  <a:sym typeface="Oswald"/>
                </a:rPr>
                <a:t>Historia e Integridad</a:t>
              </a:r>
              <a:endParaRPr b="1" sz="2400">
                <a:solidFill>
                  <a:srgbClr val="FFFFFF"/>
                </a:solidFill>
                <a:latin typeface="Oswald"/>
                <a:ea typeface="Oswald"/>
                <a:cs typeface="Oswald"/>
                <a:sym typeface="Oswald"/>
              </a:endParaRPr>
            </a:p>
            <a:p>
              <a:pPr indent="0" lvl="0" marL="0" rtl="0" algn="l">
                <a:spcBef>
                  <a:spcPts val="750"/>
                </a:spcBef>
                <a:spcAft>
                  <a:spcPts val="0"/>
                </a:spcAft>
                <a:buNone/>
              </a:pPr>
              <a:r>
                <a:rPr lang="en-US" sz="1400">
                  <a:solidFill>
                    <a:srgbClr val="E0E0E0"/>
                  </a:solidFill>
                  <a:latin typeface="Calibri"/>
                  <a:ea typeface="Calibri"/>
                  <a:cs typeface="Calibri"/>
                  <a:sym typeface="Calibri"/>
                </a:rPr>
                <a:t>Rechazar a Pablo obliga a rechazar </a:t>
              </a:r>
              <a:r>
                <a:rPr b="1" lang="en-US" sz="1400">
                  <a:solidFill>
                    <a:srgbClr val="ED1721"/>
                  </a:solidFill>
                  <a:latin typeface="Calibri"/>
                  <a:ea typeface="Calibri"/>
                  <a:cs typeface="Calibri"/>
                  <a:sym typeface="Calibri"/>
                </a:rPr>
                <a:t>Hechos</a:t>
              </a:r>
              <a:r>
                <a:rPr lang="en-US" sz="1400">
                  <a:solidFill>
                    <a:srgbClr val="E0E0E0"/>
                  </a:solidFill>
                  <a:latin typeface="Calibri"/>
                  <a:ea typeface="Calibri"/>
                  <a:cs typeface="Calibri"/>
                  <a:sym typeface="Calibri"/>
                </a:rPr>
                <a:t>, eliminando casi toda la información de la iglesia primitiva.</a:t>
              </a:r>
              <a:endParaRPr sz="1400">
                <a:solidFill>
                  <a:srgbClr val="E0E0E0"/>
                </a:solidFill>
                <a:latin typeface="Calibri"/>
                <a:ea typeface="Calibri"/>
                <a:cs typeface="Calibri"/>
                <a:sym typeface="Calibri"/>
              </a:endParaRPr>
            </a:p>
            <a:p>
              <a:pPr indent="0" lvl="0" marL="0" rtl="0" algn="l">
                <a:spcBef>
                  <a:spcPts val="1125"/>
                </a:spcBef>
                <a:spcAft>
                  <a:spcPts val="0"/>
                </a:spcAft>
                <a:buNone/>
              </a:pPr>
              <a:r>
                <a:rPr lang="en-US" sz="1400">
                  <a:solidFill>
                    <a:srgbClr val="E0E0E0"/>
                  </a:solidFill>
                  <a:latin typeface="Calibri"/>
                  <a:ea typeface="Calibri"/>
                  <a:cs typeface="Calibri"/>
                  <a:sym typeface="Calibri"/>
                </a:rPr>
                <a:t>Como Lucas escribió ambos, rechazar Hechos implica rechazar el </a:t>
              </a:r>
              <a:r>
                <a:rPr b="1" lang="en-US" sz="1400">
                  <a:solidFill>
                    <a:srgbClr val="ED1721"/>
                  </a:solidFill>
                  <a:latin typeface="Calibri"/>
                  <a:ea typeface="Calibri"/>
                  <a:cs typeface="Calibri"/>
                  <a:sym typeface="Calibri"/>
                </a:rPr>
                <a:t>Evangelio de Lucas</a:t>
              </a:r>
              <a:r>
                <a:rPr lang="en-US" sz="1400">
                  <a:solidFill>
                    <a:srgbClr val="E0E0E0"/>
                  </a:solidFill>
                  <a:latin typeface="Calibri"/>
                  <a:ea typeface="Calibri"/>
                  <a:cs typeface="Calibri"/>
                  <a:sym typeface="Calibri"/>
                </a:rPr>
                <a:t>, perdiendo detalles vitales de la vida de Jesús.</a:t>
              </a:r>
              <a:endParaRPr sz="1400">
                <a:solidFill>
                  <a:srgbClr val="E0E0E0"/>
                </a:solidFill>
                <a:latin typeface="Calibri"/>
                <a:ea typeface="Calibri"/>
                <a:cs typeface="Calibri"/>
                <a:sym typeface="Calibri"/>
              </a:endParaRPr>
            </a:p>
          </p:txBody>
        </p:sp>
      </p:grpSp>
      <p:grpSp>
        <p:nvGrpSpPr>
          <p:cNvPr id="278" name="Google Shape;278;p21"/>
          <p:cNvGrpSpPr/>
          <p:nvPr/>
        </p:nvGrpSpPr>
        <p:grpSpPr>
          <a:xfrm>
            <a:off x="4381500" y="1714500"/>
            <a:ext cx="3429000" cy="4191000"/>
            <a:chOff x="4381500" y="1714500"/>
            <a:chExt cx="3429000" cy="4191000"/>
          </a:xfrm>
        </p:grpSpPr>
        <p:sp>
          <p:nvSpPr>
            <p:cNvPr id="279" name="Google Shape;279;p21"/>
            <p:cNvSpPr/>
            <p:nvPr/>
          </p:nvSpPr>
          <p:spPr>
            <a:xfrm>
              <a:off x="4381500" y="1714500"/>
              <a:ext cx="3429000" cy="4191000"/>
            </a:xfrm>
            <a:prstGeom prst="roundRect">
              <a:avLst>
                <a:gd fmla="val 5555" name="adj"/>
              </a:avLst>
            </a:prstGeom>
            <a:solidFill>
              <a:srgbClr val="FFFFFF">
                <a:alpha val="5000"/>
              </a:srgbClr>
            </a:solidFill>
            <a:ln cap="flat" cmpd="sng" w="19050">
              <a:solidFill>
                <a:srgbClr val="ED172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1"/>
            <p:cNvSpPr txBox="1"/>
            <p:nvPr/>
          </p:nvSpPr>
          <p:spPr>
            <a:xfrm>
              <a:off x="4572000" y="1905000"/>
              <a:ext cx="3048000" cy="3810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4800">
                  <a:solidFill>
                    <a:srgbClr val="ED1721"/>
                  </a:solidFill>
                  <a:latin typeface="Material Icons"/>
                  <a:ea typeface="Material Icons"/>
                  <a:cs typeface="Material Icons"/>
                  <a:sym typeface="Material Icons"/>
                </a:rPr>
                <a:t>lan</a:t>
              </a:r>
              <a:endParaRPr b="0" sz="4800">
                <a:solidFill>
                  <a:srgbClr val="ED1721"/>
                </a:solidFill>
                <a:latin typeface="Material Icons"/>
                <a:ea typeface="Material Icons"/>
                <a:cs typeface="Material Icons"/>
                <a:sym typeface="Material Icons"/>
              </a:endParaRPr>
            </a:p>
            <a:p>
              <a:pPr indent="0" lvl="0" marL="0" rtl="0" algn="l">
                <a:spcBef>
                  <a:spcPts val="1125"/>
                </a:spcBef>
                <a:spcAft>
                  <a:spcPts val="0"/>
                </a:spcAft>
                <a:buNone/>
              </a:pPr>
              <a:r>
                <a:rPr b="1" lang="en-US" sz="2400">
                  <a:solidFill>
                    <a:srgbClr val="FFFFFF"/>
                  </a:solidFill>
                  <a:latin typeface="Oswald"/>
                  <a:ea typeface="Oswald"/>
                  <a:cs typeface="Oswald"/>
                  <a:sym typeface="Oswald"/>
                </a:rPr>
                <a:t>La Verdad del Evangelio</a:t>
              </a:r>
              <a:endParaRPr b="1" sz="2400">
                <a:solidFill>
                  <a:srgbClr val="FFFFFF"/>
                </a:solidFill>
                <a:latin typeface="Oswald"/>
                <a:ea typeface="Oswald"/>
                <a:cs typeface="Oswald"/>
                <a:sym typeface="Oswald"/>
              </a:endParaRPr>
            </a:p>
            <a:p>
              <a:pPr indent="0" lvl="0" marL="0" rtl="0" algn="l">
                <a:spcBef>
                  <a:spcPts val="750"/>
                </a:spcBef>
                <a:spcAft>
                  <a:spcPts val="0"/>
                </a:spcAft>
                <a:buNone/>
              </a:pPr>
              <a:r>
                <a:rPr b="0" lang="en-US" sz="1400">
                  <a:solidFill>
                    <a:srgbClr val="E0E0E0"/>
                  </a:solidFill>
                  <a:latin typeface="Calibri"/>
                  <a:ea typeface="Calibri"/>
                  <a:cs typeface="Calibri"/>
                  <a:sym typeface="Calibri"/>
                </a:rPr>
                <a:t>Si se rechaza a Lucas, ¿por qué aceptar los otros evangelios que dicen lo mismo?</a:t>
              </a:r>
              <a:endParaRPr b="0" sz="1400">
                <a:solidFill>
                  <a:srgbClr val="E0E0E0"/>
                </a:solidFill>
                <a:latin typeface="Calibri"/>
                <a:ea typeface="Calibri"/>
                <a:cs typeface="Calibri"/>
                <a:sym typeface="Calibri"/>
              </a:endParaRPr>
            </a:p>
            <a:p>
              <a:pPr indent="0" lvl="0" marL="0" rtl="0" algn="l">
                <a:spcBef>
                  <a:spcPts val="1125"/>
                </a:spcBef>
                <a:spcAft>
                  <a:spcPts val="0"/>
                </a:spcAft>
                <a:buNone/>
              </a:pPr>
              <a:r>
                <a:rPr b="0" lang="en-US" sz="1400">
                  <a:solidFill>
                    <a:srgbClr val="E0E0E0"/>
                  </a:solidFill>
                  <a:latin typeface="Calibri"/>
                  <a:ea typeface="Calibri"/>
                  <a:cs typeface="Calibri"/>
                  <a:sym typeface="Calibri"/>
                </a:rPr>
                <a:t>Casi todos los que rechazan a Pablo hoy terminan en el ateísmo porque Pablo unió su identidad a la cruz de tal forma que rechazar a Pablo es básicamente igual a rechazar la obra de Dios.</a:t>
              </a:r>
              <a:endParaRPr b="0" sz="1400">
                <a:solidFill>
                  <a:srgbClr val="E0E0E0"/>
                </a:solidFill>
                <a:latin typeface="Calibri"/>
                <a:ea typeface="Calibri"/>
                <a:cs typeface="Calibri"/>
                <a:sym typeface="Calibri"/>
              </a:endParaRPr>
            </a:p>
          </p:txBody>
        </p:sp>
      </p:grpSp>
      <p:grpSp>
        <p:nvGrpSpPr>
          <p:cNvPr id="281" name="Google Shape;281;p21"/>
          <p:cNvGrpSpPr/>
          <p:nvPr/>
        </p:nvGrpSpPr>
        <p:grpSpPr>
          <a:xfrm>
            <a:off x="8191500" y="1714500"/>
            <a:ext cx="3429000" cy="4191000"/>
            <a:chOff x="8191500" y="1714500"/>
            <a:chExt cx="3429000" cy="4191000"/>
          </a:xfrm>
        </p:grpSpPr>
        <p:sp>
          <p:nvSpPr>
            <p:cNvPr id="282" name="Google Shape;282;p21"/>
            <p:cNvSpPr/>
            <p:nvPr/>
          </p:nvSpPr>
          <p:spPr>
            <a:xfrm>
              <a:off x="8191500" y="1714500"/>
              <a:ext cx="3429000" cy="4191000"/>
            </a:xfrm>
            <a:prstGeom prst="roundRect">
              <a:avLst>
                <a:gd fmla="val 5555" name="adj"/>
              </a:avLst>
            </a:prstGeom>
            <a:solidFill>
              <a:srgbClr val="FFFFFF">
                <a:alpha val="5000"/>
              </a:srgbClr>
            </a:solidFill>
            <a:ln cap="flat" cmpd="sng" w="19050">
              <a:solidFill>
                <a:srgbClr val="ED172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1"/>
            <p:cNvSpPr txBox="1"/>
            <p:nvPr/>
          </p:nvSpPr>
          <p:spPr>
            <a:xfrm>
              <a:off x="8382000" y="1905000"/>
              <a:ext cx="3048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D1721"/>
                  </a:solidFill>
                  <a:latin typeface="Material Icons"/>
                  <a:ea typeface="Material Icons"/>
                  <a:cs typeface="Material Icons"/>
                  <a:sym typeface="Material Icons"/>
                </a:rPr>
                <a:t>favorite</a:t>
              </a:r>
              <a:endParaRPr sz="4800">
                <a:solidFill>
                  <a:srgbClr val="ED1721"/>
                </a:solidFill>
                <a:latin typeface="Material Icons"/>
                <a:ea typeface="Material Icons"/>
                <a:cs typeface="Material Icons"/>
                <a:sym typeface="Material Icons"/>
              </a:endParaRPr>
            </a:p>
            <a:p>
              <a:pPr indent="0" lvl="0" marL="0" rtl="0" algn="l">
                <a:spcBef>
                  <a:spcPts val="1125"/>
                </a:spcBef>
                <a:spcAft>
                  <a:spcPts val="0"/>
                </a:spcAft>
                <a:buNone/>
              </a:pPr>
              <a:r>
                <a:rPr b="1" lang="en-US" sz="2400">
                  <a:solidFill>
                    <a:srgbClr val="FFFFFF"/>
                  </a:solidFill>
                  <a:latin typeface="Oswald"/>
                  <a:ea typeface="Oswald"/>
                  <a:cs typeface="Oswald"/>
                  <a:sym typeface="Oswald"/>
                </a:rPr>
                <a:t>Nuestra Identidad</a:t>
              </a:r>
              <a:endParaRPr b="1" sz="2400">
                <a:solidFill>
                  <a:srgbClr val="FFFFFF"/>
                </a:solidFill>
                <a:latin typeface="Oswald"/>
                <a:ea typeface="Oswald"/>
                <a:cs typeface="Oswald"/>
                <a:sym typeface="Oswald"/>
              </a:endParaRPr>
            </a:p>
            <a:p>
              <a:pPr indent="0" lvl="0" marL="0" rtl="0" algn="l">
                <a:spcBef>
                  <a:spcPts val="750"/>
                </a:spcBef>
                <a:spcAft>
                  <a:spcPts val="0"/>
                </a:spcAft>
                <a:buNone/>
              </a:pPr>
              <a:r>
                <a:rPr lang="en-US" sz="1400">
                  <a:solidFill>
                    <a:srgbClr val="E0E0E0"/>
                  </a:solidFill>
                  <a:latin typeface="Calibri"/>
                  <a:ea typeface="Calibri"/>
                  <a:cs typeface="Calibri"/>
                  <a:sym typeface="Calibri"/>
                </a:rPr>
                <a:t>Debemos estar tan ligados a la cruz que nuestra identidad sea consumida por el amor de Jesús.</a:t>
              </a:r>
              <a:endParaRPr sz="1400">
                <a:solidFill>
                  <a:srgbClr val="E0E0E0"/>
                </a:solidFill>
                <a:latin typeface="Calibri"/>
                <a:ea typeface="Calibri"/>
                <a:cs typeface="Calibri"/>
                <a:sym typeface="Calibri"/>
              </a:endParaRPr>
            </a:p>
            <a:p>
              <a:pPr indent="0" lvl="0" marL="0" rtl="0" algn="l">
                <a:spcBef>
                  <a:spcPts val="1125"/>
                </a:spcBef>
                <a:spcAft>
                  <a:spcPts val="0"/>
                </a:spcAft>
                <a:buNone/>
              </a:pPr>
              <a:r>
                <a:rPr lang="en-US" sz="1400">
                  <a:solidFill>
                    <a:srgbClr val="E0E0E0"/>
                  </a:solidFill>
                  <a:latin typeface="Calibri"/>
                  <a:ea typeface="Calibri"/>
                  <a:cs typeface="Calibri"/>
                  <a:sym typeface="Calibri"/>
                </a:rPr>
                <a:t>Que ese amor sea visible para todos los que nos rodean.</a:t>
              </a:r>
              <a:endParaRPr sz="1400">
                <a:solidFill>
                  <a:srgbClr val="E0E0E0"/>
                </a:solidFill>
                <a:latin typeface="Calibri"/>
                <a:ea typeface="Calibri"/>
                <a:cs typeface="Calibri"/>
                <a:sym typeface="Calibri"/>
              </a:endParaRPr>
            </a:p>
            <a:p>
              <a:pPr indent="0" lvl="0" marL="0" rtl="0" algn="l">
                <a:spcBef>
                  <a:spcPts val="1125"/>
                </a:spcBef>
                <a:spcAft>
                  <a:spcPts val="0"/>
                </a:spcAft>
                <a:buNone/>
              </a:pPr>
              <a:r>
                <a:rPr b="1" lang="en-US" sz="1600">
                  <a:solidFill>
                    <a:srgbClr val="ED1721"/>
                  </a:solidFill>
                  <a:latin typeface="Oswald"/>
                  <a:ea typeface="Oswald"/>
                  <a:cs typeface="Oswald"/>
                  <a:sym typeface="Oswald"/>
                </a:rPr>
                <a:t>Gálatas 2:20; 6:14</a:t>
              </a:r>
              <a:endParaRPr b="1" sz="1600">
                <a:solidFill>
                  <a:srgbClr val="ED1721"/>
                </a:solidFill>
                <a:latin typeface="Oswald"/>
                <a:ea typeface="Oswald"/>
                <a:cs typeface="Oswald"/>
                <a:sym typeface="Oswald"/>
              </a:endParaRPr>
            </a:p>
          </p:txBody>
        </p:sp>
      </p:grpSp>
      <p:sp>
        <p:nvSpPr>
          <p:cNvPr id="284" name="Google Shape;284;p21"/>
          <p:cNvSpPr/>
          <p:nvPr/>
        </p:nvSpPr>
        <p:spPr>
          <a:xfrm>
            <a:off x="0" y="6286500"/>
            <a:ext cx="12192000" cy="571500"/>
          </a:xfrm>
          <a:prstGeom prst="rect">
            <a:avLst/>
          </a:prstGeom>
          <a:solidFill>
            <a:srgbClr val="ED1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1"/>
          <p:cNvSpPr txBox="1"/>
          <p:nvPr/>
        </p:nvSpPr>
        <p:spPr>
          <a:xfrm>
            <a:off x="381000" y="6286500"/>
            <a:ext cx="11430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FFFFFF"/>
                </a:solidFill>
                <a:latin typeface="Oswald"/>
                <a:ea typeface="Oswald"/>
                <a:cs typeface="Oswald"/>
                <a:sym typeface="Oswald"/>
              </a:rPr>
              <a:t>LA DECISIÓN ES TUYA: ¿RECHAZO O TRANSFORMACIÓN?</a:t>
            </a:r>
            <a:endParaRPr b="1" sz="1800">
              <a:solidFill>
                <a:srgbClr val="FFFFFF"/>
              </a:solidFill>
              <a:latin typeface="Oswald"/>
              <a:ea typeface="Oswald"/>
              <a:cs typeface="Oswald"/>
              <a:sym typeface="Oswald"/>
            </a:endParaRPr>
          </a:p>
        </p:txBody>
      </p:sp>
      <p:pic>
        <p:nvPicPr>
          <p:cNvPr descr="A dramatic, cinematic background of a glowing, ethereal wooden cross against a dark, stormy sky with rays of light breaking through, symbolizing hope and sacrifice, high contrast, minimalist." id="286" name="Google Shape;286;p21"/>
          <p:cNvPicPr preferRelativeResize="0"/>
          <p:nvPr/>
        </p:nvPicPr>
        <p:blipFill rotWithShape="1">
          <a:blip r:embed="rId4">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