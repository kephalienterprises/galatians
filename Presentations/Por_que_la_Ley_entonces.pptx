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14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eb George" userId="116a358f99233603" providerId="LiveId" clId="{B29909DB-D08E-4DD8-956D-08914DB5F79D}"/>
    <pc:docChg chg="undo custSel addSld modSld">
      <pc:chgData name="Caleb George" userId="116a358f99233603" providerId="LiveId" clId="{B29909DB-D08E-4DD8-956D-08914DB5F79D}" dt="2026-03-29T11:59:08.406" v="198" actId="1076"/>
      <pc:docMkLst>
        <pc:docMk/>
      </pc:docMkLst>
      <pc:sldChg chg="delSp mod">
        <pc:chgData name="Caleb George" userId="116a358f99233603" providerId="LiveId" clId="{B29909DB-D08E-4DD8-956D-08914DB5F79D}" dt="2026-03-29T11:58:27.237" v="194" actId="478"/>
        <pc:sldMkLst>
          <pc:docMk/>
          <pc:sldMk cId="0" sldId="256"/>
        </pc:sldMkLst>
        <pc:picChg chg="del">
          <ac:chgData name="Caleb George" userId="116a358f99233603" providerId="LiveId" clId="{B29909DB-D08E-4DD8-956D-08914DB5F79D}" dt="2026-03-29T11:58:27.237" v="194" actId="478"/>
          <ac:picMkLst>
            <pc:docMk/>
            <pc:sldMk cId="0" sldId="256"/>
            <ac:picMk id="8" creationId="{563257D8-07AD-E26C-EE0E-1A2DAD3C8D64}"/>
          </ac:picMkLst>
        </pc:picChg>
      </pc:sldChg>
      <pc:sldChg chg="modSp mod">
        <pc:chgData name="Caleb George" userId="116a358f99233603" providerId="LiveId" clId="{B29909DB-D08E-4DD8-956D-08914DB5F79D}" dt="2026-03-29T11:24:21.712" v="43" actId="20577"/>
        <pc:sldMkLst>
          <pc:docMk/>
          <pc:sldMk cId="0" sldId="262"/>
        </pc:sldMkLst>
        <pc:spChg chg="mod">
          <ac:chgData name="Caleb George" userId="116a358f99233603" providerId="LiveId" clId="{B29909DB-D08E-4DD8-956D-08914DB5F79D}" dt="2026-03-29T11:24:21.712" v="43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Caleb George" userId="116a358f99233603" providerId="LiveId" clId="{B29909DB-D08E-4DD8-956D-08914DB5F79D}" dt="2026-03-29T11:26:41.468" v="58" actId="20577"/>
        <pc:sldMkLst>
          <pc:docMk/>
          <pc:sldMk cId="0" sldId="263"/>
        </pc:sldMkLst>
        <pc:spChg chg="mod">
          <ac:chgData name="Caleb George" userId="116a358f99233603" providerId="LiveId" clId="{B29909DB-D08E-4DD8-956D-08914DB5F79D}" dt="2026-03-29T11:25:53.956" v="57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Caleb George" userId="116a358f99233603" providerId="LiveId" clId="{B29909DB-D08E-4DD8-956D-08914DB5F79D}" dt="2026-03-29T11:26:41.468" v="58" actId="2057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Caleb George" userId="116a358f99233603" providerId="LiveId" clId="{B29909DB-D08E-4DD8-956D-08914DB5F79D}" dt="2026-03-29T11:27:38.862" v="66" actId="20577"/>
        <pc:sldMkLst>
          <pc:docMk/>
          <pc:sldMk cId="0" sldId="264"/>
        </pc:sldMkLst>
        <pc:spChg chg="mod">
          <ac:chgData name="Caleb George" userId="116a358f99233603" providerId="LiveId" clId="{B29909DB-D08E-4DD8-956D-08914DB5F79D}" dt="2026-03-29T11:27:38.862" v="66" actId="2057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Caleb George" userId="116a358f99233603" providerId="LiveId" clId="{B29909DB-D08E-4DD8-956D-08914DB5F79D}" dt="2026-03-29T11:28:44.364" v="80" actId="20577"/>
        <pc:sldMkLst>
          <pc:docMk/>
          <pc:sldMk cId="0" sldId="265"/>
        </pc:sldMkLst>
        <pc:spChg chg="mod">
          <ac:chgData name="Caleb George" userId="116a358f99233603" providerId="LiveId" clId="{B29909DB-D08E-4DD8-956D-08914DB5F79D}" dt="2026-03-29T11:28:44.364" v="80" actId="20577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Caleb George" userId="116a358f99233603" providerId="LiveId" clId="{B29909DB-D08E-4DD8-956D-08914DB5F79D}" dt="2026-03-29T11:34:24.654" v="81"/>
        <pc:sldMkLst>
          <pc:docMk/>
          <pc:sldMk cId="0" sldId="266"/>
        </pc:sldMkLst>
        <pc:spChg chg="mod">
          <ac:chgData name="Caleb George" userId="116a358f99233603" providerId="LiveId" clId="{B29909DB-D08E-4DD8-956D-08914DB5F79D}" dt="2026-03-29T11:34:24.654" v="81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Caleb George" userId="116a358f99233603" providerId="LiveId" clId="{B29909DB-D08E-4DD8-956D-08914DB5F79D}" dt="2026-03-29T11:50:07.158" v="88"/>
        <pc:sldMkLst>
          <pc:docMk/>
          <pc:sldMk cId="0" sldId="267"/>
        </pc:sldMkLst>
        <pc:spChg chg="mod">
          <ac:chgData name="Caleb George" userId="116a358f99233603" providerId="LiveId" clId="{B29909DB-D08E-4DD8-956D-08914DB5F79D}" dt="2026-03-29T11:50:07.158" v="88"/>
          <ac:spMkLst>
            <pc:docMk/>
            <pc:sldMk cId="0" sldId="267"/>
            <ac:spMk id="6" creationId="{00000000-0000-0000-0000-000000000000}"/>
          </ac:spMkLst>
        </pc:spChg>
      </pc:sldChg>
      <pc:sldChg chg="modSp mod">
        <pc:chgData name="Caleb George" userId="116a358f99233603" providerId="LiveId" clId="{B29909DB-D08E-4DD8-956D-08914DB5F79D}" dt="2026-03-29T11:52:55.289" v="165" actId="20577"/>
        <pc:sldMkLst>
          <pc:docMk/>
          <pc:sldMk cId="0" sldId="268"/>
        </pc:sldMkLst>
        <pc:spChg chg="mod">
          <ac:chgData name="Caleb George" userId="116a358f99233603" providerId="LiveId" clId="{B29909DB-D08E-4DD8-956D-08914DB5F79D}" dt="2026-03-29T11:52:55.289" v="165" actId="20577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Caleb George" userId="116a358f99233603" providerId="LiveId" clId="{B29909DB-D08E-4DD8-956D-08914DB5F79D}" dt="2026-03-29T11:57:40.209" v="193" actId="20577"/>
        <pc:sldMkLst>
          <pc:docMk/>
          <pc:sldMk cId="0" sldId="269"/>
        </pc:sldMkLst>
        <pc:spChg chg="mod">
          <ac:chgData name="Caleb George" userId="116a358f99233603" providerId="LiveId" clId="{B29909DB-D08E-4DD8-956D-08914DB5F79D}" dt="2026-03-29T11:57:40.209" v="193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Caleb George" userId="116a358f99233603" providerId="LiveId" clId="{B29909DB-D08E-4DD8-956D-08914DB5F79D}" dt="2026-03-29T11:56:20.602" v="186" actId="20577"/>
          <ac:spMkLst>
            <pc:docMk/>
            <pc:sldMk cId="0" sldId="269"/>
            <ac:spMk id="5" creationId="{00000000-0000-0000-0000-000000000000}"/>
          </ac:spMkLst>
        </pc:spChg>
      </pc:sldChg>
      <pc:sldChg chg="addSp modSp new mod">
        <pc:chgData name="Caleb George" userId="116a358f99233603" providerId="LiveId" clId="{B29909DB-D08E-4DD8-956D-08914DB5F79D}" dt="2026-03-29T11:59:08.406" v="198" actId="1076"/>
        <pc:sldMkLst>
          <pc:docMk/>
          <pc:sldMk cId="550225372" sldId="270"/>
        </pc:sldMkLst>
        <pc:picChg chg="add mod">
          <ac:chgData name="Caleb George" userId="116a358f99233603" providerId="LiveId" clId="{B29909DB-D08E-4DD8-956D-08914DB5F79D}" dt="2026-03-29T11:59:08.406" v="198" actId="1076"/>
          <ac:picMkLst>
            <pc:docMk/>
            <pc:sldMk cId="550225372" sldId="270"/>
            <ac:picMk id="3" creationId="{42668572-2F31-A98F-7CD7-0EAA2F0612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36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" cy="25603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¿Para qué, pues, la Ley?</a:t>
            </a:r>
            <a:endParaRPr lang="es-PR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16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Gálatas 3–4</a:t>
            </a:r>
            <a:endParaRPr lang="es-PR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668572-2F31-A98F-7CD7-0EAA2F061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277" y="178819"/>
            <a:ext cx="3213589" cy="478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2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 Central</a:t>
            </a:r>
            <a:endParaRPr lang="es-PR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63040" cy="34747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Gál 3:1–18</a:t>
            </a:r>
            <a:endParaRPr lang="es-PR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7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argumentos de Pablo en Gálatas 3:1–18 parecen haber dejado la ley sin ninguna función.</a:t>
            </a:r>
            <a:endParaRPr lang="es-PR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18872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606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3400" b="1" i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«¿Para qué, pues, la ley?»</a:t>
            </a:r>
            <a:endParaRPr lang="es-PR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Énfasis de la Ley  —  Gál 3:19</a:t>
            </a:r>
            <a:endParaRPr lang="es-PR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98448"/>
            <a:ext cx="475488" cy="47548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PR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«añadida»</a:t>
            </a:r>
            <a:endParaRPr lang="es-PR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114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2304288"/>
            <a:ext cx="475488" cy="47548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PR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 de las transgresiones</a:t>
            </a:r>
            <a:endParaRPr lang="es-PR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114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3310128"/>
            <a:ext cx="475488" cy="47548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PR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viniera la Simiente</a:t>
            </a:r>
            <a:endParaRPr lang="es-PR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14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28032" y="1298448"/>
            <a:ext cx="475488" cy="47548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PR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1188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 por medio de ángeles</a:t>
            </a:r>
            <a:endParaRPr lang="es-PR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114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2304288"/>
            <a:ext cx="475488" cy="47548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PR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1945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R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mano de un mediador</a:t>
            </a:r>
            <a:endParaRPr lang="es-PR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Énfasis #1: «Fue Añadida»  —  Gál 3:19</a:t>
            </a:r>
            <a:endParaRPr lang="es-PR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Ley es…</a:t>
            </a:r>
            <a:endParaRPr lang="es-PR" sz="1800" dirty="0"/>
          </a:p>
          <a:p>
            <a:pPr marL="0" indent="0" algn="ctr">
              <a:buNone/>
            </a:pPr>
            <a:r>
              <a:rPr lang="es-PR" sz="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s-PR" sz="1800" dirty="0"/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Secundaria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s-PR" sz="1800" dirty="0"/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por lo tanto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s-PR" sz="1800" dirty="0"/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Subordinada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endParaRPr lang="es-PR" sz="1800" dirty="0"/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Pacto</a:t>
            </a:r>
            <a:endParaRPr lang="es-PR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206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«Fue añadida» marca la ley como secundaria y, por lo tanto, subordinada al pacto.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/>
              <a:t>No significa que fue añadida a la promesa a Abraham como una especie de suplemento.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/>
              <a:t>Fue añadida a la situación humana con un propósito especial — un propósito totalmente diferente al de la promesa.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Énfasis #2: «A Causa de las Transgresiones»  —  Gál 3:19</a:t>
            </a:r>
            <a:endParaRPr lang="es-PR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Ley es…</a:t>
            </a:r>
            <a:endParaRPr lang="es-PR" sz="1800" dirty="0"/>
          </a:p>
          <a:p>
            <a:pPr marL="0" indent="0" algn="ctr">
              <a:buNone/>
            </a:pPr>
            <a:r>
              <a:rPr lang="es-PR" sz="8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Diagnóstica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por lo tanto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Reveladora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culpa del pecado</a:t>
            </a:r>
            <a:endParaRPr lang="es-PR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206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La ley fue dada para producir un conocimiento del pecado — identificándolo como una transgresión ante Dios.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No para proveer expiación, sino para exponer la necesidad de ella (Rom 3:20; 7:7).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Cf. Rom 4:15; 5:13 — donde no hay ley, el pecado no se cuenta como transgresión.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0000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400000"/>
          </a:xfrm>
          <a:prstGeom prst="rect">
            <a:avLst/>
          </a:prstGeom>
          <a:noFill/>
          <a:ln/>
        </p:spPr>
        <p:txBody>
          <a:bodyPr wrap="square" lIns="0" tIns="91440" rIns="0" bIns="0" rtlCol="0" anchor="ctr"/>
          <a:lstStyle/>
          <a:p>
            <a:pPr marL="0" indent="0" algn="l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Énfasis #3: «Hasta que Viniera la Simiente»</a:t>
            </a:r>
            <a:endParaRPr lang="es-PR" sz="2200" dirty="0"/>
          </a:p>
          <a:p>
            <a:pPr marL="0" indent="0" algn="l">
              <a:buNone/>
            </a:pPr>
            <a:r>
              <a:rPr lang="es-PR" sz="1600" b="0" i="1" dirty="0">
                <a:solidFill>
                  <a:srgbClr val="D4A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Gál 3:19</a:t>
            </a:r>
            <a:endParaRPr lang="es-PR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37160"/>
            <a:ext cx="3840480" cy="27500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37160"/>
            <a:ext cx="3840480" cy="27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Ley es…</a:t>
            </a:r>
            <a:endParaRPr lang="es-PR" sz="1800" dirty="0"/>
          </a:p>
          <a:p>
            <a:pPr marL="0" indent="0" algn="ctr">
              <a:buNone/>
            </a:pPr>
            <a:r>
              <a:rPr lang="es-PR" sz="8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Preparatoria</a:t>
            </a:r>
            <a:endParaRPr lang="es-PR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680000"/>
            <a:ext cx="4206240" cy="2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La ley limitada en ambas direcciones — comienza después de la promesa a Abraham, termina con la venida de Cristo.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El pacto de la promesa es permanente; la ley es un paréntesis.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Con la venida de Cristo, el papel custodial de la ley termina (cf. 3:25).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0000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400000"/>
          </a:xfrm>
          <a:prstGeom prst="rect">
            <a:avLst/>
          </a:prstGeom>
          <a:noFill/>
          <a:ln/>
        </p:spPr>
        <p:txBody>
          <a:bodyPr wrap="square" lIns="0" tIns="91440" rIns="0" bIns="0" rtlCol="0" anchor="ctr"/>
          <a:lstStyle/>
          <a:p>
            <a:pPr marL="0" indent="0" algn="l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Énfasis #4: «Ordenada por Medio de Ángeles»</a:t>
            </a:r>
            <a:endParaRPr lang="es-PR" sz="2200" dirty="0"/>
          </a:p>
          <a:p>
            <a:pPr marL="0" indent="0" algn="l">
              <a:buNone/>
            </a:pPr>
            <a:r>
              <a:rPr lang="es-PR" sz="1600" b="0" i="1" dirty="0">
                <a:solidFill>
                  <a:srgbClr val="D4A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Gál 3:19</a:t>
            </a:r>
            <a:endParaRPr lang="es-PR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37160"/>
            <a:ext cx="3840480" cy="27500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37160"/>
            <a:ext cx="3840480" cy="27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Ley es…</a:t>
            </a:r>
            <a:endParaRPr lang="es-PR" sz="1800" dirty="0"/>
          </a:p>
          <a:p>
            <a:pPr marL="0" indent="0" algn="ctr">
              <a:buNone/>
            </a:pPr>
            <a:r>
              <a:rPr lang="es-PR" sz="8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Inferior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 Promesa</a:t>
            </a:r>
            <a:endParaRPr lang="es-PR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680000"/>
            <a:ext cx="4206240" cy="2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La mediación angélica muestra que la ley no está al mismo nivel que la promesa dada directamente por Dios a Abraham (Ex 3:2; 14:19; </a:t>
            </a:r>
            <a:r>
              <a:rPr lang="es-PR" sz="1600" dirty="0" err="1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Dt</a:t>
            </a: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 33:2; Sal 68:17; </a:t>
            </a:r>
            <a:r>
              <a:rPr lang="es-PR" sz="1600" dirty="0" err="1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Hch</a:t>
            </a: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 7:53).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Lo que los judaizantes citaban como la gloria de la ley, Pablo lo convierte en evidencia de su inferioridad.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En contexto, es casi imposible leer «ordenada por medio de ángeles» como algo que no sea depreciación de la ley.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0000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400000"/>
          </a:xfrm>
          <a:prstGeom prst="rect">
            <a:avLst/>
          </a:prstGeom>
          <a:noFill/>
          <a:ln/>
        </p:spPr>
        <p:txBody>
          <a:bodyPr wrap="square" lIns="0" tIns="91440" rIns="0" bIns="0" rtlCol="0" anchor="ctr"/>
          <a:lstStyle/>
          <a:p>
            <a:pPr marL="0" indent="0" algn="l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Énfasis #5: «Por Mano de un Mediador»</a:t>
            </a:r>
            <a:endParaRPr lang="es-PR" sz="2200" dirty="0"/>
          </a:p>
          <a:p>
            <a:pPr marL="0" indent="0" algn="l">
              <a:buNone/>
            </a:pPr>
            <a:r>
              <a:rPr lang="es-PR" sz="1600" b="0" i="1" dirty="0">
                <a:solidFill>
                  <a:srgbClr val="D4A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Gál 3:19–20</a:t>
            </a:r>
            <a:endParaRPr lang="es-PR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37160"/>
            <a:ext cx="3840480" cy="27500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37160"/>
            <a:ext cx="3840480" cy="27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Ley es…</a:t>
            </a:r>
            <a:endParaRPr lang="es-PR" sz="1800" dirty="0"/>
          </a:p>
          <a:p>
            <a:pPr marL="0" indent="0" algn="ctr">
              <a:buNone/>
            </a:pPr>
            <a:r>
              <a:rPr lang="es-PR" sz="8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Intermediada,</a:t>
            </a:r>
            <a:endParaRPr lang="es-PR" sz="1800" dirty="0"/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</a:rPr>
              <a:t> </a:t>
            </a:r>
            <a:endParaRPr lang="es-PR" sz="1800" dirty="0"/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Unilateral</a:t>
            </a:r>
            <a:endParaRPr lang="es-PR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680000"/>
            <a:ext cx="4206240" cy="2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La ley dada «por mano de Moisés» — un mediador entre Dios e Israel (Dt 5:5; Lv 26:46).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Un mediador implica pluralidad, contrastando con la unicidad de Dios (Gál 3:20) — Dios actuó unilateralmente con Abraham.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600" b="1" dirty="0">
                <a:solidFill>
                  <a:srgbClr val="FFFFFF"/>
                </a:solidFill>
                <a:latin typeface="Georgia" pitchFamily="34" charset="0"/>
              </a:rPr>
              <a:t>La Ley como Carcelero  —  Gál 3:22–23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</a:rPr>
              <a:t>La Ley es…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Un Carcelero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y por lo tanto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Condenadora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de toda la humanidad</a:t>
            </a:r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206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La Escritura «encerró» todas las cosas bajo pecado — la ley es el oficial que encierra al transgresor en la prisión de la cual el pecado es el carcelero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Gál 3:23: «retenidos en custodia» bajo la ley — aquí la ley misma actúa como el carcelero, no el pecado.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Estar bajo la ley es en la práctica estar bajo el pecado — no porque sean idénticos, sino porque la ley estimula lo mismo que prohíbe (cf. Rom 6:14; 7:7).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600" b="1" dirty="0">
                <a:solidFill>
                  <a:srgbClr val="FFFFFF"/>
                </a:solidFill>
                <a:latin typeface="Georgia" pitchFamily="34" charset="0"/>
              </a:rPr>
              <a:t>El Propósito del Carcelero  —  Gál 3:22–23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</a:rPr>
              <a:t>La Prisión es…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Intencional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dirigiendo a los pecadores a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la Promesa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como su única esperanza</a:t>
            </a:r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206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El encarcelamiento no es arbitrario: expone la condición universal humana — todos están bajo pecado — para que miren a la promesa para su liberación.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La ley no puede impartir vida (3:21); encierra a hombres y mujeres hacia la gracia de Dios como su única esperanza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Aquellos que recobran el sentido en la prisión, reconociendo lo desesperado de su situación, están más dispuestos a abrazar la promesa de libertad y vida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600" b="1" dirty="0">
                <a:solidFill>
                  <a:srgbClr val="FFFFFF"/>
                </a:solidFill>
                <a:latin typeface="Georgia" pitchFamily="34" charset="0"/>
              </a:rPr>
              <a:t>La Ley como Tutor  —  Gál 3:24–25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</a:rPr>
              <a:t>La Ley es…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Un Custodio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y por lo tanto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Disciplinaria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no instructiva</a:t>
            </a:r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206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El </a:t>
            </a:r>
            <a:r>
              <a:rPr lang="es-PR" sz="1600" i="1" dirty="0" err="1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paidagogos</a:t>
            </a: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 era un esclavo personal que acompañaba al niño libre, imponía buena conducta y lo escoltaba a la escuela — pero no era su maestro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El papel era de «guardián supervisor» — custodial y disciplinario, no educativo. El maestro es quien instruye; el pedagogo solo restringe.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Platón (Leyes 7.808c): «</a:t>
            </a:r>
            <a:r>
              <a:rPr lang="es-ES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el niño debe ser sujetado, por así decirlo, con muchos frenos</a:t>
            </a: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» — el pedagogo guía la ignorancia infantil bajo compulsión.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600" b="1" dirty="0">
                <a:solidFill>
                  <a:srgbClr val="FFFFFF"/>
                </a:solidFill>
                <a:latin typeface="Georgia" pitchFamily="34" charset="0"/>
              </a:rPr>
              <a:t>El Fin del Tutor  —  Gál 3:25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</a:rPr>
              <a:t>El papel de la Ley es…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Temporal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concluyendo con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Fe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en Cristo</a:t>
            </a:r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206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3:24: la ley fue nuestro tutor «hasta que vino Cristo» — un papel definido por su fin, no por su permanencia.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3:25: «Ahora que ha venido la fe, ya no estamos bajo un tutor.» Con la venida de Cristo, el papel custodial termina y la libertad comienza.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Jenofonte (Const. Lac. 3.1): «Cuando un niño deja de ser niño y comienza a ser joven… ya no está bajo un gobernante.» Mayoría = libertad; la venida de Cristo es el momento de mayoría para el pueblo de Dios.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600" b="1" dirty="0">
                <a:solidFill>
                  <a:srgbClr val="FFFFFF"/>
                </a:solidFill>
                <a:latin typeface="Georgia" pitchFamily="34" charset="0"/>
              </a:rPr>
              <a:t>Guardián y Mayordomo  —  Gál 4:1–2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</a:rPr>
              <a:t>La Ley es…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Un Guardián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puesto sobre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El Heredero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hasta la madurez</a:t>
            </a:r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206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La imagen de Pablo: un niño que es legalmente el heredero — señor de la herencia familiar — pero aún es menor y vive bajo reglas muy parecidas a las de un esclavo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El guardián tenía la custodia personal del menor; el mayordomo administraba su propiedad. Ambos términos son aproximadamente sinónimos del tutor como guardián supervisor.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En la ley romana: hasta los 14 años el heredero estaba bajo un tutor; hasta los 25 bajo un curador. El padre podía nombrar a ambos por testamento (cf. Justiniano, Inst. 1.22–23).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4F2E"/>
          </a:solidFill>
          <a:ln w="12700">
            <a:solidFill>
              <a:srgbClr val="7B4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R" sz="2600" b="1" dirty="0">
                <a:solidFill>
                  <a:srgbClr val="FFFFFF"/>
                </a:solidFill>
                <a:latin typeface="Georgia" pitchFamily="34" charset="0"/>
              </a:rPr>
              <a:t>De la Minoría a la Madurez  —  Gál 4:4–7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R" sz="1800" b="1" dirty="0">
                <a:solidFill>
                  <a:srgbClr val="C9973A"/>
                </a:solidFill>
                <a:latin typeface="Georgia" pitchFamily="34" charset="0"/>
              </a:rPr>
              <a:t>El Heredero </a:t>
            </a:r>
            <a:r>
              <a:rPr lang="es-PR" b="1" dirty="0">
                <a:solidFill>
                  <a:srgbClr val="C9973A"/>
                </a:solidFill>
                <a:latin typeface="Georgia" pitchFamily="34" charset="0"/>
              </a:rPr>
              <a:t>se</a:t>
            </a:r>
            <a:r>
              <a:rPr lang="es-PR" sz="1800" b="1" dirty="0">
                <a:solidFill>
                  <a:srgbClr val="C9973A"/>
                </a:solidFill>
                <a:latin typeface="Georgia" pitchFamily="34" charset="0"/>
              </a:rPr>
              <a:t>…</a:t>
            </a:r>
          </a:p>
          <a:p>
            <a:pPr marL="0" indent="0" algn="ctr">
              <a:buNone/>
            </a:pPr>
            <a:r>
              <a:rPr lang="es-PR" sz="600" dirty="0">
                <a:solidFill>
                  <a:srgbClr val="000000"/>
                </a:solidFill>
                <a:latin typeface="Georgia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PR" sz="2200" b="1" dirty="0">
                <a:solidFill>
                  <a:srgbClr val="FFFFFF"/>
                </a:solidFill>
                <a:latin typeface="Georgia" pitchFamily="34" charset="0"/>
              </a:rPr>
              <a:t>Libera</a:t>
            </a:r>
          </a:p>
          <a:p>
            <a:pPr marL="0" indent="0" algn="ctr">
              <a:buNone/>
            </a:pPr>
            <a:endParaRPr lang="es-PR" sz="600" dirty="0">
              <a:solidFill>
                <a:srgbClr val="000000"/>
              </a:solidFill>
              <a:latin typeface="Georgia" pitchFamily="34" charset="0"/>
            </a:endParaRPr>
          </a:p>
          <a:p>
            <a:pPr marL="0" indent="0" algn="ctr">
              <a:buNone/>
            </a:pPr>
            <a:r>
              <a:rPr lang="es-PR" sz="1400" i="1" dirty="0">
                <a:solidFill>
                  <a:srgbClr val="A08060"/>
                </a:solidFill>
                <a:latin typeface="Georgia" pitchFamily="34" charset="0"/>
              </a:rPr>
              <a:t>en el tiempo señalado</a:t>
            </a:r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206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4:1: El menor en nada difiere del esclavo, aunque es señor de todo — hipérbole, pero el punto se mantiene: ambos viven bajo reglas y regulaciones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4:4: «Cuando vino el cumplimiento del tiempo, Dios envió a su Hijo» — la «fecha establecida por el padre» (v. 2) ha llegado; el período de tutela ha terminado.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PR" sz="1600" dirty="0">
                <a:solidFill>
                  <a:srgbClr val="2C1A0E"/>
                </a:solidFill>
                <a:ea typeface="Calibri" pitchFamily="34" charset="-122"/>
                <a:cs typeface="Calibri" pitchFamily="34" charset="-120"/>
              </a:rPr>
              <a:t>4:5–7: La redención de la tutela de la ley resulta no meramente en libertad sino en adopción — de una minoría semejante a la esclavitud a la plena filiación y herencia por el Espíritu.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1210</Words>
  <Application>Microsoft Office PowerPoint</Application>
  <PresentationFormat>On-screen Show (16:9)</PresentationFormat>
  <Paragraphs>153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the Law Then</dc:title>
  <dc:subject>PptxGenJS Presentation</dc:subject>
  <dc:creator>PptxGenJS</dc:creator>
  <cp:lastModifiedBy>Caleb George</cp:lastModifiedBy>
  <cp:revision>4</cp:revision>
  <dcterms:created xsi:type="dcterms:W3CDTF">2026-03-27T01:51:23Z</dcterms:created>
  <dcterms:modified xsi:type="dcterms:W3CDTF">2026-03-29T11:59:33Z</dcterms:modified>
</cp:coreProperties>
</file>