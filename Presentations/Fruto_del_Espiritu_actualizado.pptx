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" name="Google Shape;5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">
  <p:cSld name="Generated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22.jpg"/><Relationship Id="rId5" Type="http://schemas.openxmlformats.org/officeDocument/2006/relationships/image" Target="../media/image8.jpg"/><Relationship Id="rId6" Type="http://schemas.openxmlformats.org/officeDocument/2006/relationships/image" Target="../media/image1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1.jpg"/><Relationship Id="rId5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0.jpg"/><Relationship Id="rId5" Type="http://schemas.openxmlformats.org/officeDocument/2006/relationships/image" Target="../media/image21.jpg"/><Relationship Id="rId6" Type="http://schemas.openxmlformats.org/officeDocument/2006/relationships/image" Target="../media/image24.jpg"/><Relationship Id="rId7" Type="http://schemas.openxmlformats.org/officeDocument/2006/relationships/image" Target="../media/image2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9.jpg"/><Relationship Id="rId5" Type="http://schemas.openxmlformats.org/officeDocument/2006/relationships/image" Target="../media/image16.jpg"/><Relationship Id="rId6" Type="http://schemas.openxmlformats.org/officeDocument/2006/relationships/image" Target="../media/image18.jpg"/><Relationship Id="rId7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7.jpg"/><Relationship Id="rId5" Type="http://schemas.openxmlformats.org/officeDocument/2006/relationships/image" Target="../media/image29.jpg"/><Relationship Id="rId6" Type="http://schemas.openxmlformats.org/officeDocument/2006/relationships/image" Target="../media/image2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5.jpg"/><Relationship Id="rId5" Type="http://schemas.openxmlformats.org/officeDocument/2006/relationships/image" Target="../media/image27.jpg"/><Relationship Id="rId6" Type="http://schemas.openxmlformats.org/officeDocument/2006/relationships/image" Target="../media/image3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36.jpg"/><Relationship Id="rId6" Type="http://schemas.openxmlformats.org/officeDocument/2006/relationships/image" Target="../media/image30.jpg"/><Relationship Id="rId7" Type="http://schemas.openxmlformats.org/officeDocument/2006/relationships/image" Target="../media/image38.jpg"/><Relationship Id="rId8" Type="http://schemas.openxmlformats.org/officeDocument/2006/relationships/image" Target="../media/image3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3.jpg"/><Relationship Id="rId5" Type="http://schemas.openxmlformats.org/officeDocument/2006/relationships/image" Target="../media/image28.jpg"/><Relationship Id="rId6" Type="http://schemas.openxmlformats.org/officeDocument/2006/relationships/image" Target="../media/image3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37.jpg"/><Relationship Id="rId5" Type="http://schemas.openxmlformats.org/officeDocument/2006/relationships/image" Target="../media/image3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inematic, high-resolution background showing a dramatic contrast between a dry, cracked desert earth on one side and a lush, vibrant garden with fruit-bearing trees on the other, symbolizing the struggle between flesh and spirit. Soft bokeh effect." id="55" name="Google Shape;5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4"/>
          <p:cNvGrpSpPr/>
          <p:nvPr/>
        </p:nvGrpSpPr>
        <p:grpSpPr>
          <a:xfrm>
            <a:off x="762000" y="1714500"/>
            <a:ext cx="7620000" cy="2000250"/>
            <a:chOff x="762000" y="1714500"/>
            <a:chExt cx="7620000" cy="2000250"/>
          </a:xfrm>
        </p:grpSpPr>
        <p:sp>
          <p:nvSpPr>
            <p:cNvPr id="57" name="Google Shape;57;p14"/>
            <p:cNvSpPr txBox="1"/>
            <p:nvPr/>
          </p:nvSpPr>
          <p:spPr>
            <a:xfrm>
              <a:off x="762000" y="1714500"/>
              <a:ext cx="7620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70"/>
                <a:buFont typeface="Arial"/>
                <a:buNone/>
              </a:pPr>
              <a:r>
                <a:rPr b="1" i="0" lang="en" sz="3570" u="none" cap="none" strike="noStrike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Las obras de la carne vs. el fruto del Espíritu</a:t>
              </a:r>
              <a:endParaRPr b="1" i="0" sz="357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pic>
          <p:nvPicPr>
            <p:cNvPr id="58" name="Google Shape;58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619500" y="2952750"/>
              <a:ext cx="19050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" name="Google Shape;59;p14"/>
            <p:cNvSpPr txBox="1"/>
            <p:nvPr/>
          </p:nvSpPr>
          <p:spPr>
            <a:xfrm>
              <a:off x="762000" y="3143250"/>
              <a:ext cx="762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" sz="1800" u="none" cap="none" strike="noStrike">
                  <a:solidFill>
                    <a:srgbClr val="E0E0E0"/>
                  </a:solidFill>
                  <a:latin typeface="Georgia"/>
                  <a:ea typeface="Georgia"/>
                  <a:cs typeface="Georgia"/>
                  <a:sym typeface="Georgia"/>
                </a:rPr>
                <a:t>Gálatas 5:19-23</a:t>
              </a:r>
              <a:endParaRPr b="0" i="0" sz="1800" u="none" cap="none" strike="noStrike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Obras de la carne: Pecados Sexuales</a:t>
            </a:r>
            <a:endParaRPr b="1" i="0" sz="32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571500" y="952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0"/>
              <a:buFont typeface="Arial"/>
              <a:buNone/>
            </a:pPr>
            <a:r>
              <a:rPr b="0" i="0" lang="en" sz="1530" u="none" cap="none" strike="noStrike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Gálatas 5:19</a:t>
            </a:r>
            <a:endParaRPr b="0" i="0" sz="1530" u="none" cap="none" strike="noStrike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68" name="Google Shape;68;p15"/>
          <p:cNvGrpSpPr/>
          <p:nvPr/>
        </p:nvGrpSpPr>
        <p:grpSpPr>
          <a:xfrm>
            <a:off x="571500" y="1524000"/>
            <a:ext cx="2476500" cy="2857500"/>
            <a:chOff x="571500" y="1524000"/>
            <a:chExt cx="2476500" cy="2857500"/>
          </a:xfrm>
        </p:grpSpPr>
        <p:sp>
          <p:nvSpPr>
            <p:cNvPr id="69" name="Google Shape;69;p15"/>
            <p:cNvSpPr/>
            <p:nvPr/>
          </p:nvSpPr>
          <p:spPr>
            <a:xfrm>
              <a:off x="571500" y="1524000"/>
              <a:ext cx="2476500" cy="2857500"/>
            </a:xfrm>
            <a:prstGeom prst="roundRect">
              <a:avLst>
                <a:gd fmla="val 3846" name="adj"/>
              </a:avLst>
            </a:prstGeom>
            <a:solidFill>
              <a:srgbClr val="212121"/>
            </a:solidFill>
            <a:ln cap="flat" cmpd="sng" w="19050">
              <a:solidFill>
                <a:srgbClr val="F44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0" name="Google Shape;70;p15"/>
            <p:cNvPicPr preferRelativeResize="0"/>
            <p:nvPr/>
          </p:nvPicPr>
          <p:blipFill rotWithShape="1">
            <a:blip r:embed="rId4">
              <a:alphaModFix/>
            </a:blip>
            <a:srcRect b="0" l="2723" r="2732" t="0"/>
            <a:stretch/>
          </p:blipFill>
          <p:spPr>
            <a:xfrm>
              <a:off x="571500" y="1524000"/>
              <a:ext cx="2476500" cy="14289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71" name="Google Shape;71;p15"/>
            <p:cNvSpPr txBox="1"/>
            <p:nvPr/>
          </p:nvSpPr>
          <p:spPr>
            <a:xfrm>
              <a:off x="762000" y="30480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30"/>
                <a:buFont typeface="Arial"/>
                <a:buNone/>
              </a:pPr>
              <a:r>
                <a:rPr b="1" i="0" lang="en" sz="1530" u="none" cap="none" strike="noStrike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Inmoralidad sexual</a:t>
              </a:r>
              <a:endParaRPr b="1" i="0" sz="1530" u="none" cap="none" strike="noStrike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2" name="Google Shape;72;p15"/>
            <p:cNvSpPr txBox="1"/>
            <p:nvPr/>
          </p:nvSpPr>
          <p:spPr>
            <a:xfrm>
              <a:off x="762000" y="3476625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Relaciones sexuales ilícitas e inmorales.</a:t>
              </a:r>
              <a:endParaRPr b="0" i="0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73" name="Google Shape;73;p15"/>
          <p:cNvGrpSpPr/>
          <p:nvPr/>
        </p:nvGrpSpPr>
        <p:grpSpPr>
          <a:xfrm>
            <a:off x="3333750" y="1524000"/>
            <a:ext cx="2476500" cy="2857500"/>
            <a:chOff x="3333750" y="1524000"/>
            <a:chExt cx="2476500" cy="2857500"/>
          </a:xfrm>
        </p:grpSpPr>
        <p:sp>
          <p:nvSpPr>
            <p:cNvPr id="74" name="Google Shape;74;p15"/>
            <p:cNvSpPr/>
            <p:nvPr/>
          </p:nvSpPr>
          <p:spPr>
            <a:xfrm>
              <a:off x="3333750" y="1524000"/>
              <a:ext cx="2476500" cy="2857500"/>
            </a:xfrm>
            <a:prstGeom prst="roundRect">
              <a:avLst>
                <a:gd fmla="val 3846" name="adj"/>
              </a:avLst>
            </a:prstGeom>
            <a:solidFill>
              <a:srgbClr val="212121"/>
            </a:solidFill>
            <a:ln cap="flat" cmpd="sng" w="19050">
              <a:solidFill>
                <a:srgbClr val="F44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5" name="Google Shape;75;p15"/>
            <p:cNvPicPr preferRelativeResize="0"/>
            <p:nvPr/>
          </p:nvPicPr>
          <p:blipFill rotWithShape="1">
            <a:blip r:embed="rId5">
              <a:alphaModFix/>
            </a:blip>
            <a:srcRect b="0" l="2723" r="2732" t="0"/>
            <a:stretch/>
          </p:blipFill>
          <p:spPr>
            <a:xfrm>
              <a:off x="3333750" y="1524000"/>
              <a:ext cx="2476500" cy="14289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76" name="Google Shape;76;p15"/>
            <p:cNvSpPr txBox="1"/>
            <p:nvPr/>
          </p:nvSpPr>
          <p:spPr>
            <a:xfrm>
              <a:off x="3524250" y="30480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30"/>
                <a:buFont typeface="Arial"/>
                <a:buNone/>
              </a:pPr>
              <a:r>
                <a:rPr b="1" i="0" lang="en" sz="1530" u="none" cap="none" strike="noStrike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Impureza</a:t>
              </a:r>
              <a:endParaRPr b="1" i="0" sz="1530" u="none" cap="none" strike="noStrike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7" name="Google Shape;77;p15"/>
            <p:cNvSpPr txBox="1"/>
            <p:nvPr/>
          </p:nvSpPr>
          <p:spPr>
            <a:xfrm>
              <a:off x="3524250" y="3476625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Impureza sexual o libertinaje moral.</a:t>
              </a:r>
              <a:endParaRPr b="0" i="0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78" name="Google Shape;78;p15"/>
          <p:cNvGrpSpPr/>
          <p:nvPr/>
        </p:nvGrpSpPr>
        <p:grpSpPr>
          <a:xfrm>
            <a:off x="6096000" y="1524000"/>
            <a:ext cx="2476500" cy="2857500"/>
            <a:chOff x="6096000" y="1524000"/>
            <a:chExt cx="2476500" cy="2857500"/>
          </a:xfrm>
        </p:grpSpPr>
        <p:sp>
          <p:nvSpPr>
            <p:cNvPr id="79" name="Google Shape;79;p15"/>
            <p:cNvSpPr/>
            <p:nvPr/>
          </p:nvSpPr>
          <p:spPr>
            <a:xfrm>
              <a:off x="6096000" y="1524000"/>
              <a:ext cx="2476500" cy="2857500"/>
            </a:xfrm>
            <a:prstGeom prst="roundRect">
              <a:avLst>
                <a:gd fmla="val 3846" name="adj"/>
              </a:avLst>
            </a:prstGeom>
            <a:solidFill>
              <a:srgbClr val="212121"/>
            </a:solidFill>
            <a:ln cap="flat" cmpd="sng" w="19050">
              <a:solidFill>
                <a:srgbClr val="F44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0" name="Google Shape;80;p15"/>
            <p:cNvPicPr preferRelativeResize="0"/>
            <p:nvPr/>
          </p:nvPicPr>
          <p:blipFill rotWithShape="1">
            <a:blip r:embed="rId6">
              <a:alphaModFix/>
            </a:blip>
            <a:srcRect b="0" l="2723" r="2732" t="0"/>
            <a:stretch/>
          </p:blipFill>
          <p:spPr>
            <a:xfrm>
              <a:off x="6096000" y="1524000"/>
              <a:ext cx="2476500" cy="14289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81" name="Google Shape;81;p15"/>
            <p:cNvSpPr txBox="1"/>
            <p:nvPr/>
          </p:nvSpPr>
          <p:spPr>
            <a:xfrm>
              <a:off x="6286500" y="30480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30"/>
                <a:buFont typeface="Arial"/>
                <a:buNone/>
              </a:pPr>
              <a:r>
                <a:rPr b="1" i="0" lang="en" sz="1530" u="none" cap="none" strike="noStrike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Sensualidad</a:t>
              </a:r>
              <a:endParaRPr b="1" i="0" sz="1530" u="none" cap="none" strike="noStrike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82" name="Google Shape;82;p15"/>
            <p:cNvSpPr txBox="1"/>
            <p:nvPr/>
          </p:nvSpPr>
          <p:spPr>
            <a:xfrm>
              <a:off x="6286500" y="3476625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Amor al pecado tan temerario que ya no importa lo que Dios o los hombres piensen.</a:t>
              </a:r>
              <a:endParaRPr b="0" i="0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83" name="Google Shape;83;p15"/>
          <p:cNvSpPr txBox="1"/>
          <p:nvPr/>
        </p:nvSpPr>
        <p:spPr>
          <a:xfrm>
            <a:off x="571500" y="45720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" sz="1300" u="none" cap="none" strike="noStrike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"...las cuales son: sexualidad inmoral, impureza, sensualidad..."</a:t>
            </a:r>
            <a:endParaRPr b="0" i="1" sz="1300" u="none" cap="none" strike="noStrike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0"/>
              <a:buFont typeface="Arial"/>
              <a:buNone/>
            </a:pPr>
            <a:r>
              <a:rPr b="1" i="0" lang="en" sz="296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Obras de la carne: Idolatría y Hechicería</a:t>
            </a:r>
            <a:endParaRPr b="1" i="0" sz="296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571500" y="952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Gálatas 5:20</a:t>
            </a:r>
            <a:endParaRPr b="0" i="0" sz="1500" u="none" cap="none" strike="noStrike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92" name="Google Shape;92;p16"/>
          <p:cNvGrpSpPr/>
          <p:nvPr/>
        </p:nvGrpSpPr>
        <p:grpSpPr>
          <a:xfrm>
            <a:off x="1714500" y="1524000"/>
            <a:ext cx="2476500" cy="2857500"/>
            <a:chOff x="1714500" y="1524000"/>
            <a:chExt cx="2476500" cy="2857500"/>
          </a:xfrm>
        </p:grpSpPr>
        <p:sp>
          <p:nvSpPr>
            <p:cNvPr id="93" name="Google Shape;93;p16"/>
            <p:cNvSpPr/>
            <p:nvPr/>
          </p:nvSpPr>
          <p:spPr>
            <a:xfrm>
              <a:off x="1714500" y="1524000"/>
              <a:ext cx="2476500" cy="2857500"/>
            </a:xfrm>
            <a:prstGeom prst="roundRect">
              <a:avLst>
                <a:gd fmla="val 3846" name="adj"/>
              </a:avLst>
            </a:prstGeom>
            <a:solidFill>
              <a:srgbClr val="212121"/>
            </a:solidFill>
            <a:ln cap="flat" cmpd="sng" w="19050">
              <a:solidFill>
                <a:srgbClr val="F44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cinematic close-up of a modern-day idol, perhaps a golden statue obscured by shadows, representing covetousness and materialism." id="94" name="Google Shape;94;p16"/>
            <p:cNvPicPr preferRelativeResize="0"/>
            <p:nvPr/>
          </p:nvPicPr>
          <p:blipFill rotWithShape="1">
            <a:blip r:embed="rId4">
              <a:alphaModFix/>
            </a:blip>
            <a:srcRect b="0" l="1248" r="1248" t="0"/>
            <a:stretch/>
          </p:blipFill>
          <p:spPr>
            <a:xfrm>
              <a:off x="1714500" y="1524000"/>
              <a:ext cx="2476500" cy="14289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95" name="Google Shape;95;p16"/>
            <p:cNvSpPr txBox="1"/>
            <p:nvPr/>
          </p:nvSpPr>
          <p:spPr>
            <a:xfrm>
              <a:off x="1905000" y="30480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Idolatría</a:t>
              </a:r>
              <a:endParaRPr b="1" i="0" sz="1500" u="none" cap="none" strike="noStrike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96" name="Google Shape;96;p16"/>
            <p:cNvSpPr txBox="1"/>
            <p:nvPr/>
          </p:nvSpPr>
          <p:spPr>
            <a:xfrm>
              <a:off x="1905000" y="3476625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Adoración de una imagen o del dios representado por ella; también puede verse en la avaricia.</a:t>
              </a:r>
              <a:endParaRPr b="0" i="0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97" name="Google Shape;97;p16"/>
          <p:cNvGrpSpPr/>
          <p:nvPr/>
        </p:nvGrpSpPr>
        <p:grpSpPr>
          <a:xfrm>
            <a:off x="4953000" y="1524000"/>
            <a:ext cx="2476500" cy="2857500"/>
            <a:chOff x="4953000" y="1524000"/>
            <a:chExt cx="2476500" cy="2857500"/>
          </a:xfrm>
        </p:grpSpPr>
        <p:sp>
          <p:nvSpPr>
            <p:cNvPr id="98" name="Google Shape;98;p16"/>
            <p:cNvSpPr/>
            <p:nvPr/>
          </p:nvSpPr>
          <p:spPr>
            <a:xfrm>
              <a:off x="4953000" y="1524000"/>
              <a:ext cx="2476500" cy="2857500"/>
            </a:xfrm>
            <a:prstGeom prst="roundRect">
              <a:avLst>
                <a:gd fmla="val 3846" name="adj"/>
              </a:avLst>
            </a:prstGeom>
            <a:solidFill>
              <a:srgbClr val="212121"/>
            </a:solidFill>
            <a:ln cap="flat" cmpd="sng" w="19050">
              <a:solidFill>
                <a:srgbClr val="F44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mystical, dark atmosphere with swirling smoke and glowing embers, suggesting sorcery and occult practices." id="99" name="Google Shape;99;p16"/>
            <p:cNvPicPr preferRelativeResize="0"/>
            <p:nvPr/>
          </p:nvPicPr>
          <p:blipFill rotWithShape="1">
            <a:blip r:embed="rId5">
              <a:alphaModFix/>
            </a:blip>
            <a:srcRect b="0" l="1248" r="1248" t="0"/>
            <a:stretch/>
          </p:blipFill>
          <p:spPr>
            <a:xfrm>
              <a:off x="4953000" y="1524000"/>
              <a:ext cx="2476500" cy="14289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100" name="Google Shape;100;p16"/>
            <p:cNvSpPr txBox="1"/>
            <p:nvPr/>
          </p:nvSpPr>
          <p:spPr>
            <a:xfrm>
              <a:off x="5143500" y="30480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Hechicería</a:t>
              </a:r>
              <a:endParaRPr b="1" i="0" sz="1500" u="none" cap="none" strike="noStrike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5143500" y="3476625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Uso de drogas para envenenar, o manipular.</a:t>
              </a:r>
              <a:endParaRPr b="0" i="0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102" name="Google Shape;102;p16"/>
          <p:cNvSpPr txBox="1"/>
          <p:nvPr/>
        </p:nvSpPr>
        <p:spPr>
          <a:xfrm>
            <a:off x="571500" y="45720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" sz="1300" u="none" cap="none" strike="noStrike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"...idolatría, hechicería..."</a:t>
            </a:r>
            <a:endParaRPr b="0" i="1" sz="1300" u="none" cap="none" strike="noStrike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0"/>
              <a:buFont typeface="Arial"/>
              <a:buNone/>
            </a:pPr>
            <a:r>
              <a:rPr b="1" i="0" lang="en" sz="296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Obras de la carne: Conflictos y Divisiones</a:t>
            </a:r>
            <a:endParaRPr b="1" i="0" sz="296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571500" y="952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Gálatas 5:20</a:t>
            </a:r>
            <a:endParaRPr b="0" i="0" sz="1500" u="none" cap="none" strike="noStrike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10" name="Google Shape;110;p17"/>
          <p:cNvGrpSpPr/>
          <p:nvPr/>
        </p:nvGrpSpPr>
        <p:grpSpPr>
          <a:xfrm>
            <a:off x="571500" y="1524000"/>
            <a:ext cx="1905000" cy="2857500"/>
            <a:chOff x="571500" y="1524000"/>
            <a:chExt cx="1905000" cy="2857500"/>
          </a:xfrm>
        </p:grpSpPr>
        <p:sp>
          <p:nvSpPr>
            <p:cNvPr id="111" name="Google Shape;111;p17"/>
            <p:cNvSpPr/>
            <p:nvPr/>
          </p:nvSpPr>
          <p:spPr>
            <a:xfrm>
              <a:off x="571500" y="1524000"/>
              <a:ext cx="1905000" cy="2857500"/>
            </a:xfrm>
            <a:prstGeom prst="roundRect">
              <a:avLst>
                <a:gd fmla="val 5000" name="adj"/>
              </a:avLst>
            </a:prstGeom>
            <a:solidFill>
              <a:srgbClr val="212121"/>
            </a:solidFill>
            <a:ln cap="flat" cmpd="sng" w="19050">
              <a:solidFill>
                <a:srgbClr val="F44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cinematic dark image representing enmity and deep-seated hatred between two shadowed figures in a cold atmosphere." id="112" name="Google Shape;112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1500" y="1524000"/>
              <a:ext cx="1905000" cy="14289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113" name="Google Shape;113;p17"/>
            <p:cNvSpPr txBox="1"/>
            <p:nvPr/>
          </p:nvSpPr>
          <p:spPr>
            <a:xfrm>
              <a:off x="666750" y="3048000"/>
              <a:ext cx="1714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Enemistades: hostilidad y odio.</a:t>
              </a:r>
              <a:endParaRPr b="1" i="0" sz="1500" u="none" cap="none" strike="noStrike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114" name="Google Shape;114;p17"/>
          <p:cNvGrpSpPr/>
          <p:nvPr/>
        </p:nvGrpSpPr>
        <p:grpSpPr>
          <a:xfrm>
            <a:off x="2667000" y="1524000"/>
            <a:ext cx="1905000" cy="2857500"/>
            <a:chOff x="2667000" y="1524000"/>
            <a:chExt cx="1905000" cy="2857500"/>
          </a:xfrm>
        </p:grpSpPr>
        <p:sp>
          <p:nvSpPr>
            <p:cNvPr id="115" name="Google Shape;115;p17"/>
            <p:cNvSpPr/>
            <p:nvPr/>
          </p:nvSpPr>
          <p:spPr>
            <a:xfrm>
              <a:off x="2667000" y="1524000"/>
              <a:ext cx="1905000" cy="2857500"/>
            </a:xfrm>
            <a:prstGeom prst="roundRect">
              <a:avLst>
                <a:gd fmla="val 5000" name="adj"/>
              </a:avLst>
            </a:prstGeom>
            <a:solidFill>
              <a:srgbClr val="212121"/>
            </a:solidFill>
            <a:ln cap="flat" cmpd="sng" w="19050">
              <a:solidFill>
                <a:srgbClr val="F44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n abstract cinematic visual of clashing red and orange sparks and broken glass representing strife and contention." id="116" name="Google Shape;116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667000" y="1524000"/>
              <a:ext cx="1905000" cy="14289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117" name="Google Shape;117;p17"/>
            <p:cNvSpPr txBox="1"/>
            <p:nvPr/>
          </p:nvSpPr>
          <p:spPr>
            <a:xfrm>
              <a:off x="2762250" y="3048000"/>
              <a:ext cx="1714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Pleitos: discordia y contienda.</a:t>
              </a:r>
              <a:endParaRPr b="1" i="0" sz="1500" u="none" cap="none" strike="noStrike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118" name="Google Shape;118;p17"/>
          <p:cNvGrpSpPr/>
          <p:nvPr/>
        </p:nvGrpSpPr>
        <p:grpSpPr>
          <a:xfrm>
            <a:off x="4762500" y="1524000"/>
            <a:ext cx="1905000" cy="2857500"/>
            <a:chOff x="4762500" y="1524000"/>
            <a:chExt cx="1905000" cy="2857500"/>
          </a:xfrm>
        </p:grpSpPr>
        <p:sp>
          <p:nvSpPr>
            <p:cNvPr id="119" name="Google Shape;119;p17"/>
            <p:cNvSpPr/>
            <p:nvPr/>
          </p:nvSpPr>
          <p:spPr>
            <a:xfrm>
              <a:off x="4762500" y="1524000"/>
              <a:ext cx="1905000" cy="2857500"/>
            </a:xfrm>
            <a:prstGeom prst="roundRect">
              <a:avLst>
                <a:gd fmla="val 5000" name="adj"/>
              </a:avLst>
            </a:prstGeom>
            <a:solidFill>
              <a:srgbClr val="212121"/>
            </a:solidFill>
            <a:ln cap="flat" cmpd="sng" w="19050">
              <a:solidFill>
                <a:srgbClr val="F44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green-tinted glowing eye emerging from dark abstract smoke, representing deep jealousy and the evil eye of envy." id="120" name="Google Shape;120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762500" y="1524000"/>
              <a:ext cx="1905000" cy="14289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121" name="Google Shape;121;p17"/>
            <p:cNvSpPr txBox="1"/>
            <p:nvPr/>
          </p:nvSpPr>
          <p:spPr>
            <a:xfrm>
              <a:off x="4857750" y="3048000"/>
              <a:ext cx="1714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Celos: resentimiento por el bien ajeno.</a:t>
              </a:r>
              <a:endParaRPr b="1" i="0" sz="1500" u="none" cap="none" strike="noStrike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122" name="Google Shape;122;p17"/>
          <p:cNvGrpSpPr/>
          <p:nvPr/>
        </p:nvGrpSpPr>
        <p:grpSpPr>
          <a:xfrm>
            <a:off x="6858000" y="1524000"/>
            <a:ext cx="1905000" cy="2857500"/>
            <a:chOff x="6858000" y="1524000"/>
            <a:chExt cx="1905000" cy="2857500"/>
          </a:xfrm>
        </p:grpSpPr>
        <p:sp>
          <p:nvSpPr>
            <p:cNvPr id="123" name="Google Shape;123;p17"/>
            <p:cNvSpPr/>
            <p:nvPr/>
          </p:nvSpPr>
          <p:spPr>
            <a:xfrm>
              <a:off x="6858000" y="1524000"/>
              <a:ext cx="1905000" cy="2857500"/>
            </a:xfrm>
            <a:prstGeom prst="roundRect">
              <a:avLst>
                <a:gd fmla="val 5000" name="adj"/>
              </a:avLst>
            </a:prstGeom>
            <a:solidFill>
              <a:srgbClr val="212121"/>
            </a:solidFill>
            <a:ln cap="flat" cmpd="sng" w="19050">
              <a:solidFill>
                <a:srgbClr val="F44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Cinematic close-up of exploding hot volcanic embers and fire, representing uncontrollable outbursts of anger and rage." id="124" name="Google Shape;124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858000" y="1524000"/>
              <a:ext cx="1905000" cy="14289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125" name="Google Shape;125;p17"/>
            <p:cNvSpPr txBox="1"/>
            <p:nvPr/>
          </p:nvSpPr>
          <p:spPr>
            <a:xfrm>
              <a:off x="6953250" y="3048000"/>
              <a:ext cx="1714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Iras: estallidos de furor.</a:t>
              </a:r>
              <a:endParaRPr b="1" i="0" sz="1500" u="none" cap="none" strike="noStrike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126" name="Google Shape;126;p17"/>
          <p:cNvSpPr txBox="1"/>
          <p:nvPr/>
        </p:nvSpPr>
        <p:spPr>
          <a:xfrm>
            <a:off x="571500" y="45720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" sz="1300" u="none" cap="none" strike="noStrike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"...enemistades, pleitos, celos, iras..."</a:t>
            </a:r>
            <a:endParaRPr b="0" i="1" sz="1300" u="none" cap="none" strike="noStrike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Obras de la carne: Más Divisiones</a:t>
            </a:r>
            <a:endParaRPr b="1" i="0" sz="30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571500" y="952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Gálatas 5:20-21</a:t>
            </a:r>
            <a:endParaRPr b="0" i="0" sz="1500" u="none" cap="none" strike="noStrike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35" name="Google Shape;135;p18"/>
          <p:cNvGrpSpPr/>
          <p:nvPr/>
        </p:nvGrpSpPr>
        <p:grpSpPr>
          <a:xfrm>
            <a:off x="571500" y="1524000"/>
            <a:ext cx="1905000" cy="2857500"/>
            <a:chOff x="571500" y="1524000"/>
            <a:chExt cx="1905000" cy="2857500"/>
          </a:xfrm>
        </p:grpSpPr>
        <p:sp>
          <p:nvSpPr>
            <p:cNvPr id="136" name="Google Shape;136;p18"/>
            <p:cNvSpPr/>
            <p:nvPr/>
          </p:nvSpPr>
          <p:spPr>
            <a:xfrm>
              <a:off x="571500" y="1524000"/>
              <a:ext cx="1905000" cy="2857500"/>
            </a:xfrm>
            <a:prstGeom prst="roundRect">
              <a:avLst>
                <a:gd fmla="val 5000" name="adj"/>
              </a:avLst>
            </a:prstGeom>
            <a:solidFill>
              <a:srgbClr val="212121"/>
            </a:solidFill>
            <a:ln cap="flat" cmpd="sng" w="19050">
              <a:solidFill>
                <a:srgbClr val="F44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7" name="Google Shape;137;p18"/>
            <p:cNvPicPr preferRelativeResize="0"/>
            <p:nvPr/>
          </p:nvPicPr>
          <p:blipFill rotWithShape="1">
            <a:blip r:embed="rId4">
              <a:alphaModFix/>
            </a:blip>
            <a:srcRect b="0" l="3332" r="3332" t="0"/>
            <a:stretch/>
          </p:blipFill>
          <p:spPr>
            <a:xfrm>
              <a:off x="571500" y="1524000"/>
              <a:ext cx="1905000" cy="14289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138" name="Google Shape;138;p18"/>
            <p:cNvSpPr txBox="1"/>
            <p:nvPr/>
          </p:nvSpPr>
          <p:spPr>
            <a:xfrm>
              <a:off x="666750" y="3048000"/>
              <a:ext cx="1714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Ambición egoísta: interés propio y ambición personal.</a:t>
              </a:r>
              <a:endParaRPr b="1" i="0" sz="1400" u="none" cap="none" strike="noStrike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139" name="Google Shape;139;p18"/>
          <p:cNvGrpSpPr/>
          <p:nvPr/>
        </p:nvGrpSpPr>
        <p:grpSpPr>
          <a:xfrm>
            <a:off x="2667000" y="1524000"/>
            <a:ext cx="1905000" cy="2857500"/>
            <a:chOff x="2667000" y="1524000"/>
            <a:chExt cx="1905000" cy="2857500"/>
          </a:xfrm>
        </p:grpSpPr>
        <p:sp>
          <p:nvSpPr>
            <p:cNvPr id="140" name="Google Shape;140;p18"/>
            <p:cNvSpPr/>
            <p:nvPr/>
          </p:nvSpPr>
          <p:spPr>
            <a:xfrm>
              <a:off x="2667000" y="1524000"/>
              <a:ext cx="1905000" cy="2857500"/>
            </a:xfrm>
            <a:prstGeom prst="roundRect">
              <a:avLst>
                <a:gd fmla="val 5000" name="adj"/>
              </a:avLst>
            </a:prstGeom>
            <a:solidFill>
              <a:srgbClr val="212121"/>
            </a:solidFill>
            <a:ln cap="flat" cmpd="sng" w="19050">
              <a:solidFill>
                <a:srgbClr val="F44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1" name="Google Shape;141;p18"/>
            <p:cNvPicPr preferRelativeResize="0"/>
            <p:nvPr/>
          </p:nvPicPr>
          <p:blipFill rotWithShape="1">
            <a:blip r:embed="rId5">
              <a:alphaModFix/>
            </a:blip>
            <a:srcRect b="0" l="3332" r="3332" t="0"/>
            <a:stretch/>
          </p:blipFill>
          <p:spPr>
            <a:xfrm>
              <a:off x="2667000" y="1524000"/>
              <a:ext cx="1905000" cy="14289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142" name="Google Shape;142;p18"/>
            <p:cNvSpPr txBox="1"/>
            <p:nvPr/>
          </p:nvSpPr>
          <p:spPr>
            <a:xfrm>
              <a:off x="2762250" y="3048000"/>
              <a:ext cx="1714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Disensiones: divisiones y sediciones.</a:t>
              </a:r>
              <a:endParaRPr b="1" i="0" sz="1400" u="none" cap="none" strike="noStrike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143" name="Google Shape;143;p18"/>
          <p:cNvGrpSpPr/>
          <p:nvPr/>
        </p:nvGrpSpPr>
        <p:grpSpPr>
          <a:xfrm>
            <a:off x="4762500" y="1524000"/>
            <a:ext cx="1905000" cy="2857500"/>
            <a:chOff x="4762500" y="1524000"/>
            <a:chExt cx="1905000" cy="2857500"/>
          </a:xfrm>
        </p:grpSpPr>
        <p:sp>
          <p:nvSpPr>
            <p:cNvPr id="144" name="Google Shape;144;p18"/>
            <p:cNvSpPr/>
            <p:nvPr/>
          </p:nvSpPr>
          <p:spPr>
            <a:xfrm>
              <a:off x="4762500" y="1524000"/>
              <a:ext cx="1905000" cy="2857500"/>
            </a:xfrm>
            <a:prstGeom prst="roundRect">
              <a:avLst>
                <a:gd fmla="val 5000" name="adj"/>
              </a:avLst>
            </a:prstGeom>
            <a:solidFill>
              <a:srgbClr val="212121"/>
            </a:solidFill>
            <a:ln cap="flat" cmpd="sng" w="19050">
              <a:solidFill>
                <a:srgbClr val="F44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5" name="Google Shape;145;p18"/>
            <p:cNvPicPr preferRelativeResize="0"/>
            <p:nvPr/>
          </p:nvPicPr>
          <p:blipFill rotWithShape="1">
            <a:blip r:embed="rId6">
              <a:alphaModFix/>
            </a:blip>
            <a:srcRect b="0" l="3332" r="3332" t="0"/>
            <a:stretch/>
          </p:blipFill>
          <p:spPr>
            <a:xfrm>
              <a:off x="4762500" y="1524000"/>
              <a:ext cx="1905000" cy="14289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146" name="Google Shape;146;p18"/>
            <p:cNvSpPr txBox="1"/>
            <p:nvPr/>
          </p:nvSpPr>
          <p:spPr>
            <a:xfrm>
              <a:off x="4857750" y="3048000"/>
              <a:ext cx="1714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Facciones: sectas o grupos definidos por opiniones escogidas.</a:t>
              </a:r>
              <a:endParaRPr b="1" i="0" sz="1400" u="none" cap="none" strike="noStrike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147" name="Google Shape;147;p18"/>
          <p:cNvGrpSpPr/>
          <p:nvPr/>
        </p:nvGrpSpPr>
        <p:grpSpPr>
          <a:xfrm>
            <a:off x="6858000" y="1524000"/>
            <a:ext cx="1905000" cy="2857500"/>
            <a:chOff x="6858000" y="1524000"/>
            <a:chExt cx="1905000" cy="2857500"/>
          </a:xfrm>
        </p:grpSpPr>
        <p:sp>
          <p:nvSpPr>
            <p:cNvPr id="148" name="Google Shape;148;p18"/>
            <p:cNvSpPr/>
            <p:nvPr/>
          </p:nvSpPr>
          <p:spPr>
            <a:xfrm>
              <a:off x="6858000" y="1524000"/>
              <a:ext cx="1905000" cy="2857500"/>
            </a:xfrm>
            <a:prstGeom prst="roundRect">
              <a:avLst>
                <a:gd fmla="val 5000" name="adj"/>
              </a:avLst>
            </a:prstGeom>
            <a:solidFill>
              <a:srgbClr val="212121"/>
            </a:solidFill>
            <a:ln cap="flat" cmpd="sng" w="19050">
              <a:solidFill>
                <a:srgbClr val="F44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9" name="Google Shape;149;p18"/>
            <p:cNvPicPr preferRelativeResize="0"/>
            <p:nvPr/>
          </p:nvPicPr>
          <p:blipFill rotWithShape="1">
            <a:blip r:embed="rId7">
              <a:alphaModFix/>
            </a:blip>
            <a:srcRect b="0" l="3332" r="3332" t="0"/>
            <a:stretch/>
          </p:blipFill>
          <p:spPr>
            <a:xfrm>
              <a:off x="6858000" y="1524000"/>
              <a:ext cx="1905000" cy="14289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150" name="Google Shape;150;p18"/>
            <p:cNvSpPr txBox="1"/>
            <p:nvPr/>
          </p:nvSpPr>
          <p:spPr>
            <a:xfrm>
              <a:off x="6953250" y="3048000"/>
              <a:ext cx="1714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Envidias: malicia por el bien ajeno.</a:t>
              </a:r>
              <a:endParaRPr b="1" i="0" sz="1400" u="none" cap="none" strike="noStrike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151" name="Google Shape;151;p18"/>
          <p:cNvSpPr txBox="1"/>
          <p:nvPr/>
        </p:nvSpPr>
        <p:spPr>
          <a:xfrm>
            <a:off x="571500" y="45720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" sz="1300" u="none" cap="none" strike="noStrike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"...ambición egoísta, disensiones, facciones, envidias..."</a:t>
            </a:r>
            <a:endParaRPr b="0" i="1" sz="1300" u="none" cap="none" strike="noStrike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Obras de la carne: Vicios y Excesos</a:t>
            </a:r>
            <a:endParaRPr b="1" i="0" sz="30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571500" y="952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Gálatas 5:21</a:t>
            </a:r>
            <a:endParaRPr b="0" i="0" sz="1500" u="none" cap="none" strike="noStrike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61" name="Google Shape;161;p19"/>
          <p:cNvGrpSpPr/>
          <p:nvPr/>
        </p:nvGrpSpPr>
        <p:grpSpPr>
          <a:xfrm>
            <a:off x="571500" y="1524000"/>
            <a:ext cx="2476500" cy="2857500"/>
            <a:chOff x="571500" y="1524000"/>
            <a:chExt cx="2476500" cy="2857500"/>
          </a:xfrm>
        </p:grpSpPr>
        <p:sp>
          <p:nvSpPr>
            <p:cNvPr id="162" name="Google Shape;162;p19"/>
            <p:cNvSpPr/>
            <p:nvPr/>
          </p:nvSpPr>
          <p:spPr>
            <a:xfrm>
              <a:off x="571500" y="1524000"/>
              <a:ext cx="2476500" cy="2857500"/>
            </a:xfrm>
            <a:prstGeom prst="roundRect">
              <a:avLst>
                <a:gd fmla="val 3846" name="adj"/>
              </a:avLst>
            </a:prstGeom>
            <a:solidFill>
              <a:srgbClr val="212121"/>
            </a:solidFill>
            <a:ln cap="flat" cmpd="sng" w="19050">
              <a:solidFill>
                <a:srgbClr val="F44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Cinematic dark image of a spilled wine glass on a dark table, with blurred city lights in the background, representing drunkenness and loss of control." id="163" name="Google Shape;163;p19"/>
            <p:cNvPicPr preferRelativeResize="0"/>
            <p:nvPr/>
          </p:nvPicPr>
          <p:blipFill rotWithShape="1">
            <a:blip r:embed="rId4">
              <a:alphaModFix/>
            </a:blip>
            <a:srcRect b="0" l="1248" r="1248" t="0"/>
            <a:stretch/>
          </p:blipFill>
          <p:spPr>
            <a:xfrm>
              <a:off x="571500" y="1524000"/>
              <a:ext cx="2476500" cy="1428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" name="Google Shape;164;p19"/>
            <p:cNvSpPr txBox="1"/>
            <p:nvPr/>
          </p:nvSpPr>
          <p:spPr>
            <a:xfrm>
              <a:off x="762000" y="30480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Borracheras</a:t>
              </a:r>
              <a:endParaRPr b="1" i="0" sz="1500" u="none" cap="none" strike="noStrike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65" name="Google Shape;165;p19"/>
            <p:cNvSpPr txBox="1"/>
            <p:nvPr/>
          </p:nvSpPr>
          <p:spPr>
            <a:xfrm>
              <a:off x="762000" y="3476625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Embriaguez que nubla el juicio y el control.</a:t>
              </a:r>
              <a:endParaRPr b="0" i="0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166" name="Google Shape;166;p19"/>
          <p:cNvGrpSpPr/>
          <p:nvPr/>
        </p:nvGrpSpPr>
        <p:grpSpPr>
          <a:xfrm>
            <a:off x="3333750" y="1524000"/>
            <a:ext cx="2476500" cy="2857500"/>
            <a:chOff x="3333750" y="1524000"/>
            <a:chExt cx="2476500" cy="2857500"/>
          </a:xfrm>
        </p:grpSpPr>
        <p:sp>
          <p:nvSpPr>
            <p:cNvPr id="167" name="Google Shape;167;p19"/>
            <p:cNvSpPr/>
            <p:nvPr/>
          </p:nvSpPr>
          <p:spPr>
            <a:xfrm>
              <a:off x="3333750" y="1524000"/>
              <a:ext cx="2476500" cy="2857500"/>
            </a:xfrm>
            <a:prstGeom prst="roundRect">
              <a:avLst>
                <a:gd fmla="val 3846" name="adj"/>
              </a:avLst>
            </a:prstGeom>
            <a:solidFill>
              <a:srgbClr val="212121"/>
            </a:solidFill>
            <a:ln cap="flat" cmpd="sng" w="19050">
              <a:solidFill>
                <a:srgbClr val="F44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dark, abstract cinematic image with neon lights and chaotic shadows, representing wild parties, revelries, and moral decay." id="168" name="Google Shape;168;p19"/>
            <p:cNvPicPr preferRelativeResize="0"/>
            <p:nvPr/>
          </p:nvPicPr>
          <p:blipFill rotWithShape="1">
            <a:blip r:embed="rId5">
              <a:alphaModFix/>
            </a:blip>
            <a:srcRect b="0" l="1248" r="1248" t="0"/>
            <a:stretch/>
          </p:blipFill>
          <p:spPr>
            <a:xfrm>
              <a:off x="3333750" y="1524000"/>
              <a:ext cx="2476500" cy="1428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169;p19"/>
            <p:cNvSpPr txBox="1"/>
            <p:nvPr/>
          </p:nvSpPr>
          <p:spPr>
            <a:xfrm>
              <a:off x="3524250" y="30480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Orgías</a:t>
              </a:r>
              <a:endParaRPr b="1" i="0" sz="1500" u="none" cap="none" strike="noStrike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70" name="Google Shape;170;p19"/>
            <p:cNvSpPr txBox="1"/>
            <p:nvPr/>
          </p:nvSpPr>
          <p:spPr>
            <a:xfrm>
              <a:off x="3524250" y="3476625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Juergas y excesos ligados a la bebida y a fiestas paganas.</a:t>
              </a:r>
              <a:endParaRPr b="0" i="0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171" name="Google Shape;171;p19"/>
          <p:cNvGrpSpPr/>
          <p:nvPr/>
        </p:nvGrpSpPr>
        <p:grpSpPr>
          <a:xfrm>
            <a:off x="6096000" y="1524000"/>
            <a:ext cx="2476500" cy="2857500"/>
            <a:chOff x="6096000" y="1524000"/>
            <a:chExt cx="2476500" cy="2857500"/>
          </a:xfrm>
        </p:grpSpPr>
        <p:sp>
          <p:nvSpPr>
            <p:cNvPr id="172" name="Google Shape;172;p19"/>
            <p:cNvSpPr/>
            <p:nvPr/>
          </p:nvSpPr>
          <p:spPr>
            <a:xfrm>
              <a:off x="6096000" y="1524000"/>
              <a:ext cx="2476500" cy="2857500"/>
            </a:xfrm>
            <a:prstGeom prst="roundRect">
              <a:avLst>
                <a:gd fmla="val 3846" name="adj"/>
              </a:avLst>
            </a:prstGeom>
            <a:solidFill>
              <a:srgbClr val="212121"/>
            </a:solidFill>
            <a:ln cap="flat" cmpd="sng" w="19050">
              <a:solidFill>
                <a:srgbClr val="F44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moody, dark image of a shadowy figure walking away into a dark alleyway, representing other similar sinful behaviors and a path of corruption." id="173" name="Google Shape;173;p19"/>
            <p:cNvPicPr preferRelativeResize="0"/>
            <p:nvPr/>
          </p:nvPicPr>
          <p:blipFill rotWithShape="1">
            <a:blip r:embed="rId6">
              <a:alphaModFix/>
            </a:blip>
            <a:srcRect b="0" l="1248" r="1248" t="0"/>
            <a:stretch/>
          </p:blipFill>
          <p:spPr>
            <a:xfrm>
              <a:off x="6096000" y="1524000"/>
              <a:ext cx="2476500" cy="1428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19"/>
            <p:cNvSpPr txBox="1"/>
            <p:nvPr/>
          </p:nvSpPr>
          <p:spPr>
            <a:xfrm>
              <a:off x="6286500" y="30480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Cosas semejantes</a:t>
              </a:r>
              <a:endParaRPr b="1" i="0" sz="1500" u="none" cap="none" strike="noStrike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75" name="Google Shape;175;p19"/>
            <p:cNvSpPr txBox="1"/>
            <p:nvPr/>
          </p:nvSpPr>
          <p:spPr>
            <a:xfrm>
              <a:off x="6286500" y="3476625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Otros excesos semejantes a estos.</a:t>
              </a:r>
              <a:endParaRPr b="0" i="0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176" name="Google Shape;176;p19"/>
          <p:cNvSpPr txBox="1"/>
          <p:nvPr/>
        </p:nvSpPr>
        <p:spPr>
          <a:xfrm>
            <a:off x="571500" y="45720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" sz="1300" u="none" cap="none" strike="noStrike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"...borracheras, orgías, y cosas semejantes a estas..."</a:t>
            </a:r>
            <a:endParaRPr b="0" i="1" sz="1300" u="none" cap="none" strike="noStrike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75"/>
              <a:buFont typeface="Arial"/>
              <a:buNone/>
            </a:pPr>
            <a:r>
              <a:rPr b="1" i="0" lang="en" sz="2775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Fruto del Espíritu</a:t>
            </a:r>
            <a:endParaRPr b="1" i="0" sz="2775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571500" y="952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Gálatas 5:22</a:t>
            </a:r>
            <a:endParaRPr b="0" i="0" sz="1500" u="none" cap="none" strike="noStrike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85" name="Google Shape;185;p20"/>
          <p:cNvGrpSpPr/>
          <p:nvPr/>
        </p:nvGrpSpPr>
        <p:grpSpPr>
          <a:xfrm>
            <a:off x="571500" y="1524000"/>
            <a:ext cx="2476500" cy="2857500"/>
            <a:chOff x="571500" y="1524000"/>
            <a:chExt cx="2476500" cy="2857500"/>
          </a:xfrm>
        </p:grpSpPr>
        <p:sp>
          <p:nvSpPr>
            <p:cNvPr id="186" name="Google Shape;186;p20"/>
            <p:cNvSpPr/>
            <p:nvPr/>
          </p:nvSpPr>
          <p:spPr>
            <a:xfrm>
              <a:off x="571500" y="1524000"/>
              <a:ext cx="2476500" cy="2857500"/>
            </a:xfrm>
            <a:prstGeom prst="roundRect">
              <a:avLst>
                <a:gd fmla="val 3846" name="adj"/>
              </a:avLst>
            </a:prstGeom>
            <a:solidFill>
              <a:srgbClr val="1B5E20"/>
            </a:solidFill>
            <a:ln cap="flat" cmpd="sng" w="19050">
              <a:solidFill>
                <a:srgbClr val="4CAF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Cinematic, warm lighting showing a compassionate gesture of hands holding each other, representing selfless biblical love (Agape)." id="187" name="Google Shape;187;p20"/>
            <p:cNvPicPr preferRelativeResize="0"/>
            <p:nvPr/>
          </p:nvPicPr>
          <p:blipFill rotWithShape="1">
            <a:blip r:embed="rId4">
              <a:alphaModFix/>
            </a:blip>
            <a:srcRect b="0" l="1248" r="1248" t="0"/>
            <a:stretch/>
          </p:blipFill>
          <p:spPr>
            <a:xfrm>
              <a:off x="571500" y="1524000"/>
              <a:ext cx="2476500" cy="14289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188" name="Google Shape;188;p20"/>
            <p:cNvSpPr txBox="1"/>
            <p:nvPr/>
          </p:nvSpPr>
          <p:spPr>
            <a:xfrm>
              <a:off x="762000" y="30480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rgbClr val="4CAF50"/>
                  </a:solidFill>
                  <a:latin typeface="Georgia"/>
                  <a:ea typeface="Georgia"/>
                  <a:cs typeface="Georgia"/>
                  <a:sym typeface="Georgia"/>
                </a:rPr>
                <a:t>Amor</a:t>
              </a:r>
              <a:endParaRPr b="1" i="0" sz="1500" u="none" cap="none" strike="noStrike">
                <a:solidFill>
                  <a:srgbClr val="4CAF5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89" name="Google Shape;189;p20"/>
            <p:cNvSpPr txBox="1"/>
            <p:nvPr/>
          </p:nvSpPr>
          <p:spPr>
            <a:xfrm>
              <a:off x="762000" y="3476625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La palabra principal del NT para amor; las demás virtudes brotan de él.</a:t>
              </a:r>
              <a:endParaRPr b="0" i="0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190" name="Google Shape;190;p20"/>
          <p:cNvGrpSpPr/>
          <p:nvPr/>
        </p:nvGrpSpPr>
        <p:grpSpPr>
          <a:xfrm>
            <a:off x="3333750" y="1524000"/>
            <a:ext cx="2476500" cy="2857500"/>
            <a:chOff x="3333750" y="1524000"/>
            <a:chExt cx="2476500" cy="2857500"/>
          </a:xfrm>
        </p:grpSpPr>
        <p:sp>
          <p:nvSpPr>
            <p:cNvPr id="191" name="Google Shape;191;p20"/>
            <p:cNvSpPr/>
            <p:nvPr/>
          </p:nvSpPr>
          <p:spPr>
            <a:xfrm>
              <a:off x="3333750" y="1524000"/>
              <a:ext cx="2476500" cy="2857500"/>
            </a:xfrm>
            <a:prstGeom prst="roundRect">
              <a:avLst>
                <a:gd fmla="val 3846" name="adj"/>
              </a:avLst>
            </a:prstGeom>
            <a:solidFill>
              <a:srgbClr val="1B5E20"/>
            </a:solidFill>
            <a:ln cap="flat" cmpd="sng" w="19050">
              <a:solidFill>
                <a:srgbClr val="4CAF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Radiant, soft morning light filtering through leaves, suggesting a deep, internal sense of spiritual joy and gratitude." id="192" name="Google Shape;192;p20"/>
            <p:cNvPicPr preferRelativeResize="0"/>
            <p:nvPr/>
          </p:nvPicPr>
          <p:blipFill rotWithShape="1">
            <a:blip r:embed="rId5">
              <a:alphaModFix/>
            </a:blip>
            <a:srcRect b="0" l="1248" r="1248" t="0"/>
            <a:stretch/>
          </p:blipFill>
          <p:spPr>
            <a:xfrm>
              <a:off x="3333750" y="1524000"/>
              <a:ext cx="2476500" cy="14289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193" name="Google Shape;193;p20"/>
            <p:cNvSpPr txBox="1"/>
            <p:nvPr/>
          </p:nvSpPr>
          <p:spPr>
            <a:xfrm>
              <a:off x="3524250" y="30480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rgbClr val="4CAF50"/>
                  </a:solidFill>
                  <a:latin typeface="Georgia"/>
                  <a:ea typeface="Georgia"/>
                  <a:cs typeface="Georgia"/>
                  <a:sym typeface="Georgia"/>
                </a:rPr>
                <a:t>Gozo</a:t>
              </a:r>
              <a:endParaRPr b="1" i="0" sz="1500" u="none" cap="none" strike="noStrike">
                <a:solidFill>
                  <a:srgbClr val="4CAF5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94" name="Google Shape;194;p20"/>
            <p:cNvSpPr txBox="1"/>
            <p:nvPr/>
          </p:nvSpPr>
          <p:spPr>
            <a:xfrm>
              <a:off x="3524250" y="3476625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No depende de circunstancias agradables, sino de vivir rectamente con esperanza en Dios.</a:t>
              </a:r>
              <a:endParaRPr b="0" i="0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195" name="Google Shape;195;p20"/>
          <p:cNvGrpSpPr/>
          <p:nvPr/>
        </p:nvGrpSpPr>
        <p:grpSpPr>
          <a:xfrm>
            <a:off x="6096000" y="1524000"/>
            <a:ext cx="2476500" cy="2857500"/>
            <a:chOff x="6096000" y="1524000"/>
            <a:chExt cx="2476500" cy="2857500"/>
          </a:xfrm>
        </p:grpSpPr>
        <p:sp>
          <p:nvSpPr>
            <p:cNvPr id="196" name="Google Shape;196;p20"/>
            <p:cNvSpPr/>
            <p:nvPr/>
          </p:nvSpPr>
          <p:spPr>
            <a:xfrm>
              <a:off x="6096000" y="1524000"/>
              <a:ext cx="2476500" cy="2857500"/>
            </a:xfrm>
            <a:prstGeom prst="roundRect">
              <a:avLst>
                <a:gd fmla="val 3846" name="adj"/>
              </a:avLst>
            </a:prstGeom>
            <a:solidFill>
              <a:srgbClr val="1B5E20"/>
            </a:solidFill>
            <a:ln cap="flat" cmpd="sng" w="19050">
              <a:solidFill>
                <a:srgbClr val="4CAF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calm, still lake at sunrise with minimal ripples, representing the peace of God that surpasses all understanding." id="197" name="Google Shape;197;p20"/>
            <p:cNvPicPr preferRelativeResize="0"/>
            <p:nvPr/>
          </p:nvPicPr>
          <p:blipFill rotWithShape="1">
            <a:blip r:embed="rId6">
              <a:alphaModFix/>
            </a:blip>
            <a:srcRect b="0" l="1248" r="1248" t="0"/>
            <a:stretch/>
          </p:blipFill>
          <p:spPr>
            <a:xfrm>
              <a:off x="6096000" y="1524000"/>
              <a:ext cx="2476500" cy="14289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198" name="Google Shape;198;p20"/>
            <p:cNvSpPr txBox="1"/>
            <p:nvPr/>
          </p:nvSpPr>
          <p:spPr>
            <a:xfrm>
              <a:off x="6286500" y="30480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rgbClr val="4CAF50"/>
                  </a:solidFill>
                  <a:latin typeface="Georgia"/>
                  <a:ea typeface="Georgia"/>
                  <a:cs typeface="Georgia"/>
                  <a:sym typeface="Georgia"/>
                </a:rPr>
                <a:t>Paz</a:t>
              </a:r>
              <a:endParaRPr b="1" i="0" sz="1500" u="none" cap="none" strike="noStrike">
                <a:solidFill>
                  <a:srgbClr val="4CAF5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99" name="Google Shape;199;p20"/>
            <p:cNvSpPr txBox="1"/>
            <p:nvPr/>
          </p:nvSpPr>
          <p:spPr>
            <a:xfrm>
              <a:off x="6286500" y="3476625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Integridad personal y relaciones sanas; algo de la paz de Dios en la vida del creyente.</a:t>
              </a:r>
              <a:endParaRPr b="0" i="0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200" name="Google Shape;200;p20"/>
          <p:cNvSpPr txBox="1"/>
          <p:nvPr/>
        </p:nvSpPr>
        <p:spPr>
          <a:xfrm>
            <a:off x="571500" y="45720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" sz="1300" u="none" cap="none" strike="noStrike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"Mas el fruto del Espíritu es amor, gozo, paz..."</a:t>
            </a:r>
            <a:endParaRPr b="0" i="1" sz="1300" u="none" cap="none" strike="noStrike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Fruto del Espíritu</a:t>
            </a:r>
            <a:endParaRPr b="1" i="0" sz="28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571500" y="952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Gálatas 5:22</a:t>
            </a:r>
            <a:endParaRPr b="0" i="0" sz="1500" u="none" cap="none" strike="noStrike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208" name="Google Shape;208;p21"/>
          <p:cNvGrpSpPr/>
          <p:nvPr/>
        </p:nvGrpSpPr>
        <p:grpSpPr>
          <a:xfrm>
            <a:off x="323850" y="1514475"/>
            <a:ext cx="2019300" cy="2876700"/>
            <a:chOff x="323850" y="1514475"/>
            <a:chExt cx="2019300" cy="2876700"/>
          </a:xfrm>
        </p:grpSpPr>
        <p:pic>
          <p:nvPicPr>
            <p:cNvPr id="209" name="Google Shape;20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3850" y="1514475"/>
              <a:ext cx="2019300" cy="287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inematic macro shot of a single green sprout pushing through dry, cracked earth under a soft sunset, representing patience and endurance." id="210" name="Google Shape;210;p21"/>
            <p:cNvPicPr preferRelativeResize="0"/>
            <p:nvPr/>
          </p:nvPicPr>
          <p:blipFill rotWithShape="1">
            <a:blip r:embed="rId5">
              <a:alphaModFix/>
            </a:blip>
            <a:srcRect b="2381" l="0" r="0" t="2381"/>
            <a:stretch/>
          </p:blipFill>
          <p:spPr>
            <a:xfrm>
              <a:off x="333375" y="1524000"/>
              <a:ext cx="2000100" cy="14289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211" name="Google Shape;211;p21"/>
            <p:cNvSpPr txBox="1"/>
            <p:nvPr/>
          </p:nvSpPr>
          <p:spPr>
            <a:xfrm>
              <a:off x="428625" y="3048000"/>
              <a:ext cx="180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4CAF50"/>
                  </a:solidFill>
                  <a:latin typeface="Georgia"/>
                  <a:ea typeface="Georgia"/>
                  <a:cs typeface="Georgia"/>
                  <a:sym typeface="Georgia"/>
                </a:rPr>
                <a:t>Paciencia</a:t>
              </a:r>
              <a:endParaRPr b="1" i="0" sz="1400" u="none" cap="none" strike="noStrike">
                <a:solidFill>
                  <a:srgbClr val="4CAF5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12" name="Google Shape;212;p21"/>
            <p:cNvSpPr txBox="1"/>
            <p:nvPr/>
          </p:nvSpPr>
          <p:spPr>
            <a:xfrm>
              <a:off x="428625" y="3476625"/>
              <a:ext cx="18096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Firmeza y longanimidad ante provocación o sufrimiento, sin ira ni venganza.</a:t>
              </a:r>
              <a:endParaRPr b="0" i="0" sz="10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213" name="Google Shape;213;p21"/>
          <p:cNvGrpSpPr/>
          <p:nvPr/>
        </p:nvGrpSpPr>
        <p:grpSpPr>
          <a:xfrm>
            <a:off x="2514600" y="1514475"/>
            <a:ext cx="2019300" cy="2876700"/>
            <a:chOff x="2514600" y="1514475"/>
            <a:chExt cx="2019300" cy="2876700"/>
          </a:xfrm>
        </p:grpSpPr>
        <p:pic>
          <p:nvPicPr>
            <p:cNvPr id="214" name="Google Shape;214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14600" y="1514475"/>
              <a:ext cx="2019300" cy="287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warm, cinematic image of a person's hand gently helping an elderly hand, bathed in soft, golden morning light, representing kindness." id="215" name="Google Shape;215;p21"/>
            <p:cNvPicPr preferRelativeResize="0"/>
            <p:nvPr/>
          </p:nvPicPr>
          <p:blipFill rotWithShape="1">
            <a:blip r:embed="rId6">
              <a:alphaModFix/>
            </a:blip>
            <a:srcRect b="2381" l="0" r="0" t="2381"/>
            <a:stretch/>
          </p:blipFill>
          <p:spPr>
            <a:xfrm>
              <a:off x="2524125" y="1524000"/>
              <a:ext cx="2000100" cy="14289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216" name="Google Shape;216;p21"/>
            <p:cNvSpPr txBox="1"/>
            <p:nvPr/>
          </p:nvSpPr>
          <p:spPr>
            <a:xfrm>
              <a:off x="2619375" y="3048000"/>
              <a:ext cx="180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4CAF50"/>
                  </a:solidFill>
                  <a:latin typeface="Georgia"/>
                  <a:ea typeface="Georgia"/>
                  <a:cs typeface="Georgia"/>
                  <a:sym typeface="Georgia"/>
                </a:rPr>
                <a:t>Benignidad</a:t>
              </a:r>
              <a:endParaRPr b="1" i="0" sz="1400" u="none" cap="none" strike="noStrike">
                <a:solidFill>
                  <a:srgbClr val="4CAF5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17" name="Google Shape;217;p21"/>
            <p:cNvSpPr txBox="1"/>
            <p:nvPr/>
          </p:nvSpPr>
          <p:spPr>
            <a:xfrm>
              <a:off x="2619375" y="3476625"/>
              <a:ext cx="18096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Bondad amable en el trato con otros.</a:t>
              </a:r>
              <a:endParaRPr b="0" i="0" sz="10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218" name="Google Shape;218;p21"/>
          <p:cNvGrpSpPr/>
          <p:nvPr/>
        </p:nvGrpSpPr>
        <p:grpSpPr>
          <a:xfrm>
            <a:off x="4705350" y="1514475"/>
            <a:ext cx="2019300" cy="2876700"/>
            <a:chOff x="4705350" y="1514475"/>
            <a:chExt cx="2019300" cy="2876700"/>
          </a:xfrm>
        </p:grpSpPr>
        <p:pic>
          <p:nvPicPr>
            <p:cNvPr id="219" name="Google Shape;21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05350" y="1514475"/>
              <a:ext cx="2019300" cy="287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basket of fresh, glowing red apples in a sunlit rustic kitchen, symbolizing the active produce of goodness and generosity." id="220" name="Google Shape;220;p21"/>
            <p:cNvPicPr preferRelativeResize="0"/>
            <p:nvPr/>
          </p:nvPicPr>
          <p:blipFill rotWithShape="1">
            <a:blip r:embed="rId7">
              <a:alphaModFix/>
            </a:blip>
            <a:srcRect b="2381" l="0" r="0" t="2381"/>
            <a:stretch/>
          </p:blipFill>
          <p:spPr>
            <a:xfrm>
              <a:off x="4714875" y="1524000"/>
              <a:ext cx="2000100" cy="14289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221" name="Google Shape;221;p21"/>
            <p:cNvSpPr txBox="1"/>
            <p:nvPr/>
          </p:nvSpPr>
          <p:spPr>
            <a:xfrm>
              <a:off x="4810125" y="3048000"/>
              <a:ext cx="180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4CAF50"/>
                  </a:solidFill>
                  <a:latin typeface="Georgia"/>
                  <a:ea typeface="Georgia"/>
                  <a:cs typeface="Georgia"/>
                  <a:sym typeface="Georgia"/>
                </a:rPr>
                <a:t>Bondad</a:t>
              </a:r>
              <a:endParaRPr b="1" i="0" sz="1400" u="none" cap="none" strike="noStrike">
                <a:solidFill>
                  <a:srgbClr val="4CAF5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22" name="Google Shape;222;p21"/>
            <p:cNvSpPr txBox="1"/>
            <p:nvPr/>
          </p:nvSpPr>
          <p:spPr>
            <a:xfrm>
              <a:off x="4810125" y="3476625"/>
              <a:ext cx="18096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Rectitud activa y hacer el bien.</a:t>
              </a:r>
              <a:endParaRPr b="0" i="0" sz="10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223" name="Google Shape;223;p21"/>
          <p:cNvGrpSpPr/>
          <p:nvPr/>
        </p:nvGrpSpPr>
        <p:grpSpPr>
          <a:xfrm>
            <a:off x="6896100" y="1514475"/>
            <a:ext cx="2019300" cy="2876700"/>
            <a:chOff x="6896100" y="1514475"/>
            <a:chExt cx="2019300" cy="2876700"/>
          </a:xfrm>
        </p:grpSpPr>
        <p:pic>
          <p:nvPicPr>
            <p:cNvPr id="224" name="Google Shape;224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96100" y="1514475"/>
              <a:ext cx="2019300" cy="287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cinematic close-up of a sturdy, ancient anchor resting on a wooden dock against a calm sea, representing faithfulness and stability." id="225" name="Google Shape;225;p21"/>
            <p:cNvPicPr preferRelativeResize="0"/>
            <p:nvPr/>
          </p:nvPicPr>
          <p:blipFill rotWithShape="1">
            <a:blip r:embed="rId8">
              <a:alphaModFix/>
            </a:blip>
            <a:srcRect b="2381" l="0" r="0" t="2381"/>
            <a:stretch/>
          </p:blipFill>
          <p:spPr>
            <a:xfrm>
              <a:off x="6905625" y="1524000"/>
              <a:ext cx="2000100" cy="14289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226" name="Google Shape;226;p21"/>
            <p:cNvSpPr txBox="1"/>
            <p:nvPr/>
          </p:nvSpPr>
          <p:spPr>
            <a:xfrm>
              <a:off x="7000875" y="3048000"/>
              <a:ext cx="180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4CAF50"/>
                  </a:solidFill>
                  <a:latin typeface="Georgia"/>
                  <a:ea typeface="Georgia"/>
                  <a:cs typeface="Georgia"/>
                  <a:sym typeface="Georgia"/>
                </a:rPr>
                <a:t>Fidelidad</a:t>
              </a:r>
              <a:endParaRPr b="1" i="0" sz="1400" u="none" cap="none" strike="noStrike">
                <a:solidFill>
                  <a:srgbClr val="4CAF5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27" name="Google Shape;227;p21"/>
            <p:cNvSpPr txBox="1"/>
            <p:nvPr/>
          </p:nvSpPr>
          <p:spPr>
            <a:xfrm>
              <a:off x="7000875" y="3476625"/>
              <a:ext cx="18096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Producida en el creyente por el Dios fiel mediante su Espíritu.</a:t>
              </a:r>
              <a:endParaRPr b="0" i="0" sz="10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228" name="Google Shape;228;p21"/>
          <p:cNvSpPr txBox="1"/>
          <p:nvPr/>
        </p:nvSpPr>
        <p:spPr>
          <a:xfrm>
            <a:off x="571500" y="45720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" sz="1300" u="none" cap="none" strike="noStrike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"...paciencia, benignidad, bondad, fe..."</a:t>
            </a:r>
            <a:endParaRPr b="0" i="1" sz="1300" u="none" cap="none" strike="noStrike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75"/>
              <a:buFont typeface="Arial"/>
              <a:buNone/>
            </a:pPr>
            <a:r>
              <a:rPr b="1" i="0" lang="en" sz="2775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Fruto del Espíritu</a:t>
            </a:r>
            <a:endParaRPr b="1" i="0" sz="2775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571500" y="952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Gálatas 5:23</a:t>
            </a:r>
            <a:endParaRPr b="0" i="0" sz="1500" u="none" cap="none" strike="noStrike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237" name="Google Shape;237;p22"/>
          <p:cNvGrpSpPr/>
          <p:nvPr/>
        </p:nvGrpSpPr>
        <p:grpSpPr>
          <a:xfrm>
            <a:off x="571500" y="1524000"/>
            <a:ext cx="2476500" cy="2857500"/>
            <a:chOff x="571500" y="1524000"/>
            <a:chExt cx="2476500" cy="2857500"/>
          </a:xfrm>
        </p:grpSpPr>
        <p:sp>
          <p:nvSpPr>
            <p:cNvPr id="238" name="Google Shape;238;p22"/>
            <p:cNvSpPr/>
            <p:nvPr/>
          </p:nvSpPr>
          <p:spPr>
            <a:xfrm>
              <a:off x="571500" y="1524000"/>
              <a:ext cx="2476500" cy="2857500"/>
            </a:xfrm>
            <a:prstGeom prst="roundRect">
              <a:avLst>
                <a:gd fmla="val 3846" name="adj"/>
              </a:avLst>
            </a:prstGeom>
            <a:solidFill>
              <a:srgbClr val="1B5E20"/>
            </a:solidFill>
            <a:ln cap="flat" cmpd="sng" w="19050">
              <a:solidFill>
                <a:srgbClr val="4CAF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cinematic, soft-focus shot of a person gently petting a small, calm lamb in a sunlit meadow, symbolizing gentleness and meekness." id="239" name="Google Shape;239;p22"/>
            <p:cNvPicPr preferRelativeResize="0"/>
            <p:nvPr/>
          </p:nvPicPr>
          <p:blipFill rotWithShape="1">
            <a:blip r:embed="rId4">
              <a:alphaModFix/>
            </a:blip>
            <a:srcRect b="0" l="1248" r="1248" t="0"/>
            <a:stretch/>
          </p:blipFill>
          <p:spPr>
            <a:xfrm>
              <a:off x="571500" y="1524000"/>
              <a:ext cx="2476500" cy="14289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240" name="Google Shape;240;p22"/>
            <p:cNvSpPr txBox="1"/>
            <p:nvPr/>
          </p:nvSpPr>
          <p:spPr>
            <a:xfrm>
              <a:off x="762000" y="3048000"/>
              <a:ext cx="2095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rgbClr val="4CAF50"/>
                  </a:solidFill>
                  <a:latin typeface="Georgia"/>
                  <a:ea typeface="Georgia"/>
                  <a:cs typeface="Georgia"/>
                  <a:sym typeface="Georgia"/>
                </a:rPr>
                <a:t>Mansedumbre</a:t>
              </a:r>
              <a:endParaRPr b="1" i="0" sz="1500" u="none" cap="none" strike="noStrike">
                <a:solidFill>
                  <a:srgbClr val="4CAF5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41" name="Google Shape;241;p22"/>
            <p:cNvSpPr txBox="1"/>
            <p:nvPr/>
          </p:nvSpPr>
          <p:spPr>
            <a:xfrm>
              <a:off x="762000" y="3476625"/>
              <a:ext cx="2095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Docilidad, sumisión a la voluntad de Dios y un espíritu no arrogante.</a:t>
              </a:r>
              <a:endParaRPr b="0" i="0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242" name="Google Shape;242;p22"/>
          <p:cNvGrpSpPr/>
          <p:nvPr/>
        </p:nvGrpSpPr>
        <p:grpSpPr>
          <a:xfrm>
            <a:off x="3333750" y="1524000"/>
            <a:ext cx="2476500" cy="2857500"/>
            <a:chOff x="3333750" y="1524000"/>
            <a:chExt cx="2476500" cy="2857500"/>
          </a:xfrm>
        </p:grpSpPr>
        <p:sp>
          <p:nvSpPr>
            <p:cNvPr id="243" name="Google Shape;243;p22"/>
            <p:cNvSpPr/>
            <p:nvPr/>
          </p:nvSpPr>
          <p:spPr>
            <a:xfrm>
              <a:off x="3333750" y="1524000"/>
              <a:ext cx="2476500" cy="2857500"/>
            </a:xfrm>
            <a:prstGeom prst="roundRect">
              <a:avLst>
                <a:gd fmla="val 3846" name="adj"/>
              </a:avLst>
            </a:prstGeom>
            <a:solidFill>
              <a:srgbClr val="1B5E20"/>
            </a:solidFill>
            <a:ln cap="flat" cmpd="sng" w="19050">
              <a:solidFill>
                <a:srgbClr val="4CAF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cinematic close-up of a person's hands firmly gripping a steering wheel or a set of reins, representing discipline and self-control in a serene environment." id="244" name="Google Shape;244;p22"/>
            <p:cNvPicPr preferRelativeResize="0"/>
            <p:nvPr/>
          </p:nvPicPr>
          <p:blipFill rotWithShape="1">
            <a:blip r:embed="rId5">
              <a:alphaModFix/>
            </a:blip>
            <a:srcRect b="0" l="1248" r="1248" t="0"/>
            <a:stretch/>
          </p:blipFill>
          <p:spPr>
            <a:xfrm>
              <a:off x="3333750" y="1524000"/>
              <a:ext cx="2476500" cy="14289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245" name="Google Shape;245;p22"/>
            <p:cNvSpPr txBox="1"/>
            <p:nvPr/>
          </p:nvSpPr>
          <p:spPr>
            <a:xfrm>
              <a:off x="3524250" y="3048000"/>
              <a:ext cx="2095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rgbClr val="4CAF50"/>
                  </a:solidFill>
                  <a:latin typeface="Georgia"/>
                  <a:ea typeface="Georgia"/>
                  <a:cs typeface="Georgia"/>
                  <a:sym typeface="Georgia"/>
                </a:rPr>
                <a:t>Dominio Propio</a:t>
              </a:r>
              <a:endParaRPr b="1" i="0" sz="1500" u="none" cap="none" strike="noStrike">
                <a:solidFill>
                  <a:srgbClr val="4CAF5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46" name="Google Shape;246;p22"/>
            <p:cNvSpPr txBox="1"/>
            <p:nvPr/>
          </p:nvSpPr>
          <p:spPr>
            <a:xfrm>
              <a:off x="3524250" y="3476625"/>
              <a:ext cx="2095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Pasiones fuertes mantenidas bajo control; fuerza para resistir la tentación.</a:t>
              </a:r>
              <a:endParaRPr b="0" i="0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247" name="Google Shape;247;p22"/>
          <p:cNvSpPr txBox="1"/>
          <p:nvPr/>
        </p:nvSpPr>
        <p:spPr>
          <a:xfrm>
            <a:off x="571500" y="45720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" sz="1300" u="none" cap="none" strike="noStrike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"Mansedumbre, dominio propio;contra tales cosas no hay ley."</a:t>
            </a:r>
            <a:endParaRPr b="0" i="1" sz="1300" u="none" cap="none" strike="noStrike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248" name="Google Shape;248;p22"/>
          <p:cNvGrpSpPr/>
          <p:nvPr/>
        </p:nvGrpSpPr>
        <p:grpSpPr>
          <a:xfrm>
            <a:off x="6096000" y="1524000"/>
            <a:ext cx="2476500" cy="2857500"/>
            <a:chOff x="6096000" y="1524000"/>
            <a:chExt cx="2476500" cy="2857500"/>
          </a:xfrm>
        </p:grpSpPr>
        <p:sp>
          <p:nvSpPr>
            <p:cNvPr id="249" name="Google Shape;249;p22"/>
            <p:cNvSpPr/>
            <p:nvPr/>
          </p:nvSpPr>
          <p:spPr>
            <a:xfrm>
              <a:off x="6096000" y="1524000"/>
              <a:ext cx="2476500" cy="2857500"/>
            </a:xfrm>
            <a:prstGeom prst="roundRect">
              <a:avLst>
                <a:gd fmla="val 3846" name="adj"/>
              </a:avLst>
            </a:prstGeom>
            <a:solidFill>
              <a:srgbClr val="1B5E20"/>
            </a:solidFill>
            <a:ln cap="flat" cmpd="sng" w="19050">
              <a:solidFill>
                <a:srgbClr val="4CAF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wide cinematic shot of a peaceful valley under a clear blue sky, suggesting the broadness of God's grace and &quot;tales cosas&quot; (such things)." id="250" name="Google Shape;250;p22"/>
            <p:cNvPicPr preferRelativeResize="0"/>
            <p:nvPr/>
          </p:nvPicPr>
          <p:blipFill rotWithShape="1">
            <a:blip r:embed="rId6">
              <a:alphaModFix/>
            </a:blip>
            <a:srcRect b="0" l="1248" r="1248" t="0"/>
            <a:stretch/>
          </p:blipFill>
          <p:spPr>
            <a:xfrm>
              <a:off x="6096000" y="1524000"/>
              <a:ext cx="2476500" cy="14289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251" name="Google Shape;251;p22"/>
            <p:cNvSpPr txBox="1"/>
            <p:nvPr/>
          </p:nvSpPr>
          <p:spPr>
            <a:xfrm>
              <a:off x="6286500" y="3619499"/>
              <a:ext cx="2095500" cy="61912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Contra tales cosas no hay ley.</a:t>
              </a:r>
              <a:endParaRPr b="0" i="0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52" name="Google Shape;252;p22"/>
            <p:cNvSpPr txBox="1"/>
            <p:nvPr/>
          </p:nvSpPr>
          <p:spPr>
            <a:xfrm>
              <a:off x="6286500" y="2928938"/>
              <a:ext cx="2095500" cy="619124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rgbClr val="4CAF50"/>
                  </a:solidFill>
                  <a:latin typeface="Georgia"/>
                  <a:ea typeface="Georgia"/>
                  <a:cs typeface="Georgia"/>
                  <a:sym typeface="Georgia"/>
                </a:rPr>
                <a:t>Tales Cosas</a:t>
              </a:r>
              <a:endParaRPr b="1" i="0" sz="1500" u="none" cap="none" strike="noStrike">
                <a:solidFill>
                  <a:srgbClr val="4CAF5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Conclusión: Una Vida Transformada</a:t>
            </a:r>
            <a:endParaRPr b="1" i="0" sz="32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571500" y="952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La decisión final: Sembrar para la Carne o para el Espíritu</a:t>
            </a:r>
            <a:endParaRPr b="0" i="0" sz="1600" u="none" cap="none" strike="noStrike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260" name="Google Shape;260;p23"/>
          <p:cNvGrpSpPr/>
          <p:nvPr/>
        </p:nvGrpSpPr>
        <p:grpSpPr>
          <a:xfrm>
            <a:off x="571500" y="1524000"/>
            <a:ext cx="3905400" cy="2857500"/>
            <a:chOff x="571500" y="1524000"/>
            <a:chExt cx="3905400" cy="2857500"/>
          </a:xfrm>
        </p:grpSpPr>
        <p:sp>
          <p:nvSpPr>
            <p:cNvPr id="261" name="Google Shape;261;p23"/>
            <p:cNvSpPr/>
            <p:nvPr/>
          </p:nvSpPr>
          <p:spPr>
            <a:xfrm>
              <a:off x="571500" y="1524000"/>
              <a:ext cx="3905400" cy="2857500"/>
            </a:xfrm>
            <a:prstGeom prst="roundRect">
              <a:avLst>
                <a:gd fmla="val 3333" name="adj"/>
              </a:avLst>
            </a:prstGeom>
            <a:solidFill>
              <a:srgbClr val="212121"/>
            </a:solidFill>
            <a:ln cap="flat" cmpd="sng" w="19050">
              <a:solidFill>
                <a:srgbClr val="F44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cinematic, dark image of a barren, cracked desert landscape under a stormy sky, representing the corruption of sowing to the flesh." id="262" name="Google Shape;262;p23"/>
            <p:cNvPicPr preferRelativeResize="0"/>
            <p:nvPr/>
          </p:nvPicPr>
          <p:blipFill rotWithShape="1">
            <a:blip r:embed="rId4">
              <a:alphaModFix/>
            </a:blip>
            <a:srcRect b="-6372" l="0" r="0" t="10980"/>
            <a:stretch/>
          </p:blipFill>
          <p:spPr>
            <a:xfrm>
              <a:off x="571500" y="1524000"/>
              <a:ext cx="3905400" cy="2095500"/>
            </a:xfrm>
            <a:prstGeom prst="roundRect">
              <a:avLst>
                <a:gd fmla="val 4545" name="adj"/>
              </a:avLst>
            </a:prstGeom>
            <a:noFill/>
            <a:ln>
              <a:noFill/>
            </a:ln>
          </p:spPr>
        </p:pic>
        <p:sp>
          <p:nvSpPr>
            <p:cNvPr id="263" name="Google Shape;263;p23"/>
            <p:cNvSpPr txBox="1"/>
            <p:nvPr/>
          </p:nvSpPr>
          <p:spPr>
            <a:xfrm>
              <a:off x="762000" y="3333750"/>
              <a:ext cx="352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La Carne: Corrupción</a:t>
              </a:r>
              <a:endParaRPr b="1" i="0" sz="1800" u="none" cap="none" strike="noStrike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64" name="Google Shape;264;p23"/>
            <p:cNvSpPr txBox="1"/>
            <p:nvPr/>
          </p:nvSpPr>
          <p:spPr>
            <a:xfrm>
              <a:off x="762000" y="3762375"/>
              <a:ext cx="35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El que siembra para su carne, de la carne segará corrupción y no heredará el reino.</a:t>
              </a:r>
              <a:endParaRPr b="0" i="0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265" name="Google Shape;265;p23"/>
          <p:cNvGrpSpPr/>
          <p:nvPr/>
        </p:nvGrpSpPr>
        <p:grpSpPr>
          <a:xfrm>
            <a:off x="4667250" y="1524000"/>
            <a:ext cx="3905400" cy="2857500"/>
            <a:chOff x="4667250" y="1524000"/>
            <a:chExt cx="3905400" cy="2857500"/>
          </a:xfrm>
        </p:grpSpPr>
        <p:sp>
          <p:nvSpPr>
            <p:cNvPr id="266" name="Google Shape;266;p23"/>
            <p:cNvSpPr/>
            <p:nvPr/>
          </p:nvSpPr>
          <p:spPr>
            <a:xfrm>
              <a:off x="4667250" y="1524000"/>
              <a:ext cx="3905400" cy="2857500"/>
            </a:xfrm>
            <a:prstGeom prst="roundRect">
              <a:avLst>
                <a:gd fmla="val 3333" name="adj"/>
              </a:avLst>
            </a:prstGeom>
            <a:solidFill>
              <a:srgbClr val="1B5E20"/>
            </a:solidFill>
            <a:ln cap="flat" cmpd="sng" w="19050">
              <a:solidFill>
                <a:srgbClr val="4CAF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lush, vibrant forest interior with sunlight streaming through green leaves, representing eternal life and the harvest of the Spirit." id="267" name="Google Shape;267;p23"/>
            <p:cNvPicPr preferRelativeResize="0"/>
            <p:nvPr/>
          </p:nvPicPr>
          <p:blipFill rotWithShape="1">
            <a:blip r:embed="rId5">
              <a:alphaModFix/>
            </a:blip>
            <a:srcRect b="-6372" l="0" r="0" t="10980"/>
            <a:stretch/>
          </p:blipFill>
          <p:spPr>
            <a:xfrm>
              <a:off x="4667250" y="1524000"/>
              <a:ext cx="3905400" cy="2095500"/>
            </a:xfrm>
            <a:prstGeom prst="roundRect">
              <a:avLst>
                <a:gd fmla="val 4545" name="adj"/>
              </a:avLst>
            </a:prstGeom>
            <a:noFill/>
            <a:ln>
              <a:noFill/>
            </a:ln>
          </p:spPr>
        </p:pic>
        <p:sp>
          <p:nvSpPr>
            <p:cNvPr id="268" name="Google Shape;268;p23"/>
            <p:cNvSpPr txBox="1"/>
            <p:nvPr/>
          </p:nvSpPr>
          <p:spPr>
            <a:xfrm>
              <a:off x="4857750" y="3333750"/>
              <a:ext cx="352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4CAF50"/>
                  </a:solidFill>
                  <a:latin typeface="Georgia"/>
                  <a:ea typeface="Georgia"/>
                  <a:cs typeface="Georgia"/>
                  <a:sym typeface="Georgia"/>
                </a:rPr>
                <a:t>El Espíritu: Vida Eterna</a:t>
              </a:r>
              <a:endParaRPr b="1" i="0" sz="1800" u="none" cap="none" strike="noStrike">
                <a:solidFill>
                  <a:srgbClr val="4CAF5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69" name="Google Shape;269;p23"/>
            <p:cNvSpPr txBox="1"/>
            <p:nvPr/>
          </p:nvSpPr>
          <p:spPr>
            <a:xfrm>
              <a:off x="4857750" y="3762375"/>
              <a:ext cx="35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El que siembra para el Espíritu, del Espíritu segará vida eterna si no desmaya.</a:t>
              </a:r>
              <a:endParaRPr b="0" i="0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270" name="Google Shape;270;p23"/>
          <p:cNvSpPr txBox="1"/>
          <p:nvPr/>
        </p:nvSpPr>
        <p:spPr>
          <a:xfrm>
            <a:off x="571500" y="45720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"Si vivimos por el Espíritu, andemos también por el Espíritu." — Gálatas 5:25</a:t>
            </a:r>
            <a:endParaRPr b="0" i="1" sz="1400" u="none" cap="none" strike="noStrike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